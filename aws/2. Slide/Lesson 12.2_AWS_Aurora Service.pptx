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13716000" cx="24384000"/>
  <p:notesSz cx="6797675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izuqmFnPwCH3MpurG1ADS1OGrd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p2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fld id="{00000000-1234-1234-1234-123412341234}" type="slidenum"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17132" y="859479"/>
            <a:ext cx="2950192" cy="113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oogle Shape;13;p27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cap="flat" cmpd="sng" w="19050">
            <a:solidFill>
              <a:srgbClr val="3C5A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" name="Google Shape;14;p27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27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1" i="1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 Reserved </a:t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Google Shape;16;p27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" name="Google Shape;17;p27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18" name="Google Shape;18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52276" y="-25180"/>
            <a:ext cx="5131724" cy="14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8"/>
          <p:cNvSpPr txBox="1"/>
          <p:nvPr>
            <p:ph type="title"/>
          </p:nvPr>
        </p:nvSpPr>
        <p:spPr>
          <a:xfrm>
            <a:off x="1845217" y="357188"/>
            <a:ext cx="18701658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28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28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3" name="Google Shape;23;p28"/>
          <p:cNvSpPr txBox="1"/>
          <p:nvPr>
            <p:ph idx="12" type="sldNum"/>
          </p:nvPr>
        </p:nvSpPr>
        <p:spPr>
          <a:xfrm>
            <a:off x="11962817" y="13073062"/>
            <a:ext cx="448840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" name="Google Shape;24;p28"/>
          <p:cNvCxnSpPr/>
          <p:nvPr/>
        </p:nvCxnSpPr>
        <p:spPr>
          <a:xfrm>
            <a:off x="1845217" y="1893677"/>
            <a:ext cx="18701658" cy="0"/>
          </a:xfrm>
          <a:prstGeom prst="straightConnector1">
            <a:avLst/>
          </a:prstGeom>
          <a:noFill/>
          <a:ln cap="rnd" cmpd="sng" w="38100">
            <a:solidFill>
              <a:srgbClr val="057BB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close up of a sign&#10;&#10;Description automatically generated" id="25" name="Google Shape;25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12883" y="427995"/>
            <a:ext cx="2645634" cy="16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25"/>
          <p:cNvSpPr txBox="1"/>
          <p:nvPr>
            <p:ph idx="1" type="body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25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aws.amazon.com/rds/pricing" TargetMode="External"/><Relationship Id="rId4" Type="http://schemas.openxmlformats.org/officeDocument/2006/relationships/hyperlink" Target="https://docs.aws.amazon.com/AmazonRDS/latest/UserGuide/Welcome.html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4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hyperlink" Target="https://www.youtube.com/watch?v=bbiWciJSouY" TargetMode="External"/><Relationship Id="rId6" Type="http://schemas.openxmlformats.org/officeDocument/2006/relationships/hyperlink" Target="https://www.youtube.com/watch?v=yaOnBLmnTcI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youtube.com/watch?v=ciRbXZqBl7M" TargetMode="External"/><Relationship Id="rId4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2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Relationship Id="rId4" Type="http://schemas.openxmlformats.org/officeDocument/2006/relationships/hyperlink" Target="https://youtu.be/ciRbXZqBl7M?t=765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docs.aws.amazon.com/AmazonRDS/latest/AuroraUserGuide/TUT_WebAppWithRDS.html" TargetMode="External"/><Relationship Id="rId4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31" name="Google Shape;3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650" y="1753558"/>
            <a:ext cx="5103775" cy="142974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"/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ENTERPRISE</a:t>
            </a:r>
            <a:endParaRPr/>
          </a:p>
        </p:txBody>
      </p:sp>
      <p:sp>
        <p:nvSpPr>
          <p:cNvPr id="33" name="Google Shape;33;p1"/>
          <p:cNvSpPr txBox="1"/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4400"/>
              <a:buFont typeface="Times New Roman"/>
              <a:buNone/>
            </a:pPr>
            <a:r>
              <a:rPr b="0" i="0" lang="en-US" sz="10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endParaRPr b="0" i="0" sz="10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Author: </a:t>
            </a:r>
            <a:r>
              <a:rPr b="1" i="0" lang="en-US" sz="5000" u="sng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duy.nguyenngoc1@vti.com.vn</a:t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t/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Aurora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1117434" y="2370386"/>
            <a:ext cx="23057016" cy="89834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database engine type of RDS, support MySQL (version 5.7), PostgreSQL (version 12)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proprietary technology from AWS (not open sourced)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Claims 5x performance improvement over MySQL, over 3x the performance of Postgres on RDS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Usecases: Recommend to use instead of MySQL &amp; PostgreSQL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Regional service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Price: </a:t>
            </a:r>
            <a:r>
              <a:rPr b="0" i="0" lang="en-US" sz="4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https://aws.amazon.com/rds/pricing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1611229" y="12089898"/>
            <a:ext cx="2058703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https://docs.aws.amazon.com/AmazonRDS/latest/UserGuide/Welcome.html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Aurora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1117434" y="2370386"/>
            <a:ext cx="23057016" cy="89834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Comparing    </a:t>
            </a:r>
            <a:endParaRPr/>
          </a:p>
        </p:txBody>
      </p:sp>
      <p:pic>
        <p:nvPicPr>
          <p:cNvPr id="48" name="Google Shape;4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6324" y="3533774"/>
            <a:ext cx="14098827" cy="581977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3"/>
          <p:cNvSpPr/>
          <p:nvPr/>
        </p:nvSpPr>
        <p:spPr>
          <a:xfrm>
            <a:off x="5839737" y="9353549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Aurora costs more than RDS (20% more) - but is more efficient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Aurora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1117434" y="2370386"/>
            <a:ext cx="22237866" cy="7726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Database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more reader instance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Aurora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5"/>
          <p:cNvSpPr txBox="1"/>
          <p:nvPr/>
        </p:nvSpPr>
        <p:spPr>
          <a:xfrm>
            <a:off x="1117434" y="2370386"/>
            <a:ext cx="7950366" cy="13634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Database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2" name="Google Shape;6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4477" y="3197181"/>
            <a:ext cx="10861973" cy="1612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3460" y="4991100"/>
            <a:ext cx="4454340" cy="7528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67800" y="4991100"/>
            <a:ext cx="10252106" cy="7528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Aurora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0" name="Google Shape;7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6305" y="4416353"/>
            <a:ext cx="13083717" cy="4270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Aurora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7"/>
          <p:cNvSpPr txBox="1"/>
          <p:nvPr/>
        </p:nvSpPr>
        <p:spPr>
          <a:xfrm>
            <a:off x="1117434" y="2370386"/>
            <a:ext cx="22237866" cy="7726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more reader instance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7" name="Google Shape;7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024" y="5600443"/>
            <a:ext cx="8129141" cy="2781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32074" y="3212830"/>
            <a:ext cx="6707199" cy="755669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495790" y="5276589"/>
            <a:ext cx="8617393" cy="3429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8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9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Aurora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9"/>
          <p:cNvSpPr txBox="1"/>
          <p:nvPr/>
        </p:nvSpPr>
        <p:spPr>
          <a:xfrm>
            <a:off x="1117434" y="2370386"/>
            <a:ext cx="7931316" cy="8564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Components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DB Cluster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DB Instance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 Volume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 Clusters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2" name="Google Shape;9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30050" y="2370386"/>
            <a:ext cx="10504774" cy="58925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Aurora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0"/>
          <p:cNvSpPr txBox="1"/>
          <p:nvPr/>
        </p:nvSpPr>
        <p:spPr>
          <a:xfrm>
            <a:off x="1117434" y="2370386"/>
            <a:ext cx="16024672" cy="5037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DB Cluster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in a region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Including: 1 writer DB Instances &amp; multiple reader DB Instances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Providing 1 endpoint for writing request &amp; 1 endpoint for reading request</a:t>
            </a:r>
            <a:endParaRPr/>
          </a:p>
        </p:txBody>
      </p:sp>
      <p:pic>
        <p:nvPicPr>
          <p:cNvPr id="99" name="Google Shape;9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64724" y="9316999"/>
            <a:ext cx="10182217" cy="233496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0"/>
          <p:cNvSpPr/>
          <p:nvPr/>
        </p:nvSpPr>
        <p:spPr>
          <a:xfrm>
            <a:off x="15854784" y="11816775"/>
            <a:ext cx="180209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Endpoint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1" name="Google Shape;10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2764" y="7867650"/>
            <a:ext cx="9395590" cy="47018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Aurora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1"/>
          <p:cNvSpPr txBox="1"/>
          <p:nvPr/>
        </p:nvSpPr>
        <p:spPr>
          <a:xfrm>
            <a:off x="1117434" y="2370386"/>
            <a:ext cx="23076066" cy="10164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DB Instance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in a zone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2 database engine: MySQL (Version 5.7) &amp; PostgreSQL (Version 12)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Setup: Hardware, Networking, Security, Master account, Database authentication, Database , Backup, monitoring, log, Maintenance, Delete protection, ... Similar to RDS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types: Primary DB Instance, Aurora Replica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Primary DB Instance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Read/Write request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Modify data in cluster volume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Aurora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2"/>
          <p:cNvSpPr txBox="1"/>
          <p:nvPr/>
        </p:nvSpPr>
        <p:spPr>
          <a:xfrm>
            <a:off x="1117434" y="2370386"/>
            <a:ext cx="22123566" cy="5479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6" lvl="3" marL="194468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Aurora Replica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 request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Cross A-Z, Cross region, Auto Scaling, Automatic failover</a:t>
            </a:r>
            <a:endParaRPr/>
          </a:p>
          <a:p>
            <a:pPr indent="0" lvl="5" marL="22225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Times New Roman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Automatic failover: Automatically assign replica to primary DB Instance when primary DB Instance is unavailable in less than 30 seconds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 15 Replica, Usually setup each zone will have 1 DB Instance to increase HA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4" name="Google Shape;11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0759" y="7850150"/>
            <a:ext cx="11683473" cy="4241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65988" y="7850149"/>
            <a:ext cx="7768064" cy="4278064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2"/>
          <p:cNvSpPr/>
          <p:nvPr/>
        </p:nvSpPr>
        <p:spPr>
          <a:xfrm>
            <a:off x="15280758" y="12109162"/>
            <a:ext cx="373852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Replica autoscaling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Aurora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3"/>
          <p:cNvSpPr txBox="1"/>
          <p:nvPr/>
        </p:nvSpPr>
        <p:spPr>
          <a:xfrm>
            <a:off x="1117434" y="2171700"/>
            <a:ext cx="22504566" cy="108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 Volume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virtual database storage volume to manage data for DB instances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 is striped across 100s of volumes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is synchronized by Amazon In many zones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zone will have 2 copies of cluster data (near real-time)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Self-healing with peer-to-peer replication (Automatically scan errors and repair disks)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Courier New"/>
              <a:buChar char="o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Backup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Backtrack: restore data at any point of time without using backups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 not affect performance</a:t>
            </a:r>
            <a:endParaRPr/>
          </a:p>
        </p:txBody>
      </p:sp>
      <p:pic>
        <p:nvPicPr>
          <p:cNvPr id="123" name="Google Shape;12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17933" y="2370386"/>
            <a:ext cx="6804117" cy="5027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4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Aurora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14"/>
          <p:cNvSpPr txBox="1"/>
          <p:nvPr/>
        </p:nvSpPr>
        <p:spPr>
          <a:xfrm>
            <a:off x="1117433" y="2370386"/>
            <a:ext cx="11996683" cy="8660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 Clusters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Aurora Database runs across multiple Regions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latency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Cross-Region, automatic failover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Enabling Write Forwarding</a:t>
            </a:r>
            <a:endParaRPr/>
          </a:p>
          <a:p>
            <a:pPr indent="0" lvl="2" marL="889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Times New Roman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Allows secondary DB Cluster to also be able to write storage volumes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Usecase: disaster recovery</a:t>
            </a:r>
            <a:endParaRPr/>
          </a:p>
          <a:p>
            <a:pPr indent="-334961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0" name="Google Shape;13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11300" y="2370386"/>
            <a:ext cx="10019496" cy="4068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616183" y="6978491"/>
            <a:ext cx="7209729" cy="370664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/>
          <p:nvPr/>
        </p:nvSpPr>
        <p:spPr>
          <a:xfrm>
            <a:off x="17124960" y="10685139"/>
            <a:ext cx="419217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Link1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Link2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Aurora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1117434" y="2370386"/>
            <a:ext cx="17456316" cy="8507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Feature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Capacity type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Query in console</a:t>
            </a:r>
            <a:endParaRPr/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6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Aurora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1117433" y="2370386"/>
            <a:ext cx="23133217" cy="48495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Capacity type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types: Provisioned, Serverless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Provisioned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provision and manage the scale of instances in the cluster (Similar to RDS) (Instance type, Storage,  Multi A-Z, ...)</a:t>
            </a:r>
            <a:endParaRPr/>
          </a:p>
          <a:p>
            <a:pPr indent="-334961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3322" y="8409236"/>
            <a:ext cx="10743056" cy="3096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Aurora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6488745" y="12090112"/>
            <a:ext cx="1083501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https://www.youtube.com/watch?v=ciRbXZqBl7M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2" name="Google Shape;15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312317" y="2370386"/>
            <a:ext cx="7071683" cy="610686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1117433" y="2370385"/>
            <a:ext cx="18154415" cy="99335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Serverless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 scaling instance (scale up/down) based on workload in cluster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capacity planning needed: Don’t need config Instance Class, Storage, Multi A-Z, ...)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time cooldown when scaling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Usecases: 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with infrequent, unpredictable workloads 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Application, not sure how to need the database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is only used for a few hours in a day (Ex: database for dev, test is only used in working hours)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has many tenants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Aurora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1117433" y="2370386"/>
            <a:ext cx="13855867" cy="100692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6" lvl="3" marL="194468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Automatically scale up/down hardware (CPU, RAM, Networking) based on ACU (Aurora capacity unit) usage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Scale up: CPU more than 70%, Connection more than 90%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Scale down: CPU less than 30%, Connection less than 40%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Scale 10GB each time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set up auto shutdown DB when ACU = 0 (no incoming request)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Aurora capacity unit (ACU)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unit for measuring workload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combination of parameters: RAM, CPU, Networking</a:t>
            </a:r>
            <a:endParaRPr/>
          </a:p>
        </p:txBody>
      </p:sp>
      <p:pic>
        <p:nvPicPr>
          <p:cNvPr id="160" name="Google Shape;16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31492" y="7781724"/>
            <a:ext cx="6754451" cy="42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/>
          <p:nvPr/>
        </p:nvSpPr>
        <p:spPr>
          <a:xfrm>
            <a:off x="15815172" y="12089898"/>
            <a:ext cx="677077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ACU provides 2 GB of RAM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2" name="Google Shape;16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605622" y="1730261"/>
            <a:ext cx="7197705" cy="56582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Aurora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1117433" y="2370386"/>
            <a:ext cx="10769767" cy="2754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Query in console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support Aurora Serverless databases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8924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1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9" name="Google Shape;16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3571" y="4965592"/>
            <a:ext cx="16825616" cy="5931007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/>
          <p:nvPr/>
        </p:nvSpPr>
        <p:spPr>
          <a:xfrm>
            <a:off x="7617259" y="11099512"/>
            <a:ext cx="857798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https://youtu.be/ciRbXZqBl7M?t=765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Aurora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2838450" y="11840027"/>
            <a:ext cx="193929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https://docs.aws.amazon.com/AmazonRDS/latest/AuroraUserGuide/TUT_WebAppWithRDS.html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#10;            Single VPC Scenario&#10;        " id="183" name="Google Shape;18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5086" y="2918972"/>
            <a:ext cx="13447713" cy="884991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1"/>
          <p:cNvSpPr txBox="1"/>
          <p:nvPr/>
        </p:nvSpPr>
        <p:spPr>
          <a:xfrm>
            <a:off x="1117434" y="2370386"/>
            <a:ext cx="6807366" cy="1115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Web server + Database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 txBox="1"/>
          <p:nvPr/>
        </p:nvSpPr>
        <p:spPr>
          <a:xfrm>
            <a:off x="1200149" y="571498"/>
            <a:ext cx="90275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22"/>
          <p:cNvSpPr txBox="1"/>
          <p:nvPr/>
        </p:nvSpPr>
        <p:spPr>
          <a:xfrm>
            <a:off x="1200151" y="2370386"/>
            <a:ext cx="23050499" cy="10164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0" marL="611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Aurora is a database engine type of RDS, support MySQL (version 5.7), PostgreSQL (version 12)</a:t>
            </a:r>
            <a:endParaRPr/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proprietary technology from AWS (not open sourced)</a:t>
            </a:r>
            <a:endParaRPr/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Faster and more expensive than MySQL &amp; PostgreSQL on RDS</a:t>
            </a:r>
            <a:endParaRPr/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Relational service</a:t>
            </a:r>
            <a:endParaRPr/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Components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DB Cluster: Providing 1 endpoint for writing request &amp; 1 endpoint for reading request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DB Instance: Primary DB/Aurora Replica Instance, Cross A-Z, Cross region, Auto Scaling, Automatic failover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 Volume: 2 copies of cluster data per zone (near real-time), Self-healing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"/>
          <p:cNvSpPr txBox="1"/>
          <p:nvPr/>
        </p:nvSpPr>
        <p:spPr>
          <a:xfrm>
            <a:off x="1200149" y="571498"/>
            <a:ext cx="90275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23"/>
          <p:cNvSpPr txBox="1"/>
          <p:nvPr/>
        </p:nvSpPr>
        <p:spPr>
          <a:xfrm>
            <a:off x="1200151" y="2370386"/>
            <a:ext cx="22917149" cy="54020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 Database Clusters: Support Aurora Database runs across multiple Regions, Enabling write forwarding</a:t>
            </a:r>
            <a:endParaRPr/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Features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Capacity type: Provisioned, Serverless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Query in console: Only support Aurora Serverless Database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203" name="Google Shape;203;p24"/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17F"/>
              </a:buClr>
              <a:buSzPts val="8800"/>
              <a:buFont typeface="Times New Roman"/>
              <a:buNone/>
            </a:pPr>
            <a:r>
              <a:rPr b="0" i="0" lang="en-US" sz="8800" u="none" cap="none" strike="noStrike">
                <a:solidFill>
                  <a:srgbClr val="0051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Anh Quan (VTI.GA)</dc:creator>
</cp:coreProperties>
</file>