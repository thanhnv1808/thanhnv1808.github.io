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28" roundtripDataSignature="AMtx7mi71EUn80jwNd6Uz4VWKvRXSSf8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customschemas.google.com/relationships/presentationmetadata" Target="meta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" name="Google Shape;198;p2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25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25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5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25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25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6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26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26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26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ocs.aws.amazon.com/AmazonCloudFront/latest/DeveloperGuide/Introduction.html" TargetMode="External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4.png"/><Relationship Id="rId5" Type="http://schemas.openxmlformats.org/officeDocument/2006/relationships/hyperlink" Target="https://docs.aws.amazon.com/AmazonCloudFront/latest/DeveloperGuide/HowCloudFrontWorks.html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youtube.com/watch?v=kfrb5_6Pe_Y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0.png"/><Relationship Id="rId5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Relationship Id="rId4" Type="http://schemas.openxmlformats.org/officeDocument/2006/relationships/image" Target="../media/image2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Relationship Id="rId4" Type="http://schemas.openxmlformats.org/officeDocument/2006/relationships/hyperlink" Target="https://aws.amazon.com/cloudfront/features/?nc=sn&amp;loc=2" TargetMode="External"/><Relationship Id="rId5" Type="http://schemas.openxmlformats.org/officeDocument/2006/relationships/image" Target="../media/image25.png"/><Relationship Id="rId6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Relationship Id="rId4" Type="http://schemas.openxmlformats.org/officeDocument/2006/relationships/image" Target="../media/image20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2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7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4.png"/><Relationship Id="rId4" Type="http://schemas.openxmlformats.org/officeDocument/2006/relationships/image" Target="../media/image3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192193"/>
            <a:ext cx="17988713" cy="27527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Is a CDN (Content delivery network), provide edge locations for caching content 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Improves read performance, content is cached at the edge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611229" y="12089898"/>
            <a:ext cx="2058703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https://docs.aws.amazon.com/AmazonCloudFront/latest/DeveloperGuide/Introduction.html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" name="Google Shape;4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47554" y="4584032"/>
            <a:ext cx="13514383" cy="7382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4" y="2370386"/>
            <a:ext cx="2443913" cy="10225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 b="0" i="0" sz="36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470" y="5344590"/>
            <a:ext cx="10204073" cy="49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" name="Google Shape;5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60830" y="5465179"/>
            <a:ext cx="7787182" cy="4845611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3427964" y="10614665"/>
            <a:ext cx="1725432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63C1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563C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https://docs.aws.amazon.com/AmazonCloudFront/latest/DeveloperGuide/HowCloudFrontWorks.html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/>
          <p:nvPr/>
        </p:nvSpPr>
        <p:spPr>
          <a:xfrm>
            <a:off x="1117434" y="2370386"/>
            <a:ext cx="11221179" cy="41461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Website content (HTTP/HTTPS)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On-demand video (VOD), live streaming video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8" name="Google Shape;5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447982" y="2370386"/>
            <a:ext cx="11741507" cy="71927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 txBox="1"/>
          <p:nvPr/>
        </p:nvSpPr>
        <p:spPr>
          <a:xfrm>
            <a:off x="1117434" y="2370385"/>
            <a:ext cx="7978440" cy="56667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Hosting static web - S3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CloudFront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</p:txBody>
      </p:sp>
      <p:sp>
        <p:nvSpPr>
          <p:cNvPr id="64" name="Google Shape;64;p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1117434" y="2370387"/>
            <a:ext cx="6522619" cy="950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Hosting static web – S3</a:t>
            </a:r>
            <a:endParaRPr/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802" y="4138864"/>
            <a:ext cx="12085220" cy="59168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72765" y="5265986"/>
            <a:ext cx="10705355" cy="494212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6"/>
          <p:cNvSpPr/>
          <p:nvPr/>
        </p:nvSpPr>
        <p:spPr>
          <a:xfrm>
            <a:off x="16632088" y="10208111"/>
            <a:ext cx="298671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Upload Objects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942291" y="10208111"/>
            <a:ext cx="273504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bucket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7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5382248" y="12070457"/>
            <a:ext cx="316945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bucket policy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4911792" y="12104991"/>
            <a:ext cx="571823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CloudFront Distribution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2" name="Google Shape;8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2530580"/>
            <a:ext cx="12553304" cy="210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7136" y="4776537"/>
            <a:ext cx="11267545" cy="722084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989941" y="5876562"/>
            <a:ext cx="5954073" cy="6120815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7"/>
          <p:cNvSpPr txBox="1"/>
          <p:nvPr/>
        </p:nvSpPr>
        <p:spPr>
          <a:xfrm>
            <a:off x="1117434" y="2370386"/>
            <a:ext cx="5451808" cy="986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CloudFront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61302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8"/>
          <p:cNvSpPr txBox="1"/>
          <p:nvPr/>
        </p:nvSpPr>
        <p:spPr>
          <a:xfrm>
            <a:off x="1117434" y="2370385"/>
            <a:ext cx="2588292" cy="7096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</a:t>
            </a:r>
            <a:endParaRPr/>
          </a:p>
        </p:txBody>
      </p:sp>
      <p:sp>
        <p:nvSpPr>
          <p:cNvPr id="91" name="Google Shape;91;p8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2" name="Google Shape;9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0149" y="5305173"/>
            <a:ext cx="11991474" cy="50026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107065" y="2634916"/>
            <a:ext cx="5704934" cy="9549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 txBox="1"/>
          <p:nvPr/>
        </p:nvSpPr>
        <p:spPr>
          <a:xfrm>
            <a:off x="1117434" y="2370385"/>
            <a:ext cx="7978440" cy="95890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Server &amp; Origin Group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locations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</a:t>
            </a:r>
            <a:endParaRPr/>
          </a:p>
        </p:txBody>
      </p:sp>
      <p:sp>
        <p:nvSpPr>
          <p:cNvPr id="105" name="Google Shape;105;p10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6" name="Google Shape;1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83044" y="2370385"/>
            <a:ext cx="8734393" cy="7303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"/>
          <p:cNvSpPr txBox="1"/>
          <p:nvPr/>
        </p:nvSpPr>
        <p:spPr>
          <a:xfrm>
            <a:off x="1117433" y="2562892"/>
            <a:ext cx="20467220" cy="46199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Server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server: S3 Hosting Website, ELB, web server running on EC2/on-premises …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Object: web pages, images, files, …</a:t>
            </a:r>
            <a:endParaRPr/>
          </a:p>
        </p:txBody>
      </p:sp>
      <p:sp>
        <p:nvSpPr>
          <p:cNvPr id="112" name="Google Shape;112;p11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01368" y="7435516"/>
            <a:ext cx="11699350" cy="48848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2"/>
          <p:cNvSpPr txBox="1"/>
          <p:nvPr/>
        </p:nvSpPr>
        <p:spPr>
          <a:xfrm>
            <a:off x="1117433" y="2562893"/>
            <a:ext cx="22103514" cy="3428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Group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Including many Origins (one primary and many secondary origin)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failover, Connection attempt, timeout, failover status code, Error page  … for each origin</a:t>
            </a:r>
            <a:endParaRPr/>
          </a:p>
        </p:txBody>
      </p:sp>
      <p:sp>
        <p:nvSpPr>
          <p:cNvPr id="119" name="Google Shape;119;p12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0" name="Google Shape;120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7433" y="7527228"/>
            <a:ext cx="10860498" cy="3423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2679314" y="11025554"/>
            <a:ext cx="773673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Route to different kind of origins based on the content type, path pattern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2" name="Google Shape;122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367891" y="7527228"/>
            <a:ext cx="7303333" cy="367144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2"/>
          <p:cNvSpPr/>
          <p:nvPr/>
        </p:nvSpPr>
        <p:spPr>
          <a:xfrm>
            <a:off x="15696083" y="11305146"/>
            <a:ext cx="264694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Failover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/>
        </p:nvSpPr>
        <p:spPr>
          <a:xfrm>
            <a:off x="1117434" y="2370385"/>
            <a:ext cx="15125198" cy="72187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location - Points of presence (POPs)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the point of catching content, locations are all around the world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216 Point of Presence globally (edge locations)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Price class: Choose an edge location for caching</a:t>
            </a:r>
            <a:endParaRPr/>
          </a:p>
          <a:p>
            <a:pPr indent="-334961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0" name="Google Shape;13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68637" y="2370385"/>
            <a:ext cx="4532229" cy="416429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16940408" y="6587113"/>
            <a:ext cx="6384758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https://aws.amazon.com/cloudfront/features/?nc=sn&amp;loc=2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" name="Google Shape;132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198083" y="8097253"/>
            <a:ext cx="12735453" cy="4296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94816" y="7125722"/>
            <a:ext cx="7583900" cy="2107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"/>
          <p:cNvSpPr txBox="1"/>
          <p:nvPr/>
        </p:nvSpPr>
        <p:spPr>
          <a:xfrm>
            <a:off x="1117434" y="2370386"/>
            <a:ext cx="16051630" cy="86024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Settings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behavior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Path pattern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file has a unique key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Compress objects to smaller files 🡺 User can faster, cheaper download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Invalidation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cache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59355" y="1636459"/>
            <a:ext cx="7244172" cy="90971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47974" y="9888586"/>
            <a:ext cx="7211431" cy="2648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1117434" y="1997404"/>
            <a:ext cx="16617114" cy="110568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Restrict Viewer access to content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 allows requests by HTTP/HTTPs, GET/POST/PUT/DELETE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restriction: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Allow/block request from countries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SignedURL &amp; Signed Cookie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default, Viewer will access the public URL 🡺 Using to private content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Distribute paid shared content to premium users over the world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 types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signer: add accounts (singers)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Trusted key group: add key-pair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8" name="Google Shape;14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41998" y="2370386"/>
            <a:ext cx="5206623" cy="3373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007138" y="2370387"/>
            <a:ext cx="3212429" cy="42404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959466" y="6812826"/>
            <a:ext cx="7143297" cy="55868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/>
        </p:nvSpPr>
        <p:spPr>
          <a:xfrm>
            <a:off x="1117434" y="2370386"/>
            <a:ext cx="19730886" cy="47763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4" marL="2389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 URL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restricting access to single files (1 URL = 1 file) (Ex: file download application)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Has a higher priority than Signed Cookie, 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programming to create</a:t>
            </a:r>
            <a:endParaRPr b="0" i="0" sz="2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13487580" y="11579135"/>
            <a:ext cx="8251402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SignedURL will access the link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PresignedURL will access an object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6129" y="7002993"/>
            <a:ext cx="10267504" cy="4968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02278" y="7146758"/>
            <a:ext cx="10822006" cy="44323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1117434" y="2370386"/>
            <a:ext cx="22308050" cy="48485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6" lvl="4" marL="2389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 Cookie</a:t>
            </a:r>
            <a:endParaRPr/>
          </a:p>
          <a:p>
            <a:pPr indent="-611186" lvl="5" marL="2833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3625"/>
              <a:buFont typeface="Noto Sans Symbols"/>
              <a:buChar char="▪"/>
            </a:pPr>
            <a:r>
              <a:rPr b="0" i="0" lang="en-US" sz="2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restricting access to multiple files (1 Cookie = multiple file), you don’t want to change the URL of file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Access - Origin access identity (OAI)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using CloudFront to get data from S3, User can capture request and access directly from S3 🡺 SignedURL no affect 🡺 Create a CloudFront User (OAI) and assign S3 access to that user 🡺 only CloudFront can access S3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2042" y="7084147"/>
            <a:ext cx="5354052" cy="55039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81487" y="7477624"/>
            <a:ext cx="7700172" cy="4717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8"/>
          <p:cNvSpPr txBox="1"/>
          <p:nvPr/>
        </p:nvSpPr>
        <p:spPr>
          <a:xfrm>
            <a:off x="1117433" y="2370385"/>
            <a:ext cx="18420633" cy="5963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Shield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an additional caching layer before origin to reduce load on origin, better network performance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Usecases: 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Viewer accesses different regions</a:t>
            </a:r>
            <a:endParaRPr/>
          </a:p>
          <a:p>
            <a:pPr indent="-611186" lvl="4" marL="2389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060"/>
              <a:buFont typeface="Courier New"/>
              <a:buChar char="o"/>
            </a:pPr>
            <a:r>
              <a:rPr b="0" i="0" lang="en-US" sz="2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On-premises origin has limited capacity and bandwidth</a:t>
            </a:r>
            <a:endParaRPr b="0" i="0" sz="2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CloudFront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4" name="Google Shape;174;p18"/>
          <p:cNvSpPr/>
          <p:nvPr/>
        </p:nvSpPr>
        <p:spPr>
          <a:xfrm>
            <a:off x="6258874" y="12088593"/>
            <a:ext cx="394531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Without Origin Shield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5" name="Google Shape;17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3375" y="7964476"/>
            <a:ext cx="7116311" cy="41266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68544" y="7962191"/>
            <a:ext cx="7768234" cy="4126617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14453318" y="12088378"/>
            <a:ext cx="339868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 Origin Shield</a:t>
            </a:r>
            <a:endParaRPr b="0" i="0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9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0"/>
          <p:cNvSpPr txBox="1"/>
          <p:nvPr/>
        </p:nvSpPr>
        <p:spPr>
          <a:xfrm>
            <a:off x="1117433" y="2370385"/>
            <a:ext cx="22632903" cy="9937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CloudFront 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 a CDN (Content delivery network), provide edge locations for caching content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Website content (HTTP/HTTPS), On-demand video (VOD), live streaming video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Components: Origin Server &amp; Origin Group, Edge locations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Char char="⮚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Settings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Cache behavior &amp; Invalidation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 Shield </a:t>
            </a:r>
            <a:endParaRPr/>
          </a:p>
          <a:p>
            <a:pPr indent="-78740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78740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Noto Sans Symbols"/>
              <a:buNone/>
            </a:pPr>
            <a:r>
              <a:t/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1"/>
          <p:cNvSpPr txBox="1"/>
          <p:nvPr/>
        </p:nvSpPr>
        <p:spPr>
          <a:xfrm>
            <a:off x="1117433" y="2370385"/>
            <a:ext cx="9277851" cy="59554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Courier New"/>
              <a:buChar char="o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Restrict Viewer access to content 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HTTP/HTTPs, GET/POST/PUT/DELETE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Geographic restriction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SignedURL &amp; Signed Cookie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Noto Sans Symbols"/>
              <a:buChar char="▪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S3 Access - Origin access identity (OAI)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1200149" y="571498"/>
            <a:ext cx="8978567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2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202" name="Google Shape;202;p22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