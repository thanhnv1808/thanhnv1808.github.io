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hKKAujbmm/mh3cWjZgQYW7ajpa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" name="Google Shape;54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p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1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1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1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1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1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1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1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1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1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2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2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p2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ell phone&#10;&#10;Description automatically generated" id="13" name="Google Shape;1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5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25"/>
          <p:cNvSpPr txBox="1"/>
          <p:nvPr>
            <p:ph idx="12" type="sldNum"/>
          </p:nvPr>
        </p:nvSpPr>
        <p:spPr>
          <a:xfrm>
            <a:off x="8820083" y="13156977"/>
            <a:ext cx="6743833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</a:t>
            </a:r>
            <a:r>
              <a:rPr i="1" lang="en-US"/>
              <a:t>© </a:t>
            </a:r>
            <a:r>
              <a:rPr lang="en-US"/>
              <a:t>VTI Academy All Right Reserved 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26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" name="Google Shape;18;p26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6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" name="Google Shape;20;p26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" name="Google Shape;21;p26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22" name="Google Shape;22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27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6" name="Google Shape;26;p27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7" name="Google Shape;27;p27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p27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9" name="Google Shape;29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cs.aws.amazon.com/AWSCloudFormation/latest/UserGuide/Welcome.html" TargetMode="External"/><Relationship Id="rId4" Type="http://schemas.openxmlformats.org/officeDocument/2006/relationships/hyperlink" Target="https://aws.amazon.com/cloudformation/pricing" TargetMode="External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youtube.com/watch?v=kfrb5_6Pe_Y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5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youtube.com/watch?v=kfrb5_6Pe_Y" TargetMode="External"/><Relationship Id="rId4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Relationship Id="rId4" Type="http://schemas.openxmlformats.org/officeDocument/2006/relationships/image" Target="../media/image18.png"/><Relationship Id="rId5" Type="http://schemas.openxmlformats.org/officeDocument/2006/relationships/image" Target="../media/image7.png"/><Relationship Id="rId6" Type="http://schemas.openxmlformats.org/officeDocument/2006/relationships/image" Target="../media/image13.png"/><Relationship Id="rId7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25.png"/><Relationship Id="rId5" Type="http://schemas.openxmlformats.org/officeDocument/2006/relationships/image" Target="../media/image11.png"/><Relationship Id="rId6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youtube.com/watch?v=kfrb5_6Pe_Y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hyperlink" Target="https://docs.aws.amazon.com/AWSCloudFormation/latest/UserGuide/gettingstarted.templatebasics.html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5" name="Google Shape;3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t/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8200"/>
              <a:buFont typeface="Calibri"/>
              <a:buNone/>
            </a:pPr>
            <a:r>
              <a:rPr lang="en-US">
                <a:solidFill>
                  <a:srgbClr val="0079B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1845216" y="3116480"/>
            <a:ext cx="16176084" cy="80468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CloudFormation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Well-Architected Framework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Other Services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Exam Tutorial</a:t>
            </a:r>
            <a:endParaRPr b="0" i="0" sz="6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Infrastructure as Code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Google Shape;51;p3"/>
          <p:cNvSpPr txBox="1"/>
          <p:nvPr/>
        </p:nvSpPr>
        <p:spPr>
          <a:xfrm>
            <a:off x="1117434" y="2268392"/>
            <a:ext cx="17303916" cy="92759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Currently, we have been doing a lot of manual 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All this manual work will be very tough to reproduce: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Courier New"/>
              <a:buChar char="o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another region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Courier New"/>
              <a:buChar char="o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another AWS account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Courier New"/>
              <a:buChar char="o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Within the same region if everything was deleted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Wouldn’t it be great, if all our infrastructure was… code?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code would be deployed and create / update / delete our infrastructure 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CloudFormation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1060284" y="2211241"/>
            <a:ext cx="23666616" cy="10609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service that allows create and manage AWS resources based on code (most of AWS resources are supported)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Infrastructure as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Ex: within a CloudFormation template, you say: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want a security group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want two EC2 machines using this security group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want an S3 bucket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want a load balancer (ELB) in front of these machines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Times New Roman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🡺 Then CloudFormation creates those for you, in the right order, with the exact configuration that you specify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CloudFormation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2283995" y="12031242"/>
            <a:ext cx="1932071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https://docs.aws.amazon.com/AWSCloudFormation/latest/UserGuide/Welcome.html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5"/>
          <p:cNvSpPr txBox="1"/>
          <p:nvPr/>
        </p:nvSpPr>
        <p:spPr>
          <a:xfrm>
            <a:off x="1117434" y="2268392"/>
            <a:ext cx="13951116" cy="96062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code can be version controlled for example using git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Usecases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Quickly Launch New Test Environments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Reliably Replicate Configuration Between Environments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Launch Applications in New AWS Regions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Courier New"/>
              <a:buChar char="o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 infrastructure with DevOps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Price: free -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https://aws.amazon.com/cloudformation/pricing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5" name="Google Shape;6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568339" y="2268392"/>
            <a:ext cx="10668656" cy="4761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CloudFormation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10809872" y="6400800"/>
            <a:ext cx="226895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6"/>
          <p:cNvSpPr txBox="1"/>
          <p:nvPr/>
        </p:nvSpPr>
        <p:spPr>
          <a:xfrm>
            <a:off x="1117434" y="2268392"/>
            <a:ext cx="2559216" cy="855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0022" y="1639742"/>
            <a:ext cx="10668656" cy="4761058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6"/>
          <p:cNvSpPr/>
          <p:nvPr/>
        </p:nvSpPr>
        <p:spPr>
          <a:xfrm>
            <a:off x="10809871" y="11873925"/>
            <a:ext cx="226895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5" name="Google Shape;7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16948" y="7143750"/>
            <a:ext cx="18654799" cy="473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 txBox="1"/>
          <p:nvPr/>
        </p:nvSpPr>
        <p:spPr>
          <a:xfrm>
            <a:off x="1117434" y="2370385"/>
            <a:ext cx="13074816" cy="69450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Template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 Stack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2428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Courier New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28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Courier New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7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CloudFormation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"/>
          <p:cNvSpPr txBox="1"/>
          <p:nvPr/>
        </p:nvSpPr>
        <p:spPr>
          <a:xfrm>
            <a:off x="1117434" y="2370385"/>
            <a:ext cx="5473866" cy="1268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Template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8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CloudFormation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8"/>
          <p:cNvSpPr txBox="1"/>
          <p:nvPr/>
        </p:nvSpPr>
        <p:spPr>
          <a:xfrm>
            <a:off x="11480634" y="2370385"/>
            <a:ext cx="5473866" cy="1268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9" name="Google Shape;8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91875" y="3347366"/>
            <a:ext cx="14202989" cy="2062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80634" y="5835534"/>
            <a:ext cx="11225469" cy="6566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8614" y="3347366"/>
            <a:ext cx="7696303" cy="3034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CloudFormation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7" name="Google Shape;9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752" y="1656824"/>
            <a:ext cx="11697862" cy="5181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42514" y="1656824"/>
            <a:ext cx="9818738" cy="5181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91327" y="8559772"/>
            <a:ext cx="18306046" cy="193677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/>
          <p:cNvSpPr/>
          <p:nvPr/>
        </p:nvSpPr>
        <p:spPr>
          <a:xfrm>
            <a:off x="10809872" y="10635675"/>
            <a:ext cx="226895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 txBox="1"/>
          <p:nvPr/>
        </p:nvSpPr>
        <p:spPr>
          <a:xfrm>
            <a:off x="1117434" y="2370385"/>
            <a:ext cx="4959516" cy="1249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 Stack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2428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Courier New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28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Courier New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0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CloudFormation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7" name="Google Shape;10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09961" y="1619045"/>
            <a:ext cx="6125875" cy="10515806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0"/>
          <p:cNvSpPr/>
          <p:nvPr/>
        </p:nvSpPr>
        <p:spPr>
          <a:xfrm>
            <a:off x="10638422" y="12134851"/>
            <a:ext cx="226895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Template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CloudFormation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4" name="Google Shape;11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9193" y="2653709"/>
            <a:ext cx="8963248" cy="2493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23482" y="1877690"/>
            <a:ext cx="4548445" cy="454844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1"/>
          <p:cNvSpPr/>
          <p:nvPr/>
        </p:nvSpPr>
        <p:spPr>
          <a:xfrm>
            <a:off x="10225565" y="6426135"/>
            <a:ext cx="334427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 in Designer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7" name="Google Shape;11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1095" y="5449614"/>
            <a:ext cx="7639443" cy="6153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774010" y="2653709"/>
            <a:ext cx="9211961" cy="3772426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1"/>
          <p:cNvSpPr/>
          <p:nvPr/>
        </p:nvSpPr>
        <p:spPr>
          <a:xfrm>
            <a:off x="17707851" y="6426135"/>
            <a:ext cx="334427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changes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0" name="Google Shape;120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422479" y="7562038"/>
            <a:ext cx="8629650" cy="4812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2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CloudFormation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6" name="Google Shape;12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49" y="1877008"/>
            <a:ext cx="13054521" cy="4956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0991" y="8772475"/>
            <a:ext cx="11022211" cy="223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2"/>
          <p:cNvSpPr/>
          <p:nvPr/>
        </p:nvSpPr>
        <p:spPr>
          <a:xfrm>
            <a:off x="5102770" y="7018150"/>
            <a:ext cx="334427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Instance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9713306" y="11010900"/>
            <a:ext cx="334427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 Groups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0" name="Google Shape;13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192035" y="8754753"/>
            <a:ext cx="11892435" cy="2256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264553" y="2101746"/>
            <a:ext cx="7747398" cy="4026107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2"/>
          <p:cNvSpPr/>
          <p:nvPr/>
        </p:nvSpPr>
        <p:spPr>
          <a:xfrm>
            <a:off x="16466113" y="6146903"/>
            <a:ext cx="334427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 IP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3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 txBox="1"/>
          <p:nvPr/>
        </p:nvSpPr>
        <p:spPr>
          <a:xfrm>
            <a:off x="1117434" y="2370385"/>
            <a:ext cx="10064916" cy="10297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Components</a:t>
            </a:r>
            <a:endParaRPr b="0" i="0" sz="36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Template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StackSet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CloudFormation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 txBox="1"/>
          <p:nvPr/>
        </p:nvSpPr>
        <p:spPr>
          <a:xfrm>
            <a:off x="1117434" y="2370385"/>
            <a:ext cx="17399166" cy="8316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Template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Describe AWS resources &amp; properties (EC2, Auto Scaling, Load balancer, RDS, ...)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JSON, YAML format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design by Editor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Stored on 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CloudFormation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1" name="Google Shape;1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198" y="8613351"/>
            <a:ext cx="7696303" cy="3034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 txBox="1"/>
          <p:nvPr/>
        </p:nvSpPr>
        <p:spPr>
          <a:xfrm>
            <a:off x="1117434" y="2370385"/>
            <a:ext cx="17399166" cy="8316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Components: 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5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Resources (Required): EC2, Auto Scaling, Load balancer, RDS, 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5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Parameters: the dynamic inputs for your template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5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Mappings: the static variables for your template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5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Outputs: References to what has been created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5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Conditionals: List of conditions to perform resource creation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5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Metadata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CloudFormation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8" name="Google Shape;15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21153" y="2370385"/>
            <a:ext cx="5909076" cy="803091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/>
          <p:nvPr/>
        </p:nvSpPr>
        <p:spPr>
          <a:xfrm>
            <a:off x="20059601" y="10438917"/>
            <a:ext cx="163217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Tutorial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 txBox="1"/>
          <p:nvPr/>
        </p:nvSpPr>
        <p:spPr>
          <a:xfrm>
            <a:off x="1117425" y="2370372"/>
            <a:ext cx="13341600" cy="71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Stack: config Template &amp; Parameter for Template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 Stack: Update resources in stack through Change Sets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Delete Stack: By default, AWS will delete all resources in the stack. You can keep some resources by using delete policy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4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CloudFormation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6" name="Google Shape;16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45460" y="2370385"/>
            <a:ext cx="9211961" cy="3772426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/>
          <p:nvPr/>
        </p:nvSpPr>
        <p:spPr>
          <a:xfrm>
            <a:off x="16213365" y="6151522"/>
            <a:ext cx="667614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changes when updating Stack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923308" y="8560888"/>
            <a:ext cx="22266300" cy="21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71460" lvl="2" marL="150018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49"/>
              <a:buFont typeface="Noto Sans"/>
              <a:buChar char="▪"/>
            </a:pPr>
            <a:r>
              <a:rPr b="0" i="0" lang="en-US" sz="3937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Components: Template &amp; Parameter, Permission &amp; Role, Stack policy, Stack failure, Termination Protection, ...</a:t>
            </a:r>
            <a:endParaRPr b="0" i="0" sz="3937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8924" lvl="2" marL="1500187" marR="0" rtl="0" algn="l">
              <a:lnSpc>
                <a:spcPct val="8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1649"/>
              <a:buFont typeface="Noto Sans"/>
              <a:buNone/>
            </a:pPr>
            <a:r>
              <a:t/>
            </a:r>
            <a:endParaRPr b="0" i="0" sz="3937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8924" lvl="2" marL="1500187" marR="0" rtl="0" algn="l">
              <a:lnSpc>
                <a:spcPct val="8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1649"/>
              <a:buFont typeface="Noto Sans"/>
              <a:buNone/>
            </a:pPr>
            <a:r>
              <a:t/>
            </a:r>
            <a:endParaRPr b="0" i="0" sz="3937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/>
        </p:nvSpPr>
        <p:spPr>
          <a:xfrm>
            <a:off x="1117434" y="2370385"/>
            <a:ext cx="21818766" cy="54020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StackSets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Create, update, or delete stacks across multiple accounts and regions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you update a stack set, all associated stack instances are updated throughout all accounts and regions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CloudFormation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5" name="Google Shape;17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9248" y="5845165"/>
            <a:ext cx="11919143" cy="667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"/>
          <p:cNvSpPr txBox="1"/>
          <p:nvPr/>
        </p:nvSpPr>
        <p:spPr>
          <a:xfrm>
            <a:off x="1117434" y="2370385"/>
            <a:ext cx="22466466" cy="10888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CloudFormation is service that allows create and manage AWS resources based on code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Infrastructure as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Usecases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Quickly Launch New Test Environments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Reliably Replicate Configuration Between Environments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Launch Applications in New AWS Regions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 infrastructure with DevOps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Price: free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 txBox="1"/>
          <p:nvPr/>
        </p:nvSpPr>
        <p:spPr>
          <a:xfrm>
            <a:off x="1117434" y="2370385"/>
            <a:ext cx="17799216" cy="8888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Components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Template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Noto Sans"/>
              <a:buChar char="▪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Describe AWS resources &amp; properties (EC2, Auto Scaling, Load balancer, RDS, ...)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Noto Sans"/>
              <a:buChar char="▪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Stored on S3, JSON/YAML format, Support design by Editor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Noto Sans"/>
              <a:buChar char="▪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Including: Resources (Required), Parameters, Mappings, Outputs, Conditionals, Metadata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Stack: Create/ Update/ Delete Stack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StackSet: Support Create, update, or delete stacks across multiple accounts and regions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