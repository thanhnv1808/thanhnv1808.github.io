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3716000" cx="24384000"/>
  <p:notesSz cx="6797675" cy="9929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25" roundtripDataSignature="AMtx7mjgaYHKviAF7PzcPaW/ND7gDxE1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1pPr>
            <a:lvl2pPr indent="-228600" lvl="1" marL="9144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2pPr>
            <a:lvl3pPr indent="-228600" lvl="2" marL="13716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3pPr>
            <a:lvl4pPr indent="-228600" lvl="3" marL="18288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4pPr>
            <a:lvl5pPr indent="-228600" lvl="4" marL="22860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5pPr>
            <a:lvl6pPr indent="-228600" lvl="5" marL="27432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6pPr>
            <a:lvl7pPr indent="-228600" lvl="6" marL="32004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7pPr>
            <a:lvl8pPr indent="-228600" lvl="7" marL="36576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8pPr>
            <a:lvl9pPr indent="-228600" lvl="8" marL="41148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7: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8: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1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2: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4: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5: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6: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7: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
        <p:nvSpPr>
          <p:cNvPr id="172" name="Google Shape;172;p19: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9.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21"/>
          <p:cNvPicPr preferRelativeResize="0"/>
          <p:nvPr/>
        </p:nvPicPr>
        <p:blipFill rotWithShape="1">
          <a:blip r:embed="rId2">
            <a:alphaModFix/>
          </a:blip>
          <a:srcRect b="0" l="0" r="0" t="0"/>
          <a:stretch/>
        </p:blipFill>
        <p:spPr>
          <a:xfrm>
            <a:off x="21017132" y="859479"/>
            <a:ext cx="2950192" cy="1131834"/>
          </a:xfrm>
          <a:prstGeom prst="rect">
            <a:avLst/>
          </a:prstGeom>
          <a:noFill/>
          <a:ln>
            <a:noFill/>
          </a:ln>
        </p:spPr>
      </p:pic>
      <p:pic>
        <p:nvPicPr>
          <p:cNvPr id="11" name="Google Shape;11;p21"/>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2" name="Shape 12"/>
        <p:cNvGrpSpPr/>
        <p:nvPr/>
      </p:nvGrpSpPr>
      <p:grpSpPr>
        <a:xfrm>
          <a:off x="0" y="0"/>
          <a:ext cx="0" cy="0"/>
          <a:chOff x="0" y="0"/>
          <a:chExt cx="0" cy="0"/>
        </a:xfrm>
      </p:grpSpPr>
      <p:cxnSp>
        <p:nvCxnSpPr>
          <p:cNvPr id="13" name="Google Shape;13;p22"/>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4" name="Google Shape;14;p22"/>
          <p:cNvSpPr/>
          <p:nvPr/>
        </p:nvSpPr>
        <p:spPr>
          <a:xfrm>
            <a:off x="0" y="12670972"/>
            <a:ext cx="24384000"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Times New Roman"/>
              <a:buNone/>
            </a:pPr>
            <a:r>
              <a:t/>
            </a:r>
            <a:endParaRPr b="1" i="0" sz="3600" u="none" cap="none" strike="noStrike">
              <a:solidFill>
                <a:schemeClr val="lt1"/>
              </a:solidFill>
              <a:latin typeface="Calibri"/>
              <a:ea typeface="Calibri"/>
              <a:cs typeface="Calibri"/>
              <a:sym typeface="Calibri"/>
            </a:endParaRPr>
          </a:p>
        </p:txBody>
      </p:sp>
      <p:sp>
        <p:nvSpPr>
          <p:cNvPr id="15" name="Google Shape;15;p22"/>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Times New Roman"/>
              <a:buNone/>
            </a:pPr>
            <a:r>
              <a:rPr b="1" i="0" lang="en-US" sz="3200" u="none" cap="none" strike="noStrike">
                <a:solidFill>
                  <a:schemeClr val="lt1"/>
                </a:solidFill>
                <a:latin typeface="Times New Roman"/>
                <a:ea typeface="Times New Roman"/>
                <a:cs typeface="Times New Roman"/>
                <a:sym typeface="Times New Roman"/>
              </a:rPr>
              <a:t>Copyright </a:t>
            </a:r>
            <a:r>
              <a:rPr b="1" i="1" lang="en-US" sz="3200" u="none" cap="none" strike="noStrike">
                <a:solidFill>
                  <a:schemeClr val="lt1"/>
                </a:solidFill>
                <a:latin typeface="Times New Roman"/>
                <a:ea typeface="Times New Roman"/>
                <a:cs typeface="Times New Roman"/>
                <a:sym typeface="Times New Roman"/>
              </a:rPr>
              <a:t>© </a:t>
            </a:r>
            <a:r>
              <a:rPr b="1" i="0" lang="en-US" sz="3200" u="none" cap="none" strike="noStrike">
                <a:solidFill>
                  <a:schemeClr val="lt1"/>
                </a:solidFill>
                <a:latin typeface="Times New Roman"/>
                <a:ea typeface="Times New Roman"/>
                <a:cs typeface="Times New Roman"/>
                <a:sym typeface="Times New Roman"/>
              </a:rPr>
              <a:t>VTI Academy All Right Reserved </a:t>
            </a:r>
            <a:endParaRPr b="1" i="0" sz="3200" u="none" cap="none" strike="noStrike">
              <a:solidFill>
                <a:schemeClr val="lt1"/>
              </a:solidFill>
              <a:latin typeface="Times New Roman"/>
              <a:ea typeface="Times New Roman"/>
              <a:cs typeface="Times New Roman"/>
              <a:sym typeface="Times New Roman"/>
            </a:endParaRPr>
          </a:p>
        </p:txBody>
      </p:sp>
      <p:cxnSp>
        <p:nvCxnSpPr>
          <p:cNvPr id="16" name="Google Shape;16;p22"/>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17" name="Google Shape;17;p22"/>
          <p:cNvCxnSpPr/>
          <p:nvPr/>
        </p:nvCxnSpPr>
        <p:spPr>
          <a:xfrm>
            <a:off x="0" y="12670972"/>
            <a:ext cx="24384000"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18" name="Google Shape;18;p22"/>
          <p:cNvPicPr preferRelativeResize="0"/>
          <p:nvPr/>
        </p:nvPicPr>
        <p:blipFill rotWithShape="1">
          <a:blip r:embed="rId2">
            <a:alphaModFix/>
          </a:blip>
          <a:srcRect b="0" l="0" r="0" t="0"/>
          <a:stretch/>
        </p:blipFill>
        <p:spPr>
          <a:xfrm>
            <a:off x="19252276" y="-25180"/>
            <a:ext cx="5131724" cy="143757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19" name="Shape 19"/>
        <p:cNvGrpSpPr/>
        <p:nvPr/>
      </p:nvGrpSpPr>
      <p:grpSpPr>
        <a:xfrm>
          <a:off x="0" y="0"/>
          <a:ext cx="0" cy="0"/>
          <a:chOff x="0" y="0"/>
          <a:chExt cx="0" cy="0"/>
        </a:xfrm>
      </p:grpSpPr>
      <p:sp>
        <p:nvSpPr>
          <p:cNvPr id="20" name="Google Shape;20;p23"/>
          <p:cNvSpPr txBox="1"/>
          <p:nvPr>
            <p:ph type="title"/>
          </p:nvPr>
        </p:nvSpPr>
        <p:spPr>
          <a:xfrm>
            <a:off x="1845217" y="357188"/>
            <a:ext cx="18701658"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 name="Google Shape;21;p23"/>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9pPr>
          </a:lstStyle>
          <a:p/>
        </p:txBody>
      </p:sp>
      <p:sp>
        <p:nvSpPr>
          <p:cNvPr id="22" name="Google Shape;22;p23"/>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9pPr>
          </a:lstStyle>
          <a:p/>
        </p:txBody>
      </p:sp>
      <p:sp>
        <p:nvSpPr>
          <p:cNvPr id="23" name="Google Shape;23;p23"/>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algn="ctr">
              <a:lnSpc>
                <a:spcPct val="100000"/>
              </a:lnSpc>
              <a:spcBef>
                <a:spcPts val="0"/>
              </a:spcBef>
              <a:spcAft>
                <a:spcPts val="0"/>
              </a:spcAft>
              <a:buClr>
                <a:srgbClr val="000000"/>
              </a:buClr>
              <a:buSzPts val="2200"/>
              <a:buFont typeface="Times New Roman"/>
              <a:buNone/>
              <a:defRPr/>
            </a:lvl1pPr>
            <a:lvl2pPr indent="0" lvl="1" marL="0" algn="ctr">
              <a:lnSpc>
                <a:spcPct val="100000"/>
              </a:lnSpc>
              <a:spcBef>
                <a:spcPts val="0"/>
              </a:spcBef>
              <a:spcAft>
                <a:spcPts val="0"/>
              </a:spcAft>
              <a:buClr>
                <a:srgbClr val="000000"/>
              </a:buClr>
              <a:buSzPts val="2200"/>
              <a:buFont typeface="Times New Roman"/>
              <a:buNone/>
              <a:defRPr/>
            </a:lvl2pPr>
            <a:lvl3pPr indent="0" lvl="2" marL="0" algn="ctr">
              <a:lnSpc>
                <a:spcPct val="100000"/>
              </a:lnSpc>
              <a:spcBef>
                <a:spcPts val="0"/>
              </a:spcBef>
              <a:spcAft>
                <a:spcPts val="0"/>
              </a:spcAft>
              <a:buClr>
                <a:srgbClr val="000000"/>
              </a:buClr>
              <a:buSzPts val="2200"/>
              <a:buFont typeface="Times New Roman"/>
              <a:buNone/>
              <a:defRPr/>
            </a:lvl3pPr>
            <a:lvl4pPr indent="0" lvl="3" marL="0" algn="ctr">
              <a:lnSpc>
                <a:spcPct val="100000"/>
              </a:lnSpc>
              <a:spcBef>
                <a:spcPts val="0"/>
              </a:spcBef>
              <a:spcAft>
                <a:spcPts val="0"/>
              </a:spcAft>
              <a:buClr>
                <a:srgbClr val="000000"/>
              </a:buClr>
              <a:buSzPts val="2200"/>
              <a:buFont typeface="Times New Roman"/>
              <a:buNone/>
              <a:defRPr/>
            </a:lvl4pPr>
            <a:lvl5pPr indent="0" lvl="4" marL="0" algn="ctr">
              <a:lnSpc>
                <a:spcPct val="100000"/>
              </a:lnSpc>
              <a:spcBef>
                <a:spcPts val="0"/>
              </a:spcBef>
              <a:spcAft>
                <a:spcPts val="0"/>
              </a:spcAft>
              <a:buClr>
                <a:srgbClr val="000000"/>
              </a:buClr>
              <a:buSzPts val="2200"/>
              <a:buFont typeface="Times New Roman"/>
              <a:buNone/>
              <a:defRPr/>
            </a:lvl5pPr>
            <a:lvl6pPr indent="0" lvl="5" marL="0" algn="ctr">
              <a:lnSpc>
                <a:spcPct val="100000"/>
              </a:lnSpc>
              <a:spcBef>
                <a:spcPts val="0"/>
              </a:spcBef>
              <a:spcAft>
                <a:spcPts val="0"/>
              </a:spcAft>
              <a:buClr>
                <a:srgbClr val="000000"/>
              </a:buClr>
              <a:buSzPts val="2200"/>
              <a:buFont typeface="Times New Roman"/>
              <a:buNone/>
              <a:defRPr/>
            </a:lvl6pPr>
            <a:lvl7pPr indent="0" lvl="6" marL="0" algn="ctr">
              <a:lnSpc>
                <a:spcPct val="100000"/>
              </a:lnSpc>
              <a:spcBef>
                <a:spcPts val="0"/>
              </a:spcBef>
              <a:spcAft>
                <a:spcPts val="0"/>
              </a:spcAft>
              <a:buClr>
                <a:srgbClr val="000000"/>
              </a:buClr>
              <a:buSzPts val="2200"/>
              <a:buFont typeface="Times New Roman"/>
              <a:buNone/>
              <a:defRPr/>
            </a:lvl7pPr>
            <a:lvl8pPr indent="0" lvl="7" marL="0" algn="ctr">
              <a:lnSpc>
                <a:spcPct val="100000"/>
              </a:lnSpc>
              <a:spcBef>
                <a:spcPts val="0"/>
              </a:spcBef>
              <a:spcAft>
                <a:spcPts val="0"/>
              </a:spcAft>
              <a:buClr>
                <a:srgbClr val="000000"/>
              </a:buClr>
              <a:buSzPts val="2200"/>
              <a:buFont typeface="Times New Roman"/>
              <a:buNone/>
              <a:defRPr/>
            </a:lvl8pPr>
            <a:lvl9pPr indent="0" lvl="8" marL="0" algn="ctr">
              <a:lnSpc>
                <a:spcPct val="100000"/>
              </a:lnSpc>
              <a:spcBef>
                <a:spcPts val="0"/>
              </a:spcBef>
              <a:spcAft>
                <a:spcPts val="0"/>
              </a:spcAft>
              <a:buClr>
                <a:srgbClr val="000000"/>
              </a:buClr>
              <a:buSzPts val="2200"/>
              <a:buFont typeface="Times New Roman"/>
              <a:buNone/>
              <a:defRPr/>
            </a:lvl9pPr>
          </a:lstStyle>
          <a:p>
            <a:pPr indent="0" lvl="0" marL="0" rtl="0" algn="ctr">
              <a:spcBef>
                <a:spcPts val="0"/>
              </a:spcBef>
              <a:spcAft>
                <a:spcPts val="0"/>
              </a:spcAft>
              <a:buNone/>
            </a:pPr>
            <a:fld id="{00000000-1234-1234-1234-123412341234}" type="slidenum">
              <a:rPr lang="en-US"/>
              <a:t>‹#›</a:t>
            </a:fld>
            <a:endParaRPr/>
          </a:p>
        </p:txBody>
      </p:sp>
      <p:cxnSp>
        <p:nvCxnSpPr>
          <p:cNvPr id="24" name="Google Shape;24;p23"/>
          <p:cNvCxnSpPr/>
          <p:nvPr/>
        </p:nvCxnSpPr>
        <p:spPr>
          <a:xfrm>
            <a:off x="1845217" y="1893677"/>
            <a:ext cx="18701658"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5" name="Google Shape;25;p23"/>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387453" y="357187"/>
            <a:ext cx="15609094"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9pPr>
          </a:lstStyle>
          <a:p/>
        </p:txBody>
      </p:sp>
      <p:sp>
        <p:nvSpPr>
          <p:cNvPr id="7" name="Google Shape;7;p20"/>
          <p:cNvSpPr txBox="1"/>
          <p:nvPr>
            <p:ph idx="1" type="body"/>
          </p:nvPr>
        </p:nvSpPr>
        <p:spPr>
          <a:xfrm>
            <a:off x="4387453" y="3643312"/>
            <a:ext cx="15609094"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1pPr>
            <a:lvl2pPr indent="-633730" lvl="1" marL="9144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2pPr>
            <a:lvl3pPr indent="-633730" lvl="2" marL="13716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3pPr>
            <a:lvl4pPr indent="-633730" lvl="3" marL="18288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4pPr>
            <a:lvl5pPr indent="-633729" lvl="4" marL="22860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5pPr>
            <a:lvl6pPr indent="-633729" lvl="5" marL="27432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6pPr>
            <a:lvl7pPr indent="-633729" lvl="6" marL="32004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7pPr>
            <a:lvl8pPr indent="-633729" lvl="7" marL="36576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8pPr>
            <a:lvl9pPr indent="-633729" lvl="8" marL="41148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9pPr>
          </a:lstStyle>
          <a:p/>
        </p:txBody>
      </p:sp>
      <p:sp>
        <p:nvSpPr>
          <p:cNvPr id="8" name="Google Shape;8;p20"/>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mailto:duy.nguyenngoc1@vti.com.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aws.amazon.com/elasticbeanstalk" TargetMode="External"/><Relationship Id="rId4" Type="http://schemas.openxmlformats.org/officeDocument/2006/relationships/image" Target="../media/image25.png"/><Relationship Id="rId5" Type="http://schemas.openxmlformats.org/officeDocument/2006/relationships/hyperlink" Target="https://docs.aws.amazon.com/elasticbeanstalk/latest/dg/Welcome.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23.png"/><Relationship Id="rId7"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youtube.com/watch?v=kfrb5_6Pe_Y" TargetMode="Externa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youtube.com/watch?v=kfrb5_6Pe_Y" TargetMode="External"/><Relationship Id="rId4" Type="http://schemas.openxmlformats.org/officeDocument/2006/relationships/image" Target="../media/image22.png"/><Relationship Id="rId5"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A picture containing drawing&#10;&#10;Description automatically generated" id="31" name="Google Shape;31;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2" name="Google Shape;32;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Times New Roman"/>
              <a:buNone/>
            </a:pPr>
            <a:r>
              <a:rPr b="1" i="0" lang="en-US" sz="3100" u="none" cap="none" strike="noStrike">
                <a:solidFill>
                  <a:srgbClr val="0079BF"/>
                </a:solidFill>
                <a:latin typeface="Times New Roman"/>
                <a:ea typeface="Times New Roman"/>
                <a:cs typeface="Times New Roman"/>
                <a:sym typeface="Times New Roman"/>
              </a:rPr>
              <a:t>WAY TO ENTERPRISE</a:t>
            </a:r>
            <a:endParaRPr/>
          </a:p>
        </p:txBody>
      </p:sp>
      <p:sp>
        <p:nvSpPr>
          <p:cNvPr id="33" name="Google Shape;33;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Times New Roman"/>
              <a:buNone/>
            </a:pPr>
            <a:r>
              <a:rPr b="0" i="0" lang="en-US" sz="10000" u="none" cap="none" strike="noStrike">
                <a:solidFill>
                  <a:srgbClr val="0079BF"/>
                </a:solidFill>
                <a:latin typeface="Times New Roman"/>
                <a:ea typeface="Times New Roman"/>
                <a:cs typeface="Times New Roman"/>
                <a:sym typeface="Times New Roman"/>
              </a:rPr>
              <a:t>AWS</a:t>
            </a:r>
            <a:endParaRPr b="0" i="0" sz="10000" u="none" cap="none" strike="noStrike">
              <a:solidFill>
                <a:srgbClr val="0079BF"/>
              </a:solidFill>
              <a:latin typeface="Times New Roman"/>
              <a:ea typeface="Times New Roman"/>
              <a:cs typeface="Times New Roman"/>
              <a:sym typeface="Times New Roman"/>
            </a:endParaRPr>
          </a:p>
        </p:txBody>
      </p:sp>
      <p:sp>
        <p:nvSpPr>
          <p:cNvPr id="34" name="Google Shape;34;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Times New Roman"/>
              <a:buNone/>
            </a:pPr>
            <a:r>
              <a:rPr b="1" i="0" lang="en-US" sz="5000" u="none" cap="none" strike="noStrike">
                <a:solidFill>
                  <a:srgbClr val="0079BF"/>
                </a:solidFill>
                <a:latin typeface="Times New Roman"/>
                <a:ea typeface="Times New Roman"/>
                <a:cs typeface="Times New Roman"/>
                <a:sym typeface="Times New Roman"/>
              </a:rPr>
              <a:t>VTI ACADEMY</a:t>
            </a:r>
            <a:endParaRPr/>
          </a:p>
          <a:p>
            <a:pPr indent="0" lvl="0" marL="0" marR="0" rtl="0" algn="l">
              <a:lnSpc>
                <a:spcPct val="100000"/>
              </a:lnSpc>
              <a:spcBef>
                <a:spcPts val="1000"/>
              </a:spcBef>
              <a:spcAft>
                <a:spcPts val="0"/>
              </a:spcAft>
              <a:buClr>
                <a:srgbClr val="0079BF"/>
              </a:buClr>
              <a:buSzPts val="3000"/>
              <a:buFont typeface="Times New Roman"/>
              <a:buNone/>
            </a:pPr>
            <a:r>
              <a:rPr b="1" i="0" lang="en-US" sz="5000" u="none" cap="none" strike="noStrike">
                <a:solidFill>
                  <a:srgbClr val="0079BF"/>
                </a:solidFill>
                <a:latin typeface="Times New Roman"/>
                <a:ea typeface="Times New Roman"/>
                <a:cs typeface="Times New Roman"/>
                <a:sym typeface="Times New Roman"/>
              </a:rPr>
              <a:t>Author: </a:t>
            </a:r>
            <a:r>
              <a:rPr b="1" i="0" lang="en-US" sz="5000" u="sng" cap="none" strike="noStrike">
                <a:solidFill>
                  <a:srgbClr val="0079BF"/>
                </a:solidFill>
                <a:latin typeface="Times New Roman"/>
                <a:ea typeface="Times New Roman"/>
                <a:cs typeface="Times New Roman"/>
                <a:sym typeface="Times New Roman"/>
                <a:hlinkClick r:id="rId4">
                  <a:extLst>
                    <a:ext uri="{A12FA001-AC4F-418D-AE19-62706E023703}">
                      <ahyp:hlinkClr val="tx"/>
                    </a:ext>
                  </a:extLst>
                </a:hlinkClick>
              </a:rPr>
              <a:t>duy.nguyenngoc1@vti.com.vn</a:t>
            </a:r>
            <a:endParaRPr b="1" i="0" sz="5000" u="none" cap="none" strike="noStrike">
              <a:solidFill>
                <a:srgbClr val="0079BF"/>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79BF"/>
              </a:buClr>
              <a:buSzPts val="3000"/>
              <a:buFont typeface="Times New Roman"/>
              <a:buNone/>
            </a:pPr>
            <a:r>
              <a:t/>
            </a:r>
            <a:endParaRPr b="1" i="0" sz="5000" u="none" cap="none" strike="noStrike">
              <a:solidFill>
                <a:srgbClr val="0079B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nvSpPr>
        <p:spPr>
          <a:xfrm>
            <a:off x="1200149" y="571498"/>
            <a:ext cx="97536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Developer problems on AWS</a:t>
            </a:r>
            <a:endParaRPr b="1" i="0" sz="6000" u="none" cap="none" strike="noStrike">
              <a:solidFill>
                <a:srgbClr val="4F81BD"/>
              </a:solidFill>
              <a:latin typeface="Times New Roman"/>
              <a:ea typeface="Times New Roman"/>
              <a:cs typeface="Times New Roman"/>
              <a:sym typeface="Times New Roman"/>
            </a:endParaRPr>
          </a:p>
        </p:txBody>
      </p:sp>
      <p:pic>
        <p:nvPicPr>
          <p:cNvPr id="40" name="Google Shape;40;p2"/>
          <p:cNvPicPr preferRelativeResize="0"/>
          <p:nvPr/>
        </p:nvPicPr>
        <p:blipFill rotWithShape="1">
          <a:blip r:embed="rId3">
            <a:alphaModFix/>
          </a:blip>
          <a:srcRect b="0" l="0" r="0" t="0"/>
          <a:stretch/>
        </p:blipFill>
        <p:spPr>
          <a:xfrm>
            <a:off x="12477750" y="2268392"/>
            <a:ext cx="11677650" cy="5865008"/>
          </a:xfrm>
          <a:prstGeom prst="rect">
            <a:avLst/>
          </a:prstGeom>
          <a:noFill/>
          <a:ln>
            <a:noFill/>
          </a:ln>
        </p:spPr>
      </p:pic>
      <p:sp>
        <p:nvSpPr>
          <p:cNvPr id="41" name="Google Shape;41;p2"/>
          <p:cNvSpPr txBox="1"/>
          <p:nvPr/>
        </p:nvSpPr>
        <p:spPr>
          <a:xfrm>
            <a:off x="1117434" y="2268392"/>
            <a:ext cx="16541916" cy="9047308"/>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Managing infrastructure</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Deploying Code</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Configuring all the databases, load balancers, ...</a:t>
            </a:r>
            <a:endParaRPr b="0" i="0" sz="4000" u="none" cap="none" strike="noStrike">
              <a:solidFill>
                <a:srgbClr val="000000"/>
              </a:solidFill>
              <a:latin typeface="Times New Roman"/>
              <a:ea typeface="Times New Roman"/>
              <a:cs typeface="Times New Roman"/>
              <a:sym typeface="Times New Roman"/>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Scaling concerns</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Most web apps have the same architecture (ALB + ASG)</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All the developers want is for their code to run!</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Possibly, consistently across different applications and environments</a:t>
            </a:r>
            <a:endParaRPr b="0" i="0" sz="4000" u="none" cap="none" strike="noStrike">
              <a:solidFill>
                <a:srgbClr val="000000"/>
              </a:solidFill>
              <a:latin typeface="Times New Roman"/>
              <a:ea typeface="Times New Roman"/>
              <a:cs typeface="Times New Roman"/>
              <a:sym typeface="Times New Roman"/>
            </a:endParaRPr>
          </a:p>
        </p:txBody>
      </p:sp>
      <p:sp>
        <p:nvSpPr>
          <p:cNvPr id="42" name="Google Shape;42;p2"/>
          <p:cNvSpPr/>
          <p:nvPr/>
        </p:nvSpPr>
        <p:spPr>
          <a:xfrm>
            <a:off x="15122431" y="8145813"/>
            <a:ext cx="638828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Typical architecture: Web App 3-tier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3"/>
          <p:cNvSpPr txBox="1"/>
          <p:nvPr/>
        </p:nvSpPr>
        <p:spPr>
          <a:xfrm>
            <a:off x="1200150" y="571498"/>
            <a:ext cx="4382504"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
        <p:nvSpPr>
          <p:cNvPr id="48" name="Google Shape;48;p3"/>
          <p:cNvSpPr txBox="1"/>
          <p:nvPr/>
        </p:nvSpPr>
        <p:spPr>
          <a:xfrm>
            <a:off x="1117434" y="2268392"/>
            <a:ext cx="23095116" cy="4760551"/>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Elastic Beanstalk is a developer centric view of deploying an application on AWS</a:t>
            </a:r>
            <a:endParaRPr b="0" i="0" sz="4000" u="none" cap="none" strike="noStrike">
              <a:solidFill>
                <a:srgbClr val="000000"/>
              </a:solidFill>
              <a:latin typeface="Times New Roman"/>
              <a:ea typeface="Times New Roman"/>
              <a:cs typeface="Times New Roman"/>
              <a:sym typeface="Times New Roman"/>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You just upload the application, then beanstalk will automatically setup EC2, Auto scaling ELB, capacity, health monitoring, security group, ... no need to care about security group, no need to ssh into EC2 and install software, setup CloudWatch, ... </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We still have full control over the configuration (custom configuration)</a:t>
            </a:r>
            <a:endParaRPr b="0" i="0" sz="4000" u="none" cap="none" strike="noStrike">
              <a:solidFill>
                <a:srgbClr val="000000"/>
              </a:solidFill>
              <a:latin typeface="Times New Roman"/>
              <a:ea typeface="Times New Roman"/>
              <a:cs typeface="Times New Roman"/>
              <a:sym typeface="Times New Roman"/>
            </a:endParaRPr>
          </a:p>
        </p:txBody>
      </p:sp>
      <p:pic>
        <p:nvPicPr>
          <p:cNvPr id="49" name="Google Shape;49;p3"/>
          <p:cNvPicPr preferRelativeResize="0"/>
          <p:nvPr/>
        </p:nvPicPr>
        <p:blipFill rotWithShape="1">
          <a:blip r:embed="rId3">
            <a:alphaModFix/>
          </a:blip>
          <a:srcRect b="0" l="0" r="0" t="0"/>
          <a:stretch/>
        </p:blipFill>
        <p:spPr>
          <a:xfrm>
            <a:off x="14730787" y="6929224"/>
            <a:ext cx="4485526" cy="5183034"/>
          </a:xfrm>
          <a:prstGeom prst="rect">
            <a:avLst/>
          </a:prstGeom>
          <a:noFill/>
          <a:ln>
            <a:noFill/>
          </a:ln>
        </p:spPr>
      </p:pic>
      <p:sp>
        <p:nvSpPr>
          <p:cNvPr id="50" name="Google Shape;50;p3"/>
          <p:cNvSpPr/>
          <p:nvPr/>
        </p:nvSpPr>
        <p:spPr>
          <a:xfrm>
            <a:off x="1933978" y="12065287"/>
            <a:ext cx="1149236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AWS will automatically initialize the resource according to config</a:t>
            </a:r>
            <a:endParaRPr b="0" i="1" sz="3200" u="none" cap="none" strike="noStrike">
              <a:solidFill>
                <a:srgbClr val="000000"/>
              </a:solidFill>
              <a:latin typeface="Times New Roman"/>
              <a:ea typeface="Times New Roman"/>
              <a:cs typeface="Times New Roman"/>
              <a:sym typeface="Times New Roman"/>
            </a:endParaRPr>
          </a:p>
        </p:txBody>
      </p:sp>
      <p:pic>
        <p:nvPicPr>
          <p:cNvPr id="51" name="Google Shape;51;p3"/>
          <p:cNvPicPr preferRelativeResize="0"/>
          <p:nvPr/>
        </p:nvPicPr>
        <p:blipFill rotWithShape="1">
          <a:blip r:embed="rId4">
            <a:alphaModFix/>
          </a:blip>
          <a:srcRect b="0" l="0" r="0" t="0"/>
          <a:stretch/>
        </p:blipFill>
        <p:spPr>
          <a:xfrm>
            <a:off x="2930405" y="7028943"/>
            <a:ext cx="9499508" cy="50363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4"/>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
        <p:nvSpPr>
          <p:cNvPr id="57" name="Google Shape;57;p4"/>
          <p:cNvSpPr txBox="1"/>
          <p:nvPr/>
        </p:nvSpPr>
        <p:spPr>
          <a:xfrm>
            <a:off x="1117434" y="2268392"/>
            <a:ext cx="13703466" cy="10037908"/>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Highly scalable</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Fast and simple to begin</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Quick deployment</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Support multi-tenant architecture</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Support .NET, Java, Node.js, PHP, Python, Go, Docker, …</a:t>
            </a:r>
            <a:endParaRPr b="0" i="0" sz="4000" u="none" cap="none" strike="noStrike">
              <a:solidFill>
                <a:srgbClr val="000000"/>
              </a:solidFill>
              <a:latin typeface="Times New Roman"/>
              <a:ea typeface="Times New Roman"/>
              <a:cs typeface="Times New Roman"/>
              <a:sym typeface="Times New Roman"/>
            </a:endParaRPr>
          </a:p>
          <a:p>
            <a:pPr indent="-60325" lvl="0" marL="428625" marR="0" rtl="0" algn="l">
              <a:lnSpc>
                <a:spcPct val="100000"/>
              </a:lnSpc>
              <a:spcBef>
                <a:spcPts val="5900"/>
              </a:spcBef>
              <a:spcAft>
                <a:spcPts val="0"/>
              </a:spcAft>
              <a:buClr>
                <a:srgbClr val="000000"/>
              </a:buClr>
              <a:buSzPts val="5800"/>
              <a:buFont typeface="Noto Sans Symbols"/>
              <a:buNone/>
            </a:pPr>
            <a:r>
              <a:t/>
            </a:r>
            <a:endParaRPr b="0" i="0" sz="4000" u="none" cap="none" strike="noStrike">
              <a:solidFill>
                <a:srgbClr val="000000"/>
              </a:solidFill>
              <a:latin typeface="Times New Roman"/>
              <a:ea typeface="Times New Roman"/>
              <a:cs typeface="Times New Roman"/>
              <a:sym typeface="Times New Roman"/>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Price: Free - </a:t>
            </a:r>
            <a:r>
              <a:rPr b="0" i="0" lang="en-US" sz="4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https://aws.amazon.com/elasticbeanstalk</a:t>
            </a:r>
            <a:r>
              <a:rPr b="0" i="0" lang="en-US" sz="4000" u="none" cap="none" strike="noStrike">
                <a:solidFill>
                  <a:srgbClr val="000000"/>
                </a:solidFill>
                <a:latin typeface="Times New Roman"/>
                <a:ea typeface="Times New Roman"/>
                <a:cs typeface="Times New Roman"/>
                <a:sym typeface="Times New Roman"/>
              </a:rPr>
              <a:t> </a:t>
            </a:r>
            <a:endParaRPr b="0" i="0" sz="4000" u="none" cap="none" strike="noStrike">
              <a:solidFill>
                <a:srgbClr val="000000"/>
              </a:solidFill>
              <a:latin typeface="Times New Roman"/>
              <a:ea typeface="Times New Roman"/>
              <a:cs typeface="Times New Roman"/>
              <a:sym typeface="Times New Roman"/>
            </a:endParaRPr>
          </a:p>
        </p:txBody>
      </p:sp>
      <p:pic>
        <p:nvPicPr>
          <p:cNvPr id="58" name="Google Shape;58;p4"/>
          <p:cNvPicPr preferRelativeResize="0"/>
          <p:nvPr/>
        </p:nvPicPr>
        <p:blipFill rotWithShape="1">
          <a:blip r:embed="rId4">
            <a:alphaModFix/>
          </a:blip>
          <a:srcRect b="0" l="0" r="0" t="0"/>
          <a:stretch/>
        </p:blipFill>
        <p:spPr>
          <a:xfrm>
            <a:off x="13439928" y="2268392"/>
            <a:ext cx="10810722" cy="5294458"/>
          </a:xfrm>
          <a:prstGeom prst="rect">
            <a:avLst/>
          </a:prstGeom>
          <a:noFill/>
          <a:ln>
            <a:noFill/>
          </a:ln>
        </p:spPr>
      </p:pic>
      <p:sp>
        <p:nvSpPr>
          <p:cNvPr id="59" name="Google Shape;59;p4"/>
          <p:cNvSpPr/>
          <p:nvPr/>
        </p:nvSpPr>
        <p:spPr>
          <a:xfrm>
            <a:off x="2283995" y="12031242"/>
            <a:ext cx="1932071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Tutorial: </a:t>
            </a:r>
            <a:r>
              <a:rPr b="0" i="1" lang="en-US" sz="32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https://docs.aws.amazon.com/elasticbeanstalk/latest/dg/Welcome.html</a:t>
            </a:r>
            <a:r>
              <a:rPr b="0" i="1" lang="en-US" sz="3200" u="none" cap="none" strike="noStrike">
                <a:solidFill>
                  <a:srgbClr val="000000"/>
                </a:solidFill>
                <a:latin typeface="Times New Roman"/>
                <a:ea typeface="Times New Roman"/>
                <a:cs typeface="Times New Roman"/>
                <a:sym typeface="Times New Roman"/>
              </a:rPr>
              <a:t> </a:t>
            </a:r>
            <a:endParaRPr b="0" i="1"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5"/>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
        <p:nvSpPr>
          <p:cNvPr id="65" name="Google Shape;65;p5"/>
          <p:cNvSpPr txBox="1"/>
          <p:nvPr/>
        </p:nvSpPr>
        <p:spPr>
          <a:xfrm>
            <a:off x="1117434" y="2268392"/>
            <a:ext cx="2635416" cy="1694008"/>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Flow</a:t>
            </a:r>
            <a:endParaRPr b="0" i="0" sz="4000" u="none" cap="none" strike="noStrike">
              <a:solidFill>
                <a:srgbClr val="000000"/>
              </a:solidFill>
              <a:latin typeface="Times New Roman"/>
              <a:ea typeface="Times New Roman"/>
              <a:cs typeface="Times New Roman"/>
              <a:sym typeface="Times New Roman"/>
            </a:endParaRPr>
          </a:p>
        </p:txBody>
      </p:sp>
      <p:pic>
        <p:nvPicPr>
          <p:cNvPr id="66" name="Google Shape;66;p5"/>
          <p:cNvPicPr preferRelativeResize="0"/>
          <p:nvPr/>
        </p:nvPicPr>
        <p:blipFill rotWithShape="1">
          <a:blip r:embed="rId3">
            <a:alphaModFix/>
          </a:blip>
          <a:srcRect b="0" l="0" r="0" t="0"/>
          <a:stretch/>
        </p:blipFill>
        <p:spPr>
          <a:xfrm>
            <a:off x="4539338" y="3295649"/>
            <a:ext cx="14472562" cy="73917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6"/>
          <p:cNvSpPr txBox="1"/>
          <p:nvPr/>
        </p:nvSpPr>
        <p:spPr>
          <a:xfrm>
            <a:off x="1117434" y="2370385"/>
            <a:ext cx="13074816" cy="6945065"/>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Demo</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Create Beanstalk Application</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Test</a:t>
            </a:r>
            <a:endParaRPr/>
          </a:p>
          <a:p>
            <a:pPr indent="-261302" lvl="1" marL="1055687" marR="0" rtl="0" algn="l">
              <a:lnSpc>
                <a:spcPct val="100000"/>
              </a:lnSpc>
              <a:spcBef>
                <a:spcPts val="5900"/>
              </a:spcBef>
              <a:spcAft>
                <a:spcPts val="0"/>
              </a:spcAft>
              <a:buClr>
                <a:srgbClr val="000000"/>
              </a:buClr>
              <a:buSzPts val="5510"/>
              <a:buFont typeface="Courier New"/>
              <a:buNone/>
            </a:pPr>
            <a:r>
              <a:t/>
            </a:r>
            <a:endParaRPr b="0" i="0" sz="3800" u="none" cap="none" strike="noStrike">
              <a:solidFill>
                <a:srgbClr val="000000"/>
              </a:solidFill>
              <a:latin typeface="Times New Roman"/>
              <a:ea typeface="Times New Roman"/>
              <a:cs typeface="Times New Roman"/>
              <a:sym typeface="Times New Roman"/>
            </a:endParaRPr>
          </a:p>
        </p:txBody>
      </p:sp>
      <p:sp>
        <p:nvSpPr>
          <p:cNvPr id="72" name="Google Shape;72;p6"/>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7"/>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pic>
        <p:nvPicPr>
          <p:cNvPr id="78" name="Google Shape;78;p7"/>
          <p:cNvPicPr preferRelativeResize="0"/>
          <p:nvPr/>
        </p:nvPicPr>
        <p:blipFill rotWithShape="1">
          <a:blip r:embed="rId3">
            <a:alphaModFix/>
          </a:blip>
          <a:srcRect b="0" l="0" r="0" t="0"/>
          <a:stretch/>
        </p:blipFill>
        <p:spPr>
          <a:xfrm>
            <a:off x="485509" y="3141530"/>
            <a:ext cx="8267965" cy="2222079"/>
          </a:xfrm>
          <a:prstGeom prst="rect">
            <a:avLst/>
          </a:prstGeom>
          <a:noFill/>
          <a:ln>
            <a:noFill/>
          </a:ln>
        </p:spPr>
      </p:pic>
      <p:pic>
        <p:nvPicPr>
          <p:cNvPr id="79" name="Google Shape;79;p7"/>
          <p:cNvPicPr preferRelativeResize="0"/>
          <p:nvPr/>
        </p:nvPicPr>
        <p:blipFill rotWithShape="1">
          <a:blip r:embed="rId4">
            <a:alphaModFix/>
          </a:blip>
          <a:srcRect b="0" l="0" r="0" t="0"/>
          <a:stretch/>
        </p:blipFill>
        <p:spPr>
          <a:xfrm>
            <a:off x="641117" y="5573159"/>
            <a:ext cx="7956751" cy="7049630"/>
          </a:xfrm>
          <a:prstGeom prst="rect">
            <a:avLst/>
          </a:prstGeom>
          <a:noFill/>
          <a:ln>
            <a:noFill/>
          </a:ln>
        </p:spPr>
      </p:pic>
      <p:pic>
        <p:nvPicPr>
          <p:cNvPr id="80" name="Google Shape;80;p7"/>
          <p:cNvPicPr preferRelativeResize="0"/>
          <p:nvPr/>
        </p:nvPicPr>
        <p:blipFill rotWithShape="1">
          <a:blip r:embed="rId5">
            <a:alphaModFix/>
          </a:blip>
          <a:srcRect b="0" l="0" r="0" t="0"/>
          <a:stretch/>
        </p:blipFill>
        <p:spPr>
          <a:xfrm>
            <a:off x="11518677" y="3067826"/>
            <a:ext cx="10655524" cy="9442194"/>
          </a:xfrm>
          <a:prstGeom prst="rect">
            <a:avLst/>
          </a:prstGeom>
          <a:noFill/>
          <a:ln>
            <a:noFill/>
          </a:ln>
        </p:spPr>
      </p:pic>
      <p:sp>
        <p:nvSpPr>
          <p:cNvPr id="81" name="Google Shape;81;p7"/>
          <p:cNvSpPr txBox="1"/>
          <p:nvPr/>
        </p:nvSpPr>
        <p:spPr>
          <a:xfrm>
            <a:off x="1117434" y="2370385"/>
            <a:ext cx="7480434" cy="1001465"/>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Create Beanstalk Application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8"/>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pic>
        <p:nvPicPr>
          <p:cNvPr id="87" name="Google Shape;87;p8"/>
          <p:cNvPicPr preferRelativeResize="0"/>
          <p:nvPr/>
        </p:nvPicPr>
        <p:blipFill rotWithShape="1">
          <a:blip r:embed="rId3">
            <a:alphaModFix/>
          </a:blip>
          <a:srcRect b="0" l="0" r="0" t="0"/>
          <a:stretch/>
        </p:blipFill>
        <p:spPr>
          <a:xfrm>
            <a:off x="454423" y="3634684"/>
            <a:ext cx="10534798" cy="5585222"/>
          </a:xfrm>
          <a:prstGeom prst="rect">
            <a:avLst/>
          </a:prstGeom>
          <a:noFill/>
          <a:ln>
            <a:noFill/>
          </a:ln>
        </p:spPr>
      </p:pic>
      <p:sp>
        <p:nvSpPr>
          <p:cNvPr id="88" name="Google Shape;88;p8"/>
          <p:cNvSpPr/>
          <p:nvPr/>
        </p:nvSpPr>
        <p:spPr>
          <a:xfrm>
            <a:off x="190500" y="9327567"/>
            <a:ext cx="110626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AWS will automatically initialize the resource according to config</a:t>
            </a:r>
            <a:endParaRPr b="0" i="1" sz="3200" u="none" cap="none" strike="noStrike">
              <a:solidFill>
                <a:srgbClr val="000000"/>
              </a:solidFill>
              <a:latin typeface="Times New Roman"/>
              <a:ea typeface="Times New Roman"/>
              <a:cs typeface="Times New Roman"/>
              <a:sym typeface="Times New Roman"/>
            </a:endParaRPr>
          </a:p>
        </p:txBody>
      </p:sp>
      <p:pic>
        <p:nvPicPr>
          <p:cNvPr id="89" name="Google Shape;89;p8"/>
          <p:cNvPicPr preferRelativeResize="0"/>
          <p:nvPr/>
        </p:nvPicPr>
        <p:blipFill rotWithShape="1">
          <a:blip r:embed="rId4">
            <a:alphaModFix/>
          </a:blip>
          <a:srcRect b="0" l="0" r="0" t="0"/>
          <a:stretch/>
        </p:blipFill>
        <p:spPr>
          <a:xfrm>
            <a:off x="11328979" y="1768079"/>
            <a:ext cx="12807371" cy="1604088"/>
          </a:xfrm>
          <a:prstGeom prst="rect">
            <a:avLst/>
          </a:prstGeom>
          <a:noFill/>
          <a:ln>
            <a:noFill/>
          </a:ln>
        </p:spPr>
      </p:pic>
      <p:sp>
        <p:nvSpPr>
          <p:cNvPr id="90" name="Google Shape;90;p8"/>
          <p:cNvSpPr/>
          <p:nvPr/>
        </p:nvSpPr>
        <p:spPr>
          <a:xfrm>
            <a:off x="17275647" y="3438475"/>
            <a:ext cx="91403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EC2</a:t>
            </a:r>
            <a:endParaRPr b="0" i="1" sz="3200" u="none" cap="none" strike="noStrike">
              <a:solidFill>
                <a:srgbClr val="000000"/>
              </a:solidFill>
              <a:latin typeface="Times New Roman"/>
              <a:ea typeface="Times New Roman"/>
              <a:cs typeface="Times New Roman"/>
              <a:sym typeface="Times New Roman"/>
            </a:endParaRPr>
          </a:p>
        </p:txBody>
      </p:sp>
      <p:pic>
        <p:nvPicPr>
          <p:cNvPr id="91" name="Google Shape;91;p8"/>
          <p:cNvPicPr preferRelativeResize="0"/>
          <p:nvPr/>
        </p:nvPicPr>
        <p:blipFill rotWithShape="1">
          <a:blip r:embed="rId5">
            <a:alphaModFix/>
          </a:blip>
          <a:srcRect b="0" l="0" r="0" t="0"/>
          <a:stretch/>
        </p:blipFill>
        <p:spPr>
          <a:xfrm>
            <a:off x="11328979" y="4238464"/>
            <a:ext cx="12807371" cy="2188831"/>
          </a:xfrm>
          <a:prstGeom prst="rect">
            <a:avLst/>
          </a:prstGeom>
          <a:noFill/>
          <a:ln>
            <a:noFill/>
          </a:ln>
        </p:spPr>
      </p:pic>
      <p:sp>
        <p:nvSpPr>
          <p:cNvPr id="92" name="Google Shape;92;p8"/>
          <p:cNvSpPr/>
          <p:nvPr/>
        </p:nvSpPr>
        <p:spPr>
          <a:xfrm>
            <a:off x="16586356" y="6427295"/>
            <a:ext cx="229261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Auto Scaling</a:t>
            </a:r>
            <a:endParaRPr b="0" i="1" sz="3200" u="none" cap="none" strike="noStrike">
              <a:solidFill>
                <a:srgbClr val="000000"/>
              </a:solidFill>
              <a:latin typeface="Times New Roman"/>
              <a:ea typeface="Times New Roman"/>
              <a:cs typeface="Times New Roman"/>
              <a:sym typeface="Times New Roman"/>
            </a:endParaRPr>
          </a:p>
        </p:txBody>
      </p:sp>
      <p:pic>
        <p:nvPicPr>
          <p:cNvPr id="93" name="Google Shape;93;p8"/>
          <p:cNvPicPr preferRelativeResize="0"/>
          <p:nvPr/>
        </p:nvPicPr>
        <p:blipFill rotWithShape="1">
          <a:blip r:embed="rId6">
            <a:alphaModFix/>
          </a:blip>
          <a:srcRect b="0" l="0" r="0" t="0"/>
          <a:stretch/>
        </p:blipFill>
        <p:spPr>
          <a:xfrm>
            <a:off x="11973997" y="7293592"/>
            <a:ext cx="11517332" cy="1524213"/>
          </a:xfrm>
          <a:prstGeom prst="rect">
            <a:avLst/>
          </a:prstGeom>
          <a:noFill/>
          <a:ln>
            <a:noFill/>
          </a:ln>
        </p:spPr>
      </p:pic>
      <p:sp>
        <p:nvSpPr>
          <p:cNvPr id="94" name="Google Shape;94;p8"/>
          <p:cNvSpPr/>
          <p:nvPr/>
        </p:nvSpPr>
        <p:spPr>
          <a:xfrm>
            <a:off x="17276448" y="8918534"/>
            <a:ext cx="9124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ELB</a:t>
            </a:r>
            <a:endParaRPr b="0" i="1" sz="3200" u="none" cap="none" strike="noStrike">
              <a:solidFill>
                <a:srgbClr val="000000"/>
              </a:solidFill>
              <a:latin typeface="Times New Roman"/>
              <a:ea typeface="Times New Roman"/>
              <a:cs typeface="Times New Roman"/>
              <a:sym typeface="Times New Roman"/>
            </a:endParaRPr>
          </a:p>
        </p:txBody>
      </p:sp>
      <p:pic>
        <p:nvPicPr>
          <p:cNvPr id="95" name="Google Shape;95;p8"/>
          <p:cNvPicPr preferRelativeResize="0"/>
          <p:nvPr/>
        </p:nvPicPr>
        <p:blipFill rotWithShape="1">
          <a:blip r:embed="rId7">
            <a:alphaModFix/>
          </a:blip>
          <a:srcRect b="0" l="0" r="0" t="0"/>
          <a:stretch/>
        </p:blipFill>
        <p:spPr>
          <a:xfrm>
            <a:off x="11944350" y="9684102"/>
            <a:ext cx="11559528" cy="2458952"/>
          </a:xfrm>
          <a:prstGeom prst="rect">
            <a:avLst/>
          </a:prstGeom>
          <a:noFill/>
          <a:ln>
            <a:noFill/>
          </a:ln>
        </p:spPr>
      </p:pic>
      <p:sp>
        <p:nvSpPr>
          <p:cNvPr id="96" name="Google Shape;96;p8"/>
          <p:cNvSpPr/>
          <p:nvPr/>
        </p:nvSpPr>
        <p:spPr>
          <a:xfrm>
            <a:off x="16380374" y="12143054"/>
            <a:ext cx="270619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Security Group</a:t>
            </a:r>
            <a:endParaRPr b="0" i="1"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
        <p:nvSpPr>
          <p:cNvPr id="102" name="Google Shape;102;p9"/>
          <p:cNvSpPr txBox="1"/>
          <p:nvPr/>
        </p:nvSpPr>
        <p:spPr>
          <a:xfrm>
            <a:off x="1117434" y="2370385"/>
            <a:ext cx="7480434" cy="1001465"/>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Test</a:t>
            </a:r>
            <a:endParaRPr/>
          </a:p>
        </p:txBody>
      </p:sp>
      <p:pic>
        <p:nvPicPr>
          <p:cNvPr id="103" name="Google Shape;103;p9"/>
          <p:cNvPicPr preferRelativeResize="0"/>
          <p:nvPr/>
        </p:nvPicPr>
        <p:blipFill rotWithShape="1">
          <a:blip r:embed="rId3">
            <a:alphaModFix/>
          </a:blip>
          <a:srcRect b="0" l="0" r="0" t="0"/>
          <a:stretch/>
        </p:blipFill>
        <p:spPr>
          <a:xfrm>
            <a:off x="4908176" y="2491198"/>
            <a:ext cx="14072347" cy="4400550"/>
          </a:xfrm>
          <a:prstGeom prst="rect">
            <a:avLst/>
          </a:prstGeom>
          <a:noFill/>
          <a:ln>
            <a:noFill/>
          </a:ln>
        </p:spPr>
      </p:pic>
      <p:pic>
        <p:nvPicPr>
          <p:cNvPr id="104" name="Google Shape;104;p9"/>
          <p:cNvPicPr preferRelativeResize="0"/>
          <p:nvPr/>
        </p:nvPicPr>
        <p:blipFill rotWithShape="1">
          <a:blip r:embed="rId4">
            <a:alphaModFix/>
          </a:blip>
          <a:srcRect b="0" l="0" r="0" t="0"/>
          <a:stretch/>
        </p:blipFill>
        <p:spPr>
          <a:xfrm>
            <a:off x="6860784" y="7196548"/>
            <a:ext cx="10167132" cy="5148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0"/>
          <p:cNvSpPr txBox="1"/>
          <p:nvPr/>
        </p:nvSpPr>
        <p:spPr>
          <a:xfrm>
            <a:off x="1200150" y="571498"/>
            <a:ext cx="11372850"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Assignment</a:t>
            </a:r>
            <a:endParaRPr b="1" i="0" sz="6000" u="none" cap="none" strike="noStrike">
              <a:solidFill>
                <a:srgbClr val="4F81BD"/>
              </a:solidFill>
              <a:latin typeface="Times New Roman"/>
              <a:ea typeface="Times New Roman"/>
              <a:cs typeface="Times New Roman"/>
              <a:sym typeface="Times New Roman"/>
            </a:endParaRPr>
          </a:p>
        </p:txBody>
      </p:sp>
      <p:sp>
        <p:nvSpPr>
          <p:cNvPr id="110" name="Google Shape;110;p10"/>
          <p:cNvSpPr txBox="1"/>
          <p:nvPr/>
        </p:nvSpPr>
        <p:spPr>
          <a:xfrm>
            <a:off x="1371601" y="2370387"/>
            <a:ext cx="4743450" cy="1382463"/>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Self-practice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1"/>
          <p:cNvSpPr txBox="1"/>
          <p:nvPr/>
        </p:nvSpPr>
        <p:spPr>
          <a:xfrm>
            <a:off x="1117434" y="2370385"/>
            <a:ext cx="10064916" cy="4925765"/>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Components</a:t>
            </a:r>
            <a:endParaRPr b="0" i="0" sz="36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Application</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Environment</a:t>
            </a:r>
            <a:endParaRPr/>
          </a:p>
        </p:txBody>
      </p:sp>
      <p:sp>
        <p:nvSpPr>
          <p:cNvPr id="116" name="Google Shape;116;p11"/>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pic>
        <p:nvPicPr>
          <p:cNvPr id="117" name="Google Shape;117;p11"/>
          <p:cNvPicPr preferRelativeResize="0"/>
          <p:nvPr/>
        </p:nvPicPr>
        <p:blipFill rotWithShape="1">
          <a:blip r:embed="rId4">
            <a:alphaModFix/>
          </a:blip>
          <a:srcRect b="0" l="0" r="0" t="0"/>
          <a:stretch/>
        </p:blipFill>
        <p:spPr>
          <a:xfrm>
            <a:off x="6838950" y="2370385"/>
            <a:ext cx="17383148" cy="88080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2"/>
          <p:cNvSpPr txBox="1"/>
          <p:nvPr/>
        </p:nvSpPr>
        <p:spPr>
          <a:xfrm>
            <a:off x="1117434" y="2370385"/>
            <a:ext cx="21628266" cy="2354015"/>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075"/>
              <a:buFont typeface="Courier New"/>
              <a:buChar char="o"/>
            </a:pPr>
            <a:r>
              <a:rPr b="0" i="0" lang="en-US" sz="3500" u="none" cap="none" strike="noStrike">
                <a:solidFill>
                  <a:srgbClr val="000000"/>
                </a:solidFill>
                <a:latin typeface="Times New Roman"/>
                <a:ea typeface="Times New Roman"/>
                <a:cs typeface="Times New Roman"/>
                <a:sym typeface="Times New Roman"/>
              </a:rPr>
              <a:t>Application: </a:t>
            </a:r>
            <a:endParaRPr/>
          </a:p>
          <a:p>
            <a:pPr indent="-611187" lvl="2" marL="1500187" marR="0" rtl="0" algn="l">
              <a:lnSpc>
                <a:spcPct val="100000"/>
              </a:lnSpc>
              <a:spcBef>
                <a:spcPts val="5900"/>
              </a:spcBef>
              <a:spcAft>
                <a:spcPts val="0"/>
              </a:spcAft>
              <a:buClr>
                <a:srgbClr val="000000"/>
              </a:buClr>
              <a:buSzPts val="4350"/>
              <a:buFont typeface="Noto Sans Symbols"/>
              <a:buChar char="▪"/>
            </a:pPr>
            <a:r>
              <a:rPr b="0" i="0" lang="en-US" sz="3000" u="none" cap="none" strike="noStrike">
                <a:solidFill>
                  <a:srgbClr val="000000"/>
                </a:solidFill>
                <a:latin typeface="Times New Roman"/>
                <a:ea typeface="Times New Roman"/>
                <a:cs typeface="Times New Roman"/>
                <a:sym typeface="Times New Roman"/>
              </a:rPr>
              <a:t>Collection of Elastic Beanstalk components (environments, versions, configurations, …)</a:t>
            </a:r>
            <a:endParaRPr/>
          </a:p>
        </p:txBody>
      </p:sp>
      <p:sp>
        <p:nvSpPr>
          <p:cNvPr id="123" name="Google Shape;123;p12"/>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
        <p:nvSpPr>
          <p:cNvPr id="124" name="Google Shape;124;p12"/>
          <p:cNvSpPr/>
          <p:nvPr/>
        </p:nvSpPr>
        <p:spPr>
          <a:xfrm>
            <a:off x="3869629" y="10457382"/>
            <a:ext cx="230543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Environment</a:t>
            </a:r>
            <a:endParaRPr b="0" i="1" sz="3200" u="none" cap="none" strike="noStrike">
              <a:solidFill>
                <a:srgbClr val="000000"/>
              </a:solidFill>
              <a:latin typeface="Times New Roman"/>
              <a:ea typeface="Times New Roman"/>
              <a:cs typeface="Times New Roman"/>
              <a:sym typeface="Times New Roman"/>
            </a:endParaRPr>
          </a:p>
        </p:txBody>
      </p:sp>
      <p:pic>
        <p:nvPicPr>
          <p:cNvPr id="125" name="Google Shape;125;p12"/>
          <p:cNvPicPr preferRelativeResize="0"/>
          <p:nvPr/>
        </p:nvPicPr>
        <p:blipFill rotWithShape="1">
          <a:blip r:embed="rId3">
            <a:alphaModFix/>
          </a:blip>
          <a:srcRect b="0" l="0" r="0" t="0"/>
          <a:stretch/>
        </p:blipFill>
        <p:spPr>
          <a:xfrm>
            <a:off x="214893" y="4912923"/>
            <a:ext cx="9614907" cy="5538684"/>
          </a:xfrm>
          <a:prstGeom prst="rect">
            <a:avLst/>
          </a:prstGeom>
          <a:noFill/>
          <a:ln>
            <a:noFill/>
          </a:ln>
        </p:spPr>
      </p:pic>
      <p:pic>
        <p:nvPicPr>
          <p:cNvPr id="126" name="Google Shape;126;p12"/>
          <p:cNvPicPr preferRelativeResize="0"/>
          <p:nvPr/>
        </p:nvPicPr>
        <p:blipFill rotWithShape="1">
          <a:blip r:embed="rId4">
            <a:alphaModFix/>
          </a:blip>
          <a:srcRect b="0" l="0" r="0" t="0"/>
          <a:stretch/>
        </p:blipFill>
        <p:spPr>
          <a:xfrm>
            <a:off x="10141435" y="4912923"/>
            <a:ext cx="13981021" cy="5538684"/>
          </a:xfrm>
          <a:prstGeom prst="rect">
            <a:avLst/>
          </a:prstGeom>
          <a:noFill/>
          <a:ln>
            <a:noFill/>
          </a:ln>
        </p:spPr>
      </p:pic>
      <p:sp>
        <p:nvSpPr>
          <p:cNvPr id="127" name="Google Shape;127;p12"/>
          <p:cNvSpPr/>
          <p:nvPr/>
        </p:nvSpPr>
        <p:spPr>
          <a:xfrm>
            <a:off x="10516994" y="10457382"/>
            <a:ext cx="13229904"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Version</a:t>
            </a:r>
            <a:endParaRPr/>
          </a:p>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(When you upload a new version, AWS will automatically change the resource)</a:t>
            </a:r>
            <a:endParaRPr b="0" i="1"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txBox="1"/>
          <p:nvPr/>
        </p:nvSpPr>
        <p:spPr>
          <a:xfrm>
            <a:off x="1117434" y="2370385"/>
            <a:ext cx="21856866" cy="10221665"/>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Environment</a:t>
            </a:r>
            <a:endParaRPr b="0" i="0" sz="38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Collection of AWS resources running an application version (only one application version at a time)</a:t>
            </a:r>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You can create multiple environments (dev, test, prod, …)</a:t>
            </a:r>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Support versioning feature</a:t>
            </a:r>
            <a:endParaRPr b="0" i="0" sz="35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2 types: Web Server Environment, Worker Environment</a:t>
            </a:r>
            <a:endParaRPr/>
          </a:p>
          <a:p>
            <a:pPr indent="-611186" lvl="3" marL="1944686" marR="0" rtl="0" algn="l">
              <a:lnSpc>
                <a:spcPct val="100000"/>
              </a:lnSpc>
              <a:spcBef>
                <a:spcPts val="5900"/>
              </a:spcBef>
              <a:spcAft>
                <a:spcPts val="0"/>
              </a:spcAft>
              <a:buClr>
                <a:srgbClr val="000000"/>
              </a:buClr>
              <a:buSzPts val="4350"/>
              <a:buFont typeface="Arial"/>
              <a:buChar char="•"/>
            </a:pPr>
            <a:r>
              <a:rPr b="0" i="0" lang="en-US" sz="3000" u="none" cap="none" strike="noStrike">
                <a:solidFill>
                  <a:srgbClr val="000000"/>
                </a:solidFill>
                <a:latin typeface="Times New Roman"/>
                <a:ea typeface="Times New Roman"/>
                <a:cs typeface="Times New Roman"/>
                <a:sym typeface="Times New Roman"/>
              </a:rPr>
              <a:t>Web Server Environment: using for applications accessed through port 80, HTTP</a:t>
            </a:r>
            <a:endParaRPr/>
          </a:p>
          <a:p>
            <a:pPr indent="-611186" lvl="3" marL="1944686" marR="0" rtl="0" algn="l">
              <a:lnSpc>
                <a:spcPct val="100000"/>
              </a:lnSpc>
              <a:spcBef>
                <a:spcPts val="5900"/>
              </a:spcBef>
              <a:spcAft>
                <a:spcPts val="0"/>
              </a:spcAft>
              <a:buClr>
                <a:srgbClr val="000000"/>
              </a:buClr>
              <a:buSzPts val="4350"/>
              <a:buFont typeface="Arial"/>
              <a:buChar char="•"/>
            </a:pPr>
            <a:r>
              <a:rPr b="0" i="0" lang="en-US" sz="3000" u="none" cap="none" strike="noStrike">
                <a:solidFill>
                  <a:srgbClr val="000000"/>
                </a:solidFill>
                <a:latin typeface="Times New Roman"/>
                <a:ea typeface="Times New Roman"/>
                <a:cs typeface="Times New Roman"/>
                <a:sym typeface="Times New Roman"/>
              </a:rPr>
              <a:t>Worker Environment: using for applications running in the background, calling the application through SQS, when finished, will post messages to other applications via HTTP (Ex: email notification, generate report, clean up database, ...)</a:t>
            </a:r>
            <a:endParaRPr b="0" i="0" sz="3000" u="none" cap="none" strike="noStrike">
              <a:solidFill>
                <a:srgbClr val="000000"/>
              </a:solidFill>
              <a:latin typeface="Times New Roman"/>
              <a:ea typeface="Times New Roman"/>
              <a:cs typeface="Times New Roman"/>
              <a:sym typeface="Times New Roman"/>
            </a:endParaRPr>
          </a:p>
        </p:txBody>
      </p:sp>
      <p:sp>
        <p:nvSpPr>
          <p:cNvPr id="133" name="Google Shape;133;p13"/>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pic>
        <p:nvPicPr>
          <p:cNvPr id="139" name="Google Shape;139;p14"/>
          <p:cNvPicPr preferRelativeResize="0"/>
          <p:nvPr/>
        </p:nvPicPr>
        <p:blipFill rotWithShape="1">
          <a:blip r:embed="rId3">
            <a:alphaModFix/>
          </a:blip>
          <a:srcRect b="0" l="0" r="0" t="0"/>
          <a:stretch/>
        </p:blipFill>
        <p:spPr>
          <a:xfrm>
            <a:off x="813408" y="2542817"/>
            <a:ext cx="22871975" cy="83537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nvSpPr>
        <p:spPr>
          <a:xfrm>
            <a:off x="1117434" y="2370385"/>
            <a:ext cx="15341766" cy="10126415"/>
          </a:xfrm>
          <a:prstGeom prst="rect">
            <a:avLst/>
          </a:prstGeom>
          <a:noFill/>
          <a:ln>
            <a:noFill/>
          </a:ln>
        </p:spPr>
        <p:txBody>
          <a:bodyPr anchorCtr="0" anchor="t" bIns="45700" lIns="91425" spcFirstLastPara="1" rIns="91425" wrap="square" tIns="45700">
            <a:normAutofit/>
          </a:bodyPr>
          <a:lstStyle/>
          <a:p>
            <a:pPr indent="-611187" lvl="2" marL="1500187" marR="0" rtl="0" algn="l">
              <a:lnSpc>
                <a:spcPct val="100000"/>
              </a:lnSpc>
              <a:spcBef>
                <a:spcPts val="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Including</a:t>
            </a:r>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Platform (.NET, Java, Node.js, PHP, Python, Go, Docker, …)</a:t>
            </a:r>
            <a:endParaRPr b="0" i="0" sz="3000" u="none" cap="none" strike="noStrike">
              <a:solidFill>
                <a:srgbClr val="000000"/>
              </a:solidFill>
              <a:latin typeface="Times New Roman"/>
              <a:ea typeface="Times New Roman"/>
              <a:cs typeface="Times New Roman"/>
              <a:sym typeface="Times New Roman"/>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EC2 instance (Support High Availability, spot, on-demand instance), Security Group</a:t>
            </a:r>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VPC, Database</a:t>
            </a:r>
            <a:endParaRPr b="0" i="0" sz="3000" u="none" cap="none" strike="noStrike">
              <a:solidFill>
                <a:srgbClr val="000000"/>
              </a:solidFill>
              <a:latin typeface="Times New Roman"/>
              <a:ea typeface="Times New Roman"/>
              <a:cs typeface="Times New Roman"/>
              <a:sym typeface="Times New Roman"/>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Autoscaling, Load balancer, Checking EC2 Health, CloudWatch Alarm</a:t>
            </a:r>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Monitoring &amp; Log</a:t>
            </a:r>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Notification</a:t>
            </a:r>
            <a:endParaRPr b="0" i="0" sz="3000" u="none" cap="none" strike="noStrike">
              <a:solidFill>
                <a:srgbClr val="000000"/>
              </a:solidFill>
              <a:latin typeface="Times New Roman"/>
              <a:ea typeface="Times New Roman"/>
              <a:cs typeface="Times New Roman"/>
              <a:sym typeface="Times New Roman"/>
            </a:endParaRPr>
          </a:p>
          <a:p>
            <a:pPr indent="-611186" lvl="3" marL="1944686" marR="0" rtl="0" algn="l">
              <a:lnSpc>
                <a:spcPct val="100000"/>
              </a:lnSpc>
              <a:spcBef>
                <a:spcPts val="5900"/>
              </a:spcBef>
              <a:spcAft>
                <a:spcPts val="0"/>
              </a:spcAft>
              <a:buClr>
                <a:srgbClr val="000000"/>
              </a:buClr>
              <a:buSzPts val="4350"/>
              <a:buFont typeface="Courier New"/>
              <a:buChar char="o"/>
            </a:pPr>
            <a:r>
              <a:rPr b="0" i="0" lang="en-US" sz="3000" u="none" cap="none" strike="noStrike">
                <a:solidFill>
                  <a:srgbClr val="000000"/>
                </a:solidFill>
                <a:latin typeface="Times New Roman"/>
                <a:ea typeface="Times New Roman"/>
                <a:cs typeface="Times New Roman"/>
                <a:sym typeface="Times New Roman"/>
              </a:rPr>
              <a:t>Domain </a:t>
            </a:r>
            <a:endParaRPr/>
          </a:p>
        </p:txBody>
      </p:sp>
      <p:sp>
        <p:nvSpPr>
          <p:cNvPr id="145" name="Google Shape;145;p15"/>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pic>
        <p:nvPicPr>
          <p:cNvPr id="146" name="Google Shape;146;p15"/>
          <p:cNvPicPr preferRelativeResize="0"/>
          <p:nvPr/>
        </p:nvPicPr>
        <p:blipFill rotWithShape="1">
          <a:blip r:embed="rId3">
            <a:alphaModFix/>
          </a:blip>
          <a:srcRect b="0" l="0" r="0" t="0"/>
          <a:stretch/>
        </p:blipFill>
        <p:spPr>
          <a:xfrm>
            <a:off x="16706501" y="2370385"/>
            <a:ext cx="7458262" cy="34017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nvSpPr>
        <p:spPr>
          <a:xfrm>
            <a:off x="1117434" y="2370385"/>
            <a:ext cx="4121316" cy="1572965"/>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Deployment</a:t>
            </a:r>
            <a:endParaRPr b="0" i="0" sz="36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endParaRPr>
          </a:p>
        </p:txBody>
      </p:sp>
      <p:sp>
        <p:nvSpPr>
          <p:cNvPr id="152" name="Google Shape;152;p16"/>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Beanstalk</a:t>
            </a:r>
            <a:endParaRPr b="1" i="0" sz="6000" u="none" cap="none" strike="noStrike">
              <a:solidFill>
                <a:srgbClr val="4F81BD"/>
              </a:solidFill>
              <a:latin typeface="Times New Roman"/>
              <a:ea typeface="Times New Roman"/>
              <a:cs typeface="Times New Roman"/>
              <a:sym typeface="Times New Roman"/>
            </a:endParaRPr>
          </a:p>
        </p:txBody>
      </p:sp>
      <p:pic>
        <p:nvPicPr>
          <p:cNvPr id="153" name="Google Shape;153;p16"/>
          <p:cNvPicPr preferRelativeResize="0"/>
          <p:nvPr/>
        </p:nvPicPr>
        <p:blipFill rotWithShape="1">
          <a:blip r:embed="rId4">
            <a:alphaModFix/>
          </a:blip>
          <a:srcRect b="0" l="0" r="0" t="0"/>
          <a:stretch/>
        </p:blipFill>
        <p:spPr>
          <a:xfrm>
            <a:off x="5633837" y="4762231"/>
            <a:ext cx="3562691" cy="4781818"/>
          </a:xfrm>
          <a:prstGeom prst="rect">
            <a:avLst/>
          </a:prstGeom>
          <a:noFill/>
          <a:ln>
            <a:noFill/>
          </a:ln>
        </p:spPr>
      </p:pic>
      <p:pic>
        <p:nvPicPr>
          <p:cNvPr id="154" name="Google Shape;154;p16"/>
          <p:cNvPicPr preferRelativeResize="0"/>
          <p:nvPr/>
        </p:nvPicPr>
        <p:blipFill rotWithShape="1">
          <a:blip r:embed="rId5">
            <a:alphaModFix/>
          </a:blip>
          <a:srcRect b="0" l="0" r="0" t="0"/>
          <a:stretch/>
        </p:blipFill>
        <p:spPr>
          <a:xfrm>
            <a:off x="11581921" y="4095414"/>
            <a:ext cx="7783764" cy="5448635"/>
          </a:xfrm>
          <a:prstGeom prst="rect">
            <a:avLst/>
          </a:prstGeom>
          <a:noFill/>
          <a:ln>
            <a:noFill/>
          </a:ln>
        </p:spPr>
      </p:pic>
      <p:sp>
        <p:nvSpPr>
          <p:cNvPr id="155" name="Google Shape;155;p16"/>
          <p:cNvSpPr/>
          <p:nvPr/>
        </p:nvSpPr>
        <p:spPr>
          <a:xfrm>
            <a:off x="5982738" y="9499312"/>
            <a:ext cx="286488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Single Instances</a:t>
            </a:r>
            <a:endParaRPr/>
          </a:p>
        </p:txBody>
      </p:sp>
      <p:sp>
        <p:nvSpPr>
          <p:cNvPr id="156" name="Google Shape;156;p16"/>
          <p:cNvSpPr/>
          <p:nvPr/>
        </p:nvSpPr>
        <p:spPr>
          <a:xfrm>
            <a:off x="13962815" y="9544049"/>
            <a:ext cx="302198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High Availability</a:t>
            </a:r>
            <a:endParaRPr b="0" i="1"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nvSpPr>
        <p:spPr>
          <a:xfrm>
            <a:off x="1200150" y="571498"/>
            <a:ext cx="11372850"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Assignment</a:t>
            </a:r>
            <a:endParaRPr b="1" i="0" sz="6000" u="none" cap="none" strike="noStrike">
              <a:solidFill>
                <a:srgbClr val="4F81BD"/>
              </a:solidFill>
              <a:latin typeface="Times New Roman"/>
              <a:ea typeface="Times New Roman"/>
              <a:cs typeface="Times New Roman"/>
              <a:sym typeface="Times New Roman"/>
            </a:endParaRPr>
          </a:p>
        </p:txBody>
      </p:sp>
      <p:sp>
        <p:nvSpPr>
          <p:cNvPr id="162" name="Google Shape;162;p17"/>
          <p:cNvSpPr txBox="1"/>
          <p:nvPr/>
        </p:nvSpPr>
        <p:spPr>
          <a:xfrm>
            <a:off x="1371601" y="2370387"/>
            <a:ext cx="4743450" cy="1382463"/>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Self-practice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nvSpPr>
        <p:spPr>
          <a:xfrm>
            <a:off x="1117434" y="2370385"/>
            <a:ext cx="23266566" cy="8221415"/>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510"/>
              <a:buFont typeface="Noto Sans Symbols"/>
              <a:buChar char="⮚"/>
            </a:pPr>
            <a:r>
              <a:rPr b="0" i="0" lang="en-US" sz="3800" u="none" cap="none" strike="noStrike">
                <a:solidFill>
                  <a:srgbClr val="000000"/>
                </a:solidFill>
                <a:latin typeface="Times New Roman"/>
                <a:ea typeface="Times New Roman"/>
                <a:cs typeface="Times New Roman"/>
                <a:sym typeface="Times New Roman"/>
              </a:rPr>
              <a:t> </a:t>
            </a:r>
            <a:r>
              <a:rPr b="0" i="0" lang="en-US" sz="3600" u="none" cap="none" strike="noStrike">
                <a:solidFill>
                  <a:srgbClr val="000000"/>
                </a:solidFill>
                <a:latin typeface="Times New Roman"/>
                <a:ea typeface="Times New Roman"/>
                <a:cs typeface="Times New Roman"/>
                <a:sym typeface="Times New Roman"/>
              </a:rPr>
              <a:t> </a:t>
            </a:r>
            <a:r>
              <a:rPr b="0" i="0" lang="en-US" sz="3800" u="none" cap="none" strike="noStrike">
                <a:solidFill>
                  <a:srgbClr val="000000"/>
                </a:solidFill>
                <a:latin typeface="Times New Roman"/>
                <a:ea typeface="Times New Roman"/>
                <a:cs typeface="Times New Roman"/>
                <a:sym typeface="Times New Roman"/>
              </a:rPr>
              <a:t>Elastic Beanstalk is a developer centric view of deploying an application on AWS</a:t>
            </a:r>
            <a:endParaRPr/>
          </a:p>
          <a:p>
            <a:pPr indent="-428625" lvl="0" marL="428625" marR="0" rtl="0" algn="l">
              <a:lnSpc>
                <a:spcPct val="100000"/>
              </a:lnSpc>
              <a:spcBef>
                <a:spcPts val="5900"/>
              </a:spcBef>
              <a:spcAft>
                <a:spcPts val="0"/>
              </a:spcAft>
              <a:buClr>
                <a:srgbClr val="000000"/>
              </a:buClr>
              <a:buSzPts val="5510"/>
              <a:buFont typeface="Noto Sans Symbols"/>
              <a:buChar char="⮚"/>
            </a:pPr>
            <a:r>
              <a:rPr b="0" i="0" lang="en-US" sz="3800" u="none" cap="none" strike="noStrike">
                <a:solidFill>
                  <a:srgbClr val="000000"/>
                </a:solidFill>
                <a:latin typeface="Times New Roman"/>
                <a:ea typeface="Times New Roman"/>
                <a:cs typeface="Times New Roman"/>
                <a:sym typeface="Times New Roman"/>
              </a:rPr>
              <a:t> You just upload the application, then beanstalk will automatically setup EC2, Auto scaling ELB, capacity, health monitoring, security group, ... </a:t>
            </a:r>
            <a:endParaRPr b="0" i="0" sz="3800" u="none" cap="none" strike="noStrike">
              <a:solidFill>
                <a:srgbClr val="000000"/>
              </a:solidFill>
              <a:latin typeface="Times New Roman"/>
              <a:ea typeface="Times New Roman"/>
              <a:cs typeface="Times New Roman"/>
              <a:sym typeface="Times New Roman"/>
            </a:endParaRPr>
          </a:p>
          <a:p>
            <a:pPr indent="-428625" lvl="0" marL="428625" marR="0" rtl="0" algn="l">
              <a:lnSpc>
                <a:spcPct val="100000"/>
              </a:lnSpc>
              <a:spcBef>
                <a:spcPts val="5900"/>
              </a:spcBef>
              <a:spcAft>
                <a:spcPts val="0"/>
              </a:spcAft>
              <a:buClr>
                <a:srgbClr val="000000"/>
              </a:buClr>
              <a:buSzPts val="5510"/>
              <a:buFont typeface="Noto Sans Symbols"/>
              <a:buChar char="⮚"/>
            </a:pPr>
            <a:r>
              <a:rPr b="0" i="0" lang="en-US" sz="3800" u="none" cap="none" strike="noStrike">
                <a:solidFill>
                  <a:srgbClr val="000000"/>
                </a:solidFill>
                <a:latin typeface="Times New Roman"/>
                <a:ea typeface="Times New Roman"/>
                <a:cs typeface="Times New Roman"/>
                <a:sym typeface="Times New Roman"/>
              </a:rPr>
              <a:t> Components</a:t>
            </a:r>
            <a:endParaRPr/>
          </a:p>
          <a:p>
            <a:pPr indent="-611187" lvl="1" marL="1055687" marR="0" rtl="0" algn="l">
              <a:lnSpc>
                <a:spcPct val="100000"/>
              </a:lnSpc>
              <a:spcBef>
                <a:spcPts val="5900"/>
              </a:spcBef>
              <a:spcAft>
                <a:spcPts val="0"/>
              </a:spcAft>
              <a:buClr>
                <a:srgbClr val="000000"/>
              </a:buClr>
              <a:buSzPts val="5075"/>
              <a:buFont typeface="Courier New"/>
              <a:buChar char="o"/>
            </a:pPr>
            <a:r>
              <a:rPr b="0" i="0" lang="en-US" sz="3500" u="none" cap="none" strike="noStrike">
                <a:solidFill>
                  <a:srgbClr val="000000"/>
                </a:solidFill>
                <a:latin typeface="Times New Roman"/>
                <a:ea typeface="Times New Roman"/>
                <a:cs typeface="Times New Roman"/>
                <a:sym typeface="Times New Roman"/>
              </a:rPr>
              <a:t>Application: collection of Elastic Beanstalk components (environments, versions, configurations, …)</a:t>
            </a:r>
            <a:endParaRPr b="0" i="0" sz="3500" u="none" cap="none" strike="noStrike">
              <a:solidFill>
                <a:srgbClr val="000000"/>
              </a:solidFill>
              <a:latin typeface="Times New Roman"/>
              <a:ea typeface="Times New Roman"/>
              <a:cs typeface="Times New Roman"/>
              <a:sym typeface="Times New Roman"/>
            </a:endParaRPr>
          </a:p>
          <a:p>
            <a:pPr indent="-611187" lvl="1" marL="1055687" marR="0" rtl="0" algn="l">
              <a:lnSpc>
                <a:spcPct val="100000"/>
              </a:lnSpc>
              <a:spcBef>
                <a:spcPts val="5900"/>
              </a:spcBef>
              <a:spcAft>
                <a:spcPts val="0"/>
              </a:spcAft>
              <a:buClr>
                <a:srgbClr val="000000"/>
              </a:buClr>
              <a:buSzPts val="5075"/>
              <a:buFont typeface="Courier New"/>
              <a:buChar char="o"/>
            </a:pPr>
            <a:r>
              <a:rPr b="0" i="0" lang="en-US" sz="3500" u="none" cap="none" strike="noStrike">
                <a:solidFill>
                  <a:srgbClr val="000000"/>
                </a:solidFill>
                <a:latin typeface="Times New Roman"/>
                <a:ea typeface="Times New Roman"/>
                <a:cs typeface="Times New Roman"/>
                <a:sym typeface="Times New Roman"/>
              </a:rPr>
              <a:t>Environment: 2 types - Web Server Environment, Worker Environment</a:t>
            </a:r>
            <a:endParaRPr b="0" i="0" sz="3500" u="none" cap="none" strike="noStrike">
              <a:solidFill>
                <a:srgbClr val="000000"/>
              </a:solidFill>
              <a:latin typeface="Times New Roman"/>
              <a:ea typeface="Times New Roman"/>
              <a:cs typeface="Times New Roman"/>
              <a:sym typeface="Times New Roman"/>
            </a:endParaRPr>
          </a:p>
          <a:p>
            <a:pPr indent="-78740" lvl="0" marL="428625" marR="0" rtl="0" algn="l">
              <a:lnSpc>
                <a:spcPct val="100000"/>
              </a:lnSpc>
              <a:spcBef>
                <a:spcPts val="5900"/>
              </a:spcBef>
              <a:spcAft>
                <a:spcPts val="0"/>
              </a:spcAft>
              <a:buClr>
                <a:srgbClr val="000000"/>
              </a:buClr>
              <a:buSzPts val="5510"/>
              <a:buFont typeface="Noto Sans Symbols"/>
              <a:buNone/>
            </a:pPr>
            <a:r>
              <a:t/>
            </a:r>
            <a:endParaRPr b="0" i="0" sz="3800" u="none" cap="none" strike="noStrike">
              <a:solidFill>
                <a:srgbClr val="000000"/>
              </a:solidFill>
              <a:latin typeface="Times New Roman"/>
              <a:ea typeface="Times New Roman"/>
              <a:cs typeface="Times New Roman"/>
              <a:sym typeface="Times New Roman"/>
            </a:endParaRPr>
          </a:p>
        </p:txBody>
      </p:sp>
      <p:sp>
        <p:nvSpPr>
          <p:cNvPr id="168" name="Google Shape;168;p18"/>
          <p:cNvSpPr txBox="1"/>
          <p:nvPr/>
        </p:nvSpPr>
        <p:spPr>
          <a:xfrm>
            <a:off x="1200149" y="571498"/>
            <a:ext cx="10744201" cy="83820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Summary</a:t>
            </a:r>
            <a:endParaRPr b="1" i="0" sz="6000" u="none" cap="none" strike="noStrike">
              <a:solidFill>
                <a:srgbClr val="4F81BD"/>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19"/>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a:p>
        </p:txBody>
      </p:sp>
      <p:sp>
        <p:nvSpPr>
          <p:cNvPr id="175" name="Google Shape;175;p19"/>
          <p:cNvSpPr/>
          <p:nvPr/>
        </p:nvSpPr>
        <p:spPr>
          <a:xfrm>
            <a:off x="7195160" y="5450175"/>
            <a:ext cx="10095282"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517F"/>
              </a:buClr>
              <a:buSzPts val="8800"/>
              <a:buFont typeface="Times New Roman"/>
              <a:buNone/>
            </a:pPr>
            <a:r>
              <a:rPr b="0" i="0" lang="en-US" sz="8800" u="none" cap="none" strike="noStrike">
                <a:solidFill>
                  <a:srgbClr val="00517F"/>
                </a:solidFill>
                <a:latin typeface="Times New Roman"/>
                <a:ea typeface="Times New Roman"/>
                <a:cs typeface="Times New Roman"/>
                <a:sym typeface="Times New Roman"/>
              </a:rPr>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