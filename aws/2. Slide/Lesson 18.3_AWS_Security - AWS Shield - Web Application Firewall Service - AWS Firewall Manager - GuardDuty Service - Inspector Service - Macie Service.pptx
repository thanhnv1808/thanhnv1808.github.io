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hKzznLMUIq4XH8A/AN8uOgwyoD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2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2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2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3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3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3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3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3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3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3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3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3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4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4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4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44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45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45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5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45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45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6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46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46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46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42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ortswigger.net/web-security/sql-injection" TargetMode="External"/><Relationship Id="rId4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softwaretestinghelp.com/cross-site-scripting-xss-attack-test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paloaltonetworks.com/cyberpedia/what-is-a-denial-of-service-attack-dos" TargetMode="External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cloudflare.com/learning/ddos/http-flood-ddos-attack/" TargetMode="External"/><Relationship Id="rId4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ws.amazon.com/shield/pricing" TargetMode="External"/><Relationship Id="rId4" Type="http://schemas.openxmlformats.org/officeDocument/2006/relationships/image" Target="../media/image9.png"/><Relationship Id="rId5" Type="http://schemas.openxmlformats.org/officeDocument/2006/relationships/hyperlink" Target="https://docs.aws.amazon.com/waf/latest/developerguide/shield-chapter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youtube.com/watch?v=b1rOUehg4XA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ws.amazon.com/waf/pricing" TargetMode="External"/><Relationship Id="rId4" Type="http://schemas.openxmlformats.org/officeDocument/2006/relationships/hyperlink" Target="https://docs.aws.amazon.com/waf/latest/developerguide/what-is-aws-waf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youtube.com/watch?v=_M872LhrcD4" TargetMode="External"/><Relationship Id="rId4" Type="http://schemas.openxmlformats.org/officeDocument/2006/relationships/hyperlink" Target="https://www.youtube.com/watch?v=_M872LhrcD4" TargetMode="External"/><Relationship Id="rId5" Type="http://schemas.openxmlformats.org/officeDocument/2006/relationships/hyperlink" Target="https://www.youtube.com/watch?v=_M872LhrcD4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aws.amazon.com/firewall-manager/pricing" TargetMode="External"/><Relationship Id="rId4" Type="http://schemas.openxmlformats.org/officeDocument/2006/relationships/hyperlink" Target="https://docs.aws.amazon.com/waf/latest/developerguide/fms-chapter.html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youtube.com/watch?v=wocz0drq8-8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ocs.aws.amazon.com/guardduty/latest/ug/guardduty_finding-types-active.html" TargetMode="External"/><Relationship Id="rId4" Type="http://schemas.openxmlformats.org/officeDocument/2006/relationships/hyperlink" Target="https://aws.amazon.com/guardduty/pricing" TargetMode="External"/><Relationship Id="rId5" Type="http://schemas.openxmlformats.org/officeDocument/2006/relationships/hyperlink" Target="https://www.youtube.com/watch?v=o2YaIsps5LY" TargetMode="External"/><Relationship Id="rId6" Type="http://schemas.openxmlformats.org/officeDocument/2006/relationships/hyperlink" Target="https://docs.aws.amazon.com/guardduty/latest/ug/what-is-guardduty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aws.amazon.com/inspector/pricing" TargetMode="External"/><Relationship Id="rId4" Type="http://schemas.openxmlformats.org/officeDocument/2006/relationships/hyperlink" Target="https://docs.aws.amazon.com/inspector/latest/user/what-is-inspector.html" TargetMode="External"/><Relationship Id="rId5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youtube.com/watch?v=Nx8s7lwapoE" TargetMode="External"/><Relationship Id="rId4" Type="http://schemas.openxmlformats.org/officeDocument/2006/relationships/hyperlink" Target="https://www.youtube.com/watch?v=Nx8s7lwapoE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ocs.aws.amazon.com/macie/latest/user/what-is-macie.html" TargetMode="External"/><Relationship Id="rId4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aws.amazon.com/macie/pricing" TargetMode="External"/><Relationship Id="rId4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youtube.com/watch?v=8piwEQJJXdo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aws.amazon.com/compliance/shared-responsibility-model" TargetMode="External"/><Relationship Id="rId4" Type="http://schemas.openxmlformats.org/officeDocument/2006/relationships/image" Target="../media/image2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1845216" y="3116480"/>
            <a:ext cx="21746304" cy="97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Security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Shield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Web Application Firewall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Firewall Manager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GuardDuty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Inspector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Macie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Shared Responsibility Model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49" y="571498"/>
            <a:ext cx="8686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Security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117434" y="2268392"/>
            <a:ext cx="22352166" cy="8266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Web attacking types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Injection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XSS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Denial-of-Service (DoS) attack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Flood attack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49" y="571498"/>
            <a:ext cx="8686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Security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2283995" y="120312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https://portswigger.net/web-security/sql-injection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1117434" y="2268392"/>
            <a:ext cx="22199766" cy="4132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Injection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injection is a web security vulnerability that allows an attacker to interfere with the queries that an application makes to its 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generally allows an attacker to view data that they are not normally able to retrieve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" name="Google Shape;5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5562" y="6154360"/>
            <a:ext cx="11077575" cy="5876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/>
        </p:nvSpPr>
        <p:spPr>
          <a:xfrm>
            <a:off x="1200149" y="571498"/>
            <a:ext cx="8686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Security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2283995" y="120312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https://www.softwaretestinghelp.com/cross-site-scripting-xss-attack-test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1117434" y="2268392"/>
            <a:ext cx="16427616" cy="8228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Stands for cross-site scripting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Injection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malicious code injection, which will be executed in the victim’s browser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purpose of this attack is to steal the other user’s identity data  (cookies, session tokens, other information)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types: Reflected XSS, Stored XSS, DOM XSS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" name="Google Shape;6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01389" y="2268392"/>
            <a:ext cx="5519457" cy="6451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05207" y="9033167"/>
            <a:ext cx="11015639" cy="2670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/>
        </p:nvSpPr>
        <p:spPr>
          <a:xfrm>
            <a:off x="1200149" y="571498"/>
            <a:ext cx="8686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Security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2283995" y="120312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https://www.paloaltonetworks.com/cyberpedia/what-is-a-denial-of-service-attack-dos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1117434" y="2268392"/>
            <a:ext cx="13439750" cy="864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Denial-of-Service (DoS) attack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attack meant to shut down a machine or network, making it inaccessible to its intended users.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DoS attacks accomplish this by flooding the target with traffic, or sending it information that triggers a crash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Flooding attack: Buffer overflow attacks, ICMP flood, SYN flood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Crashing attack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6" name="Google Shape;7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45204" y="2268392"/>
            <a:ext cx="9672095" cy="5764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/>
          <p:nvPr/>
        </p:nvSpPr>
        <p:spPr>
          <a:xfrm>
            <a:off x="1200149" y="571498"/>
            <a:ext cx="8686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Security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2055395" y="11998668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https://www.cloudflare.com/learning/ddos/http-flood-ddos-attack/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1117434" y="2268392"/>
            <a:ext cx="14427366" cy="10495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Flood attack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HTTP flood attack is a type of volumetric distributed denial-of-service (DDoS) attack designed to overwhelm a targeted server with HTTP requests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the target has been saturated with requests and is unable to respond to normal traffic, denial-of-service will occur for additional requests from actual users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types: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GET attack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POST attack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35300" y="2268392"/>
            <a:ext cx="8349602" cy="526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/>
        </p:nvSpPr>
        <p:spPr>
          <a:xfrm>
            <a:off x="1200149" y="571498"/>
            <a:ext cx="8686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Security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8"/>
          <p:cNvSpPr txBox="1"/>
          <p:nvPr/>
        </p:nvSpPr>
        <p:spPr>
          <a:xfrm>
            <a:off x="1117434" y="2268392"/>
            <a:ext cx="9912516" cy="10095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Fix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NACL &amp; Security Group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Shield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Application Firewall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Firewall Manager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44570" y="2268392"/>
            <a:ext cx="12472729" cy="543607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/>
          <p:nvPr/>
        </p:nvSpPr>
        <p:spPr>
          <a:xfrm>
            <a:off x="15623745" y="7735934"/>
            <a:ext cx="45143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NACL &amp; Security Group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9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/>
        </p:nvSpPr>
        <p:spPr>
          <a:xfrm>
            <a:off x="1200149" y="571498"/>
            <a:ext cx="8686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Shield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0"/>
          <p:cNvSpPr txBox="1"/>
          <p:nvPr/>
        </p:nvSpPr>
        <p:spPr>
          <a:xfrm>
            <a:off x="1117434" y="2268392"/>
            <a:ext cx="17361066" cy="4170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Shield allows to prevent DDoS attacks on AWS resources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https://aws.amazon.com/shield/pricing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6774" y="4533900"/>
            <a:ext cx="19013298" cy="727852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0"/>
          <p:cNvSpPr/>
          <p:nvPr/>
        </p:nvSpPr>
        <p:spPr>
          <a:xfrm>
            <a:off x="3943348" y="11983878"/>
            <a:ext cx="1644015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https://docs.aws.amazon.com/waf/latest/developerguide/shield-chapter.html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/>
        </p:nvSpPr>
        <p:spPr>
          <a:xfrm>
            <a:off x="1200149" y="571498"/>
            <a:ext cx="8686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Shield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1"/>
          <p:cNvSpPr txBox="1"/>
          <p:nvPr/>
        </p:nvSpPr>
        <p:spPr>
          <a:xfrm>
            <a:off x="1117434" y="2268392"/>
            <a:ext cx="10788816" cy="9980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types: Shield Standard, Shield Advanced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Shield Standard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enabled in Cloudfront &amp; ELB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on layer 3,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1"/>
          <p:cNvSpPr txBox="1"/>
          <p:nvPr/>
        </p:nvSpPr>
        <p:spPr>
          <a:xfrm>
            <a:off x="12401550" y="2496992"/>
            <a:ext cx="11963400" cy="9752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62441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Noto Sans"/>
              <a:buNone/>
            </a:pPr>
            <a:r>
              <a:t/>
            </a:r>
            <a:endParaRPr b="0" i="0" sz="4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279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Courier New"/>
              <a:buChar char="o"/>
            </a:pPr>
            <a:r>
              <a:rPr b="0" i="0" lang="en-US" sz="4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Shield Advanced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Noto Sans"/>
              <a:buChar char="▪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protection for EC2, ELB, CloudFront, Global Accelerator, Route 53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Noto Sans"/>
              <a:buChar char="▪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on layer 3, 4,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Noto Sans"/>
              <a:buChar char="▪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 against higher fees during usage spikes due to DDoS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Noto Sans"/>
              <a:buChar char="▪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Noto Sans"/>
              <a:buChar char="▪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24/7 when attacked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Noto Sans"/>
              <a:buChar char="▪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$3,000 per month per organization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/>
        </p:nvSpPr>
        <p:spPr>
          <a:xfrm>
            <a:off x="1200149" y="571498"/>
            <a:ext cx="86868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Shield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1117434" y="2268392"/>
            <a:ext cx="12770016" cy="2627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https://www.youtube.com/watch?v=b1rOUehg4XA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Application Firewall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1117434" y="2268392"/>
            <a:ext cx="23037966" cy="6970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WAF is a service that allows to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 common web exploits (Layer 7) on AWS resources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 HTTP &amp; HTTPS requests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Allow/block users to access the Application based on IP Address, country, query string, ...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https://aws.amazon.com/waf/pricing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3943348" y="11983878"/>
            <a:ext cx="1644015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https://docs.aws.amazon.com/waf/latest/developerguide/what-is-aws-waf.html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Application Firewall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0972" y="1437046"/>
            <a:ext cx="16163928" cy="11186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Application Firewall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1117434" y="2268392"/>
            <a:ext cx="19837566" cy="7542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Define Web ACLs (web access control lists)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Resource: attach to CloudFront, API Gateway, ALB, EC2,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Country, IP addresses, HTTP headers, HTTP body, Query string, Request count,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 / Block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types: Managed rule groups, Custom rule groups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1774" y="2268392"/>
            <a:ext cx="4580952" cy="6085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Application Firewall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117434" y="2268392"/>
            <a:ext cx="17018166" cy="6894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https://www.youtube.com/watch?v=_-OHHAbw7c0</a:t>
            </a:r>
            <a:endParaRPr b="0" i="0" sz="38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https://www.youtube.com/watch?v=_M872LhrcD4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Application Firewall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1117434" y="2268392"/>
            <a:ext cx="6883566" cy="1065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Blocking an IP address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073" y="4819492"/>
            <a:ext cx="8160435" cy="5105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8532" y="5289340"/>
            <a:ext cx="13686931" cy="463571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/>
          <p:nvPr/>
        </p:nvSpPr>
        <p:spPr>
          <a:xfrm>
            <a:off x="10704454" y="9944100"/>
            <a:ext cx="244169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NACL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Application Firewall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423931" y="9129906"/>
            <a:ext cx="53030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NACL + WAF for ELB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49" y="4748154"/>
            <a:ext cx="9750618" cy="4243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71906" y="4748154"/>
            <a:ext cx="11256387" cy="4248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15304866" y="9129905"/>
            <a:ext cx="499046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WAF for CloudFront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Firewall Manager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1117434" y="2268392"/>
            <a:ext cx="23037966" cy="9085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AFM allows to manage Firewall Rules, Shield Advanced, VPC Security Groups in all accounts of an AWS Organization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member accounts of the Organization to use Shield Advanced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 Security Group Rule for all member accounts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types: Firewall Rules, Shield Advanced, VPC Security Groups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https://aws.amazon.com/firewall-manager/pricing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3943348" y="11983878"/>
            <a:ext cx="1644015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https://docs.aws.amazon.com/waf/latest/developerguide/fms-chapter.html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/>
        </p:nvSpPr>
        <p:spPr>
          <a:xfrm>
            <a:off x="1117434" y="2268392"/>
            <a:ext cx="12770016" cy="2627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https://www.youtube.com/watch?v=wocz0drq8-8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Firewall Manager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1117434" y="2268392"/>
            <a:ext cx="19951866" cy="6304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GuardDuty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Inspector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Macie Service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GuardDuty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>
            <a:off x="1117434" y="2268392"/>
            <a:ext cx="19951866" cy="6304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Intelligent Threat discovery to Protect AWS Account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Machine Learning algorithms, anomaly detection, 3rd party data based-on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Logs: unusual API calls, unauthorized deployments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VPC Flow Logs: unusual internal traffic, unusual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DNS Logs: compromised EC2 instances sending encoded data within DNS queries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3943348" y="12041028"/>
            <a:ext cx="1644015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setup CloudWatch Event to be notified in case of findings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9487" y="8439150"/>
            <a:ext cx="13097896" cy="3544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GuardDuty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1117434" y="2268392"/>
            <a:ext cx="23037966" cy="9390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setup CloudWatch Event to be notified in case of findings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Finding types: EC2, IAM, S3, Kubernetes (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Reference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30 days trial,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https://aws.amazon.com/guardduty/pricing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https://www.youtube.com/watch?v=o2YaIsps5LY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3943348" y="11983878"/>
            <a:ext cx="1644015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https://docs.aws.amazon.com/guardduty/latest/ug/what-is-guardduty.html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7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Inspector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1117434" y="2382692"/>
            <a:ext cx="15779916" cy="9866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automated vulnerability management service that continually scans on EC2 instances and images (ECR)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workloads for software vulnerabilities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Unintended network exposure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a issue is discovered, Inspector creates a finding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Issue types: Package vulnerability (Software), Network reachability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Including the vulnerability, identifies the affected resource, rates the severity of the vulnerability, provides remediation guidance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63832" y="2382692"/>
            <a:ext cx="3893017" cy="606491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/>
          <p:nvPr/>
        </p:nvSpPr>
        <p:spPr>
          <a:xfrm>
            <a:off x="17143996" y="8567260"/>
            <a:ext cx="633268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Inspector Agent must be installed on OS in EC2 instances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Inspector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1117434" y="2268392"/>
            <a:ext cx="14789316" cy="5103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Possibility to send notifications to SNS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Finding types: EC2 instances, images (ECR)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multi-account with Organization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15 days trial,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https://aws.amazon.com/inspector/pricing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29"/>
          <p:cNvSpPr/>
          <p:nvPr/>
        </p:nvSpPr>
        <p:spPr>
          <a:xfrm>
            <a:off x="3943348" y="12041028"/>
            <a:ext cx="1644015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https://docs.aws.amazon.com/inspector/latest/user/what-is-inspector.html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7" name="Google Shape;23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1587" y="7130952"/>
            <a:ext cx="12163671" cy="4820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Inspector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30"/>
          <p:cNvSpPr txBox="1"/>
          <p:nvPr/>
        </p:nvSpPr>
        <p:spPr>
          <a:xfrm>
            <a:off x="1117434" y="2268392"/>
            <a:ext cx="14236866" cy="5199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https://www.youtube.com/watch?v=RLBE4Tv7OJE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https://www.youtube.com/watch?v=Nx8s7lwapoE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Macie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2"/>
          <p:cNvSpPr txBox="1"/>
          <p:nvPr/>
        </p:nvSpPr>
        <p:spPr>
          <a:xfrm>
            <a:off x="1117434" y="2382692"/>
            <a:ext cx="23266566" cy="9866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fully managed data security and data privacy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machine learning and pattern matching to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Discover and protect your sensitive data in S3 at scale (Ex: personally identifiable information)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 to sensitive data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32"/>
          <p:cNvSpPr/>
          <p:nvPr/>
        </p:nvSpPr>
        <p:spPr>
          <a:xfrm>
            <a:off x="4632602" y="11956762"/>
            <a:ext cx="1426945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https://docs.aws.amazon.com/macie/latest/user/what-is-macie.html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7" name="Google Shape;25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5463" y="8011465"/>
            <a:ext cx="15283732" cy="3424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Macie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33"/>
          <p:cNvSpPr txBox="1"/>
          <p:nvPr/>
        </p:nvSpPr>
        <p:spPr>
          <a:xfrm>
            <a:off x="1117434" y="2382692"/>
            <a:ext cx="21685416" cy="9866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Providing: unencrypted buckets, publicly buckets, buckets shared with AWS accounts outside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220"/>
              <a:buFont typeface="Noto Sans"/>
              <a:buChar char="⮚"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setup CloudWatch Event to be notified in case of findings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multi-account with Organization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30 days trial,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https://aws.amazon.com/macie/pricing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28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4" name="Google Shape;26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1294" y="8105351"/>
            <a:ext cx="13624310" cy="3657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Macie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34"/>
          <p:cNvSpPr txBox="1"/>
          <p:nvPr/>
        </p:nvSpPr>
        <p:spPr>
          <a:xfrm>
            <a:off x="1117434" y="2382692"/>
            <a:ext cx="12998616" cy="283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0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https://www.youtube.com/watch?v=8piwEQJJXdo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Shared Responsibility Model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36"/>
          <p:cNvSpPr txBox="1"/>
          <p:nvPr/>
        </p:nvSpPr>
        <p:spPr>
          <a:xfrm>
            <a:off x="1117434" y="2382692"/>
            <a:ext cx="23266566" cy="10342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responsibility - Security of the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Protecting infrastructure (hardware, software, facilities, and networking) that runs all the AWS 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Managed services like S3, DynamoDB, RDS, ...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Customer responsibility - Security in the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EC2 instance, customer is responsible for management of the guest OS (including security patches and updates), firewall &amp; network configuration, IAM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Encrypting application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Shared controls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Patch Management, Configuration Management, Awareness &amp; Training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Shared Responsibility Model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37"/>
          <p:cNvSpPr/>
          <p:nvPr/>
        </p:nvSpPr>
        <p:spPr>
          <a:xfrm>
            <a:off x="6431015" y="11201400"/>
            <a:ext cx="110193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https://aws.amazon.com/compliance/shared-responsibility-model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d1.awsstatic.com/security-center/Shared_Responsibility_Model_V2.59d1eccec334b366627e9295b304202faf7b899b.jpg" id="289" name="Google Shape;28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2065" y="2130425"/>
            <a:ext cx="16557262" cy="907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Shared Responsibility Model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38"/>
          <p:cNvSpPr txBox="1"/>
          <p:nvPr/>
        </p:nvSpPr>
        <p:spPr>
          <a:xfrm>
            <a:off x="1200159" y="2098622"/>
            <a:ext cx="14598900" cy="1036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1002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 1: 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84944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responsibility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8701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the underlying EC2 instance, disable SSH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8701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DB patching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8701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OS patching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8701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Audit the underlying instance and disks &amp; guarantee it 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84944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Your responsibility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8701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the ports / IP / security group inbound rules in DB’s SG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/>
        </p:nvSpPr>
        <p:spPr>
          <a:xfrm>
            <a:off x="1200149" y="571498"/>
            <a:ext cx="124587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Shared Responsibility Model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1117434" y="2382692"/>
            <a:ext cx="18046866" cy="5637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In-database user creation and permissions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a database with or without public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parameter groups or DB is configured to only allow SSL connections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encryption setting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/>
          <p:cNvSpPr txBox="1"/>
          <p:nvPr/>
        </p:nvSpPr>
        <p:spPr>
          <a:xfrm>
            <a:off x="1200149" y="571498"/>
            <a:ext cx="124587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Shared Responsibility Model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40"/>
          <p:cNvSpPr txBox="1"/>
          <p:nvPr/>
        </p:nvSpPr>
        <p:spPr>
          <a:xfrm>
            <a:off x="1200159" y="2177642"/>
            <a:ext cx="18808800" cy="10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1002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 2: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84944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responsibility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8701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Guarantee you get unlimited 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8701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Guarantee you get encryption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8701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separation of the data between different customers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8701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AWS employees can’t access your data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84944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Your responsibility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8701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Bucket configuration, Bucket policy / public setting, IAM user and roles, Enabling encryption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1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