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13716000" cx="24384000"/>
  <p:notesSz cx="6797675" cy="9929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  <p:ext uri="GoogleSlidesCustomDataVersion2">
      <go:slidesCustomData xmlns:go="http://customooxmlschemas.google.com/" r:id="rId23" roundtripDataSignature="AMtx7mhXdgl2Vc2RMFf5Ct2dysJEIYbO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320" orient="horz"/>
        <p:guide pos="76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" name="Google Shape;29;p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3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6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6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7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8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8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9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9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0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0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3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3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4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4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5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5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6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6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7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2" name="Google Shape;142;p17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fld id="{00000000-1234-1234-1234-123412341234}" type="slidenum"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8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1017132" y="859479"/>
            <a:ext cx="2950192" cy="1131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1_Title and Conten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Google Shape;13;p20"/>
          <p:cNvCxnSpPr/>
          <p:nvPr/>
        </p:nvCxnSpPr>
        <p:spPr>
          <a:xfrm>
            <a:off x="482600" y="1412390"/>
            <a:ext cx="21521992" cy="0"/>
          </a:xfrm>
          <a:prstGeom prst="straightConnector1">
            <a:avLst/>
          </a:prstGeom>
          <a:noFill/>
          <a:ln cap="flat" cmpd="sng" w="19050">
            <a:solidFill>
              <a:srgbClr val="3C5A9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" name="Google Shape;14;p20"/>
          <p:cNvSpPr/>
          <p:nvPr/>
        </p:nvSpPr>
        <p:spPr>
          <a:xfrm>
            <a:off x="0" y="12670972"/>
            <a:ext cx="24384000" cy="1045028"/>
          </a:xfrm>
          <a:prstGeom prst="rect">
            <a:avLst/>
          </a:prstGeom>
          <a:solidFill>
            <a:srgbClr val="3C5A99"/>
          </a:solidFill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t/>
            </a:r>
            <a:endParaRPr b="1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20"/>
          <p:cNvSpPr/>
          <p:nvPr/>
        </p:nvSpPr>
        <p:spPr>
          <a:xfrm>
            <a:off x="6781639" y="12854932"/>
            <a:ext cx="10458958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50" spcFirstLastPara="1" rIns="18285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None/>
            </a:pPr>
            <a:r>
              <a:rPr b="1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Copyright </a:t>
            </a:r>
            <a:r>
              <a:rPr b="1" i="1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© </a:t>
            </a:r>
            <a:r>
              <a:rPr b="1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VTI Academy All Right Reserved </a:t>
            </a:r>
            <a:endParaRPr b="1" i="0" sz="3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Google Shape;16;p20"/>
          <p:cNvCxnSpPr/>
          <p:nvPr/>
        </p:nvCxnSpPr>
        <p:spPr>
          <a:xfrm>
            <a:off x="14610736" y="1412390"/>
            <a:ext cx="7393856" cy="0"/>
          </a:xfrm>
          <a:prstGeom prst="straightConnector1">
            <a:avLst/>
          </a:prstGeom>
          <a:noFill/>
          <a:ln cap="flat" cmpd="sng" w="1905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" name="Google Shape;17;p20"/>
          <p:cNvCxnSpPr/>
          <p:nvPr/>
        </p:nvCxnSpPr>
        <p:spPr>
          <a:xfrm>
            <a:off x="0" y="12670972"/>
            <a:ext cx="24384000" cy="0"/>
          </a:xfrm>
          <a:prstGeom prst="straightConnector1">
            <a:avLst/>
          </a:prstGeom>
          <a:noFill/>
          <a:ln cap="flat" cmpd="sng" w="1905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A picture containing drawing&#10;&#10;Description automatically generated" id="18" name="Google Shape;18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9252276" y="-25180"/>
            <a:ext cx="5131724" cy="1437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1"/>
          <p:cNvSpPr txBox="1"/>
          <p:nvPr>
            <p:ph type="title"/>
          </p:nvPr>
        </p:nvSpPr>
        <p:spPr>
          <a:xfrm>
            <a:off x="1845217" y="357188"/>
            <a:ext cx="18701658" cy="1710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Meiryo"/>
              <a:buNone/>
              <a:defRPr sz="8200">
                <a:latin typeface="Meiryo"/>
                <a:ea typeface="Meiryo"/>
                <a:cs typeface="Meiryo"/>
                <a:sym typeface="Meiry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1" name="Google Shape;21;p21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2" name="Google Shape;22;p21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3" name="Google Shape;23;p21"/>
          <p:cNvSpPr txBox="1"/>
          <p:nvPr>
            <p:ph idx="12" type="sldNum"/>
          </p:nvPr>
        </p:nvSpPr>
        <p:spPr>
          <a:xfrm>
            <a:off x="11962817" y="13073062"/>
            <a:ext cx="448840" cy="482823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4" name="Google Shape;24;p21"/>
          <p:cNvCxnSpPr/>
          <p:nvPr/>
        </p:nvCxnSpPr>
        <p:spPr>
          <a:xfrm>
            <a:off x="1845217" y="1893677"/>
            <a:ext cx="18701658" cy="0"/>
          </a:xfrm>
          <a:prstGeom prst="straightConnector1">
            <a:avLst/>
          </a:prstGeom>
          <a:noFill/>
          <a:ln cap="rnd" cmpd="sng" w="38100">
            <a:solidFill>
              <a:srgbClr val="057BBA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 close up of a sign&#10;&#10;Description automatically generated" id="25" name="Google Shape;25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12883" y="427995"/>
            <a:ext cx="2645634" cy="16395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Only">
  <p:cSld name="2_Title 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4387453" y="3643312"/>
            <a:ext cx="15609094" cy="8840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indent="-633730" lvl="0" marL="457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633730" lvl="1" marL="914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633730" lvl="2" marL="1371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633730" lvl="3" marL="1828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633729" lvl="4" marL="2286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633729" lvl="5" marL="2743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633729" lvl="6" marL="3200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633729" lvl="7" marL="3657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633729" lvl="8" marL="4114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2" type="sldNum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hyperlink" Target="mailto:duy.nguyenngoc1@vti.com.vn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ocs.aws.amazon.com/dms/latest/userguide/Welcome.html" TargetMode="External"/><Relationship Id="rId4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aws.amazon.com/dms/pricing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youtube.com/watch?v=vr5xpJi1EEU" TargetMode="External"/><Relationship Id="rId4" Type="http://schemas.openxmlformats.org/officeDocument/2006/relationships/hyperlink" Target="https://www.youtube.com/watch?v=ncBG_fVCOQc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2.png"/><Relationship Id="rId5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drawing&#10;&#10;Description automatically generated" id="31" name="Google Shape;3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3650" y="1753558"/>
            <a:ext cx="5103775" cy="1429741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1"/>
          <p:cNvSpPr/>
          <p:nvPr/>
        </p:nvSpPr>
        <p:spPr>
          <a:xfrm>
            <a:off x="1795790" y="3025157"/>
            <a:ext cx="5636029" cy="569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3100"/>
              <a:buFont typeface="Times New Roman"/>
              <a:buNone/>
            </a:pPr>
            <a:r>
              <a:rPr b="1" i="0" lang="en-US" sz="31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WAY TO ENTERPRISE</a:t>
            </a:r>
            <a:endParaRPr/>
          </a:p>
        </p:txBody>
      </p:sp>
      <p:sp>
        <p:nvSpPr>
          <p:cNvPr id="33" name="Google Shape;33;p1"/>
          <p:cNvSpPr txBox="1"/>
          <p:nvPr/>
        </p:nvSpPr>
        <p:spPr>
          <a:xfrm>
            <a:off x="1215678" y="4549070"/>
            <a:ext cx="22486370" cy="1317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4400"/>
              <a:buFont typeface="Times New Roman"/>
              <a:buNone/>
            </a:pPr>
            <a:r>
              <a:rPr b="0" i="0" lang="en-US" sz="10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</a:t>
            </a:r>
            <a:endParaRPr b="0" i="0" sz="10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" name="Google Shape;34;p1"/>
          <p:cNvSpPr txBox="1"/>
          <p:nvPr/>
        </p:nvSpPr>
        <p:spPr>
          <a:xfrm>
            <a:off x="1795790" y="8295495"/>
            <a:ext cx="11871552" cy="2841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rPr b="1" i="0" lang="en-US" sz="5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VTI ACADEMY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rPr b="1" i="0" lang="en-US" sz="5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Author: </a:t>
            </a:r>
            <a:r>
              <a:rPr b="1" i="0" lang="en-US" sz="5000" u="sng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duy.nguyenngoc1@vti.com.vn</a:t>
            </a:r>
            <a:endParaRPr b="1" i="0" sz="5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t/>
            </a:r>
            <a:endParaRPr b="1" i="0" sz="5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/>
          <p:cNvSpPr txBox="1"/>
          <p:nvPr/>
        </p:nvSpPr>
        <p:spPr>
          <a:xfrm>
            <a:off x="1200149" y="571498"/>
            <a:ext cx="10999872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 Migration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" name="Google Shape;40;p2"/>
          <p:cNvSpPr txBox="1"/>
          <p:nvPr/>
        </p:nvSpPr>
        <p:spPr>
          <a:xfrm>
            <a:off x="1117434" y="2370386"/>
            <a:ext cx="17957644" cy="7271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 service that allows to migrate data stores together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Support AWS resources: S3, RDS, DynamoDB, Data Warehouse, ElastiCache, …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Support cloud &amp; cloud, On-premises &amp; Cloud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Not support On-premises &amp; On-premises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Replicate On-premise &amp; AWS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611229" y="12089898"/>
            <a:ext cx="2058703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Tutorial: </a:t>
            </a: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https://docs.aws.amazon.com/dms/latest/userguide/Welcome.html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2" name="Google Shape;42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571621" y="4660704"/>
            <a:ext cx="10635917" cy="47743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"/>
          <p:cNvSpPr txBox="1"/>
          <p:nvPr/>
        </p:nvSpPr>
        <p:spPr>
          <a:xfrm>
            <a:off x="1117434" y="2370385"/>
            <a:ext cx="22801346" cy="95047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Database type may be different type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Homogenous (same type)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Heterogeneous (different types)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You can migrate tables, views, indexes, triggers, ...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Migration is done, you can't use it right away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Regional service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Price: </a:t>
            </a:r>
            <a:r>
              <a:rPr b="0" i="0" lang="en-US" sz="40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https://aws.amazon.com/dms/pricing</a:t>
            </a: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endParaRPr/>
          </a:p>
        </p:txBody>
      </p:sp>
      <p:sp>
        <p:nvSpPr>
          <p:cNvPr id="48" name="Google Shape;48;p3"/>
          <p:cNvSpPr txBox="1"/>
          <p:nvPr/>
        </p:nvSpPr>
        <p:spPr>
          <a:xfrm>
            <a:off x="1200149" y="571498"/>
            <a:ext cx="10999872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 Migration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"/>
          <p:cNvSpPr txBox="1"/>
          <p:nvPr/>
        </p:nvSpPr>
        <p:spPr>
          <a:xfrm>
            <a:off x="1117433" y="2370385"/>
            <a:ext cx="15353799" cy="6857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Flow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DMS connect to data store source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Replication Instance read data &amp; format data by data store target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Load data to target data store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Using transaction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03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None/>
            </a:pPr>
            <a:r>
              <a:t/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4" name="Google Shape;5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24862" y="8415006"/>
            <a:ext cx="10852916" cy="3965488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4"/>
          <p:cNvSpPr txBox="1"/>
          <p:nvPr/>
        </p:nvSpPr>
        <p:spPr>
          <a:xfrm>
            <a:off x="1200149" y="571498"/>
            <a:ext cx="10999872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 Migration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"/>
          <p:cNvSpPr txBox="1"/>
          <p:nvPr/>
        </p:nvSpPr>
        <p:spPr>
          <a:xfrm>
            <a:off x="1117434" y="2370386"/>
            <a:ext cx="22237866" cy="7726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Demo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220"/>
              <a:buFont typeface="Courier New"/>
              <a:buChar char="o"/>
            </a:pPr>
            <a:r>
              <a:rPr b="0" i="0" lang="en-US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 on EC2 &amp; RDS: </a:t>
            </a:r>
            <a:r>
              <a:rPr b="0" i="0" lang="en-US" sz="38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https://www.youtube.com/watch?v=vr5xpJi1EEU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RDS &amp; S3: </a:t>
            </a:r>
            <a:r>
              <a:rPr b="0" i="0" lang="en-US" sz="38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https://www.youtube.com/watch?v=ncBG_fVCOQc</a:t>
            </a: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61" name="Google Shape;61;p5"/>
          <p:cNvSpPr txBox="1"/>
          <p:nvPr/>
        </p:nvSpPr>
        <p:spPr>
          <a:xfrm>
            <a:off x="1200149" y="571498"/>
            <a:ext cx="10999872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 Migration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Assignment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" name="Google Shape;67;p6"/>
          <p:cNvSpPr txBox="1"/>
          <p:nvPr/>
        </p:nvSpPr>
        <p:spPr>
          <a:xfrm>
            <a:off x="1371601" y="2370387"/>
            <a:ext cx="4743450" cy="1382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Self-practice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7"/>
          <p:cNvSpPr txBox="1"/>
          <p:nvPr/>
        </p:nvSpPr>
        <p:spPr>
          <a:xfrm>
            <a:off x="1117434" y="2370386"/>
            <a:ext cx="22237866" cy="7726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Components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Replication instance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 &amp; Target endpoint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Replication task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 Schema Conversion Tool (AWS SCT)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3" name="Google Shape;7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94104" y="2370386"/>
            <a:ext cx="10852916" cy="3965488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7"/>
          <p:cNvSpPr txBox="1"/>
          <p:nvPr/>
        </p:nvSpPr>
        <p:spPr>
          <a:xfrm>
            <a:off x="1200149" y="571498"/>
            <a:ext cx="10999872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 Migration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8"/>
          <p:cNvSpPr txBox="1"/>
          <p:nvPr/>
        </p:nvSpPr>
        <p:spPr>
          <a:xfrm>
            <a:off x="1117434" y="2370386"/>
            <a:ext cx="22237866" cy="7138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Replication instance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an EC2 Instance performing replication tasks, relevant software installed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Config: 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Instance type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VPC, Subnet, Zone &amp; Security Group &amp; ACL</a:t>
            </a:r>
            <a:endParaRPr/>
          </a:p>
          <a:p>
            <a:pPr indent="0" lvl="4" marL="1778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625"/>
              <a:buFont typeface="Times New Roman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Instances can connect to each other via VPC, VPN, Direct Connect, VPC Peering</a:t>
            </a:r>
            <a:endParaRPr b="0" i="0" sz="2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1301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None/>
            </a:pPr>
            <a:r>
              <a:t/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0" name="Google Shape;8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819" y="9509299"/>
            <a:ext cx="5244044" cy="2981492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44909" y="9870662"/>
            <a:ext cx="8583309" cy="2258766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280847" y="9870662"/>
            <a:ext cx="8390441" cy="2280694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8"/>
          <p:cNvSpPr/>
          <p:nvPr/>
        </p:nvSpPr>
        <p:spPr>
          <a:xfrm>
            <a:off x="2336116" y="12151356"/>
            <a:ext cx="102944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VPC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" name="Google Shape;84;p8"/>
          <p:cNvSpPr/>
          <p:nvPr/>
        </p:nvSpPr>
        <p:spPr>
          <a:xfrm>
            <a:off x="9099102" y="12129428"/>
            <a:ext cx="255550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VPC Peering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8"/>
          <p:cNvSpPr/>
          <p:nvPr/>
        </p:nvSpPr>
        <p:spPr>
          <a:xfrm>
            <a:off x="17218879" y="11868579"/>
            <a:ext cx="451437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VPN /Direct Connection</a:t>
            </a:r>
            <a:endParaRPr/>
          </a:p>
        </p:txBody>
      </p:sp>
      <p:sp>
        <p:nvSpPr>
          <p:cNvPr id="86" name="Google Shape;86;p8"/>
          <p:cNvSpPr txBox="1"/>
          <p:nvPr/>
        </p:nvSpPr>
        <p:spPr>
          <a:xfrm>
            <a:off x="1200149" y="571498"/>
            <a:ext cx="10999872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 Migration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44741" y="3140242"/>
            <a:ext cx="9468947" cy="2493224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9"/>
          <p:cNvSpPr txBox="1"/>
          <p:nvPr/>
        </p:nvSpPr>
        <p:spPr>
          <a:xfrm>
            <a:off x="1117434" y="2370386"/>
            <a:ext cx="13669377" cy="769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4" marL="1778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25"/>
              <a:buFont typeface="Times New Roman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You can grant Public IP/NAT Gateway for instances to connect via the internet</a:t>
            </a:r>
            <a:endParaRPr b="0" i="0" sz="2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1301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None/>
            </a:pPr>
            <a:r>
              <a:t/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9"/>
          <p:cNvSpPr txBox="1"/>
          <p:nvPr/>
        </p:nvSpPr>
        <p:spPr>
          <a:xfrm>
            <a:off x="1117434" y="5703137"/>
            <a:ext cx="8916903" cy="2887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6" lvl="3" marL="194468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 A-Z &amp; Auto failover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Maintenance</a:t>
            </a:r>
            <a:endParaRPr/>
          </a:p>
        </p:txBody>
      </p:sp>
      <p:sp>
        <p:nvSpPr>
          <p:cNvPr id="94" name="Google Shape;94;p9"/>
          <p:cNvSpPr txBox="1"/>
          <p:nvPr/>
        </p:nvSpPr>
        <p:spPr>
          <a:xfrm>
            <a:off x="1200149" y="571498"/>
            <a:ext cx="10999872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 Migration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0"/>
          <p:cNvSpPr txBox="1"/>
          <p:nvPr/>
        </p:nvSpPr>
        <p:spPr>
          <a:xfrm>
            <a:off x="1117434" y="2370386"/>
            <a:ext cx="22237866" cy="103108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 &amp; Target endpoint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connection to data store source &amp; target 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endpoint will connect to a data store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 Database run on on-premises or AWS 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Config: 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 engine type: RDS, DynamoDB, S3, …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Target engine type: RDS, DynamoDB, S3, Redshift, ElastiCache, Neptune, …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Credential: Servername, Port, Database Name, Username, password / IAM Role</a:t>
            </a:r>
            <a:endParaRPr/>
          </a:p>
        </p:txBody>
      </p:sp>
      <p:sp>
        <p:nvSpPr>
          <p:cNvPr id="100" name="Google Shape;100;p10"/>
          <p:cNvSpPr txBox="1"/>
          <p:nvPr/>
        </p:nvSpPr>
        <p:spPr>
          <a:xfrm>
            <a:off x="1200149" y="571498"/>
            <a:ext cx="10999872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 Migration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1"/>
          <p:cNvSpPr txBox="1"/>
          <p:nvPr/>
        </p:nvSpPr>
        <p:spPr>
          <a:xfrm>
            <a:off x="1117434" y="2370386"/>
            <a:ext cx="11082587" cy="96557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Replication task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task to migrate data between 2 data stores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Config: 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Replication instance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Source/Target Endpoint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Migration type</a:t>
            </a:r>
            <a:endParaRPr/>
          </a:p>
          <a:p>
            <a:pPr indent="-611186" lvl="4" marL="2389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Migrate existing data (Full Load)</a:t>
            </a:r>
            <a:endParaRPr/>
          </a:p>
          <a:p>
            <a:pPr indent="0" lvl="4" marL="1778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625"/>
              <a:buFont typeface="Times New Roman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Migrate all existing data</a:t>
            </a:r>
            <a:endParaRPr/>
          </a:p>
        </p:txBody>
      </p:sp>
      <p:pic>
        <p:nvPicPr>
          <p:cNvPr id="106" name="Google Shape;10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52282" y="2512456"/>
            <a:ext cx="10058400" cy="577253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1"/>
          <p:cNvSpPr txBox="1"/>
          <p:nvPr/>
        </p:nvSpPr>
        <p:spPr>
          <a:xfrm>
            <a:off x="1200149" y="571498"/>
            <a:ext cx="10999872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 Migration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2"/>
          <p:cNvSpPr txBox="1"/>
          <p:nvPr/>
        </p:nvSpPr>
        <p:spPr>
          <a:xfrm>
            <a:off x="1117434" y="2370386"/>
            <a:ext cx="23475113" cy="10130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6" lvl="4" marL="23891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Migrate existing data and replicate ongoing change – cache change (Capturing changes during migration, full-load-and-cdc)</a:t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4" marL="1778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625"/>
              <a:buFont typeface="Times New Roman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Migrate data + while migrating, the source database still has changed data</a:t>
            </a:r>
            <a:endParaRPr b="0" i="0" sz="2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6" lvl="4" marL="2389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Replicate data changes only (Capturing changes during migration)</a:t>
            </a:r>
            <a:endParaRPr/>
          </a:p>
          <a:p>
            <a:pPr indent="0" lvl="4" marL="1778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625"/>
              <a:buFont typeface="Times New Roman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Migrate only the parts of the source Database that change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 validate after migration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 SNS, CloudWatch Log, …</a:t>
            </a:r>
            <a:endParaRPr/>
          </a:p>
          <a:p>
            <a:pPr indent="0" lvl="4" marL="1778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625"/>
              <a:buFont typeface="Times New Roman"/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3" name="Google Shape;11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111663" y="4211217"/>
            <a:ext cx="9059496" cy="5245604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2"/>
          <p:cNvSpPr txBox="1"/>
          <p:nvPr/>
        </p:nvSpPr>
        <p:spPr>
          <a:xfrm>
            <a:off x="1200149" y="571498"/>
            <a:ext cx="10999872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 Migration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3"/>
          <p:cNvSpPr txBox="1"/>
          <p:nvPr/>
        </p:nvSpPr>
        <p:spPr>
          <a:xfrm>
            <a:off x="1117434" y="2370386"/>
            <a:ext cx="18131265" cy="47248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 Schema Conversion Tool (AWS SCT)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DMS only supports basic commands such as create table, rename, ... insert into, update, ...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SCT using for migrating schema, procedure, function between different data stores</a:t>
            </a:r>
            <a:endParaRPr/>
          </a:p>
          <a:p>
            <a:pPr indent="0" lvl="2" marL="889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625"/>
              <a:buFont typeface="Times New Roman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Example: schema from RDS to data warehouse</a:t>
            </a:r>
            <a:endParaRPr/>
          </a:p>
          <a:p>
            <a:pPr indent="-261301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None/>
            </a:pPr>
            <a:r>
              <a:t/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" name="Google Shape;120;p13"/>
          <p:cNvSpPr txBox="1"/>
          <p:nvPr/>
        </p:nvSpPr>
        <p:spPr>
          <a:xfrm>
            <a:off x="1200149" y="571498"/>
            <a:ext cx="10999872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 Migration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1" name="Google Shape;12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74239" y="6857999"/>
            <a:ext cx="12641439" cy="57062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4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Assignment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" name="Google Shape;127;p14"/>
          <p:cNvSpPr txBox="1"/>
          <p:nvPr/>
        </p:nvSpPr>
        <p:spPr>
          <a:xfrm>
            <a:off x="1371601" y="2370387"/>
            <a:ext cx="4743450" cy="1382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Self-practice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5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Summary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Google Shape;133;p15"/>
          <p:cNvSpPr txBox="1"/>
          <p:nvPr/>
        </p:nvSpPr>
        <p:spPr>
          <a:xfrm>
            <a:off x="1371600" y="2370387"/>
            <a:ext cx="22631399" cy="98536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DMS is a service that allows to migrate data stores together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Support cloud &amp; cloud, On-premises &amp; Cloud, Not support On-premises &amp; On-premises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Database type may be different type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You can migrate tables, views, indexes, triggers, ... 🡺 Using AWS Schema Conversion Tool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Source engine type: RDS, DynamoDB, S3, …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Target engine type: RDS, DynamoDB, S3, Redshift, ElastiCache, Neptune, …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6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Summary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16"/>
          <p:cNvSpPr txBox="1"/>
          <p:nvPr/>
        </p:nvSpPr>
        <p:spPr>
          <a:xfrm>
            <a:off x="1371601" y="2370387"/>
            <a:ext cx="11649918" cy="57897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Migration type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Migrate existing data (Full Load)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Migrate existing data and replicate ongoing change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Replicate data changes only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7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eiryo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Copyright </a:t>
            </a:r>
            <a:r>
              <a:rPr b="0" i="1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© </a:t>
            </a:r>
            <a:r>
              <a:rPr b="0" i="0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VTI Academy All Rights Reserved </a:t>
            </a:r>
            <a:endParaRPr/>
          </a:p>
        </p:txBody>
      </p:sp>
      <p:sp>
        <p:nvSpPr>
          <p:cNvPr id="146" name="Google Shape;146;p17"/>
          <p:cNvSpPr/>
          <p:nvPr/>
        </p:nvSpPr>
        <p:spPr>
          <a:xfrm>
            <a:off x="7195160" y="5450175"/>
            <a:ext cx="10095282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17F"/>
              </a:buClr>
              <a:buSzPts val="8800"/>
              <a:buFont typeface="Times New Roman"/>
              <a:buNone/>
            </a:pPr>
            <a:r>
              <a:rPr b="0" i="0" lang="en-US" sz="8800" u="none" cap="none" strike="noStrike">
                <a:solidFill>
                  <a:srgbClr val="0051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 &amp; 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Nguyen Anh Quan (VTI.GA)</dc:creator>
</cp:coreProperties>
</file>