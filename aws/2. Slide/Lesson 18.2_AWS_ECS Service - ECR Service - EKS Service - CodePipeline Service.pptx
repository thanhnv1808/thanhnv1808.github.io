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13716000" cx="24384000"/>
  <p:notesSz cx="6797675" cy="9929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  <p:ext uri="GoogleSlidesCustomDataVersion2">
      <go:slidesCustomData xmlns:go="http://customooxmlschemas.google.com/" r:id="rId37" roundtripDataSignature="AMtx7mjojkIvRiER48yF3rhjNZQxu/Q4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320" orient="horz"/>
        <p:guide pos="76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customschemas.google.com/relationships/presentationmetadata" Target="metadata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" name="Google Shape;33;p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" name="Google Shape;41;p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8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9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9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0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8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8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9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9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0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0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8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8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9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9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0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30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5" name="Google Shape;265;p3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fld id="{00000000-1234-1234-1234-123412341234}" type="slidenum"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017132" y="859479"/>
            <a:ext cx="2950192" cy="1131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ell phone&#10;&#10;Description automatically generated" id="13" name="Google Shape;13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4"/>
          <p:cNvSpPr txBox="1"/>
          <p:nvPr>
            <p:ph type="title"/>
          </p:nvPr>
        </p:nvSpPr>
        <p:spPr>
          <a:xfrm>
            <a:off x="1845217" y="357188"/>
            <a:ext cx="15794390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Meiryo"/>
              <a:buNone/>
              <a:defRPr sz="8200">
                <a:latin typeface="Meiryo"/>
                <a:ea typeface="Meiryo"/>
                <a:cs typeface="Meiryo"/>
                <a:sym typeface="Meiry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5" name="Google Shape;15;p34"/>
          <p:cNvSpPr txBox="1"/>
          <p:nvPr>
            <p:ph idx="12" type="sldNum"/>
          </p:nvPr>
        </p:nvSpPr>
        <p:spPr>
          <a:xfrm>
            <a:off x="8820083" y="13156977"/>
            <a:ext cx="6743833" cy="482823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</a:t>
            </a:r>
            <a:r>
              <a:rPr i="1" lang="en-US"/>
              <a:t>© </a:t>
            </a:r>
            <a:r>
              <a:rPr lang="en-US"/>
              <a:t>VTI Academy All Right Reserved 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1_Title and Conten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5"/>
          <p:cNvCxnSpPr/>
          <p:nvPr/>
        </p:nvCxnSpPr>
        <p:spPr>
          <a:xfrm>
            <a:off x="482600" y="1412390"/>
            <a:ext cx="21521992" cy="0"/>
          </a:xfrm>
          <a:prstGeom prst="straightConnector1">
            <a:avLst/>
          </a:prstGeom>
          <a:noFill/>
          <a:ln cap="flat" cmpd="sng" w="19050">
            <a:solidFill>
              <a:srgbClr val="3C5A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" name="Google Shape;18;p35"/>
          <p:cNvSpPr/>
          <p:nvPr/>
        </p:nvSpPr>
        <p:spPr>
          <a:xfrm>
            <a:off x="0" y="12670972"/>
            <a:ext cx="24384000" cy="1045028"/>
          </a:xfrm>
          <a:prstGeom prst="rect">
            <a:avLst/>
          </a:prstGeom>
          <a:solidFill>
            <a:srgbClr val="3C5A99"/>
          </a:solidFill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t/>
            </a:r>
            <a:endParaRPr b="1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5"/>
          <p:cNvSpPr/>
          <p:nvPr/>
        </p:nvSpPr>
        <p:spPr>
          <a:xfrm>
            <a:off x="6781639" y="12854932"/>
            <a:ext cx="10458958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Copyright </a:t>
            </a:r>
            <a:r>
              <a:rPr b="1" i="1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© </a:t>
            </a: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 All Right Reserved </a:t>
            </a:r>
            <a:endParaRPr b="1" i="0" sz="3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0" name="Google Shape;20;p35"/>
          <p:cNvCxnSpPr/>
          <p:nvPr/>
        </p:nvCxnSpPr>
        <p:spPr>
          <a:xfrm>
            <a:off x="14610736" y="1412390"/>
            <a:ext cx="7393856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" name="Google Shape;21;p35"/>
          <p:cNvCxnSpPr/>
          <p:nvPr/>
        </p:nvCxnSpPr>
        <p:spPr>
          <a:xfrm>
            <a:off x="0" y="12670972"/>
            <a:ext cx="24384000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A picture containing drawing&#10;&#10;Description automatically generated" id="22" name="Google Shape;22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252276" y="-25180"/>
            <a:ext cx="5131724" cy="1437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6"/>
          <p:cNvSpPr txBox="1"/>
          <p:nvPr>
            <p:ph type="title"/>
          </p:nvPr>
        </p:nvSpPr>
        <p:spPr>
          <a:xfrm>
            <a:off x="1845217" y="357188"/>
            <a:ext cx="18701658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Meiryo"/>
              <a:buNone/>
              <a:defRPr sz="8200">
                <a:latin typeface="Meiryo"/>
                <a:ea typeface="Meiryo"/>
                <a:cs typeface="Meiryo"/>
                <a:sym typeface="Meiry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5" name="Google Shape;25;p36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6" name="Google Shape;26;p36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7" name="Google Shape;27;p36"/>
          <p:cNvSpPr txBox="1"/>
          <p:nvPr>
            <p:ph idx="12" type="sldNum"/>
          </p:nvPr>
        </p:nvSpPr>
        <p:spPr>
          <a:xfrm>
            <a:off x="11962817" y="13073062"/>
            <a:ext cx="448840" cy="482823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8" name="Google Shape;28;p36"/>
          <p:cNvCxnSpPr/>
          <p:nvPr/>
        </p:nvCxnSpPr>
        <p:spPr>
          <a:xfrm>
            <a:off x="1845217" y="1893677"/>
            <a:ext cx="18701658" cy="0"/>
          </a:xfrm>
          <a:prstGeom prst="straightConnector1">
            <a:avLst/>
          </a:prstGeom>
          <a:noFill/>
          <a:ln cap="rnd" cmpd="sng" w="38100">
            <a:solidFill>
              <a:srgbClr val="057BBA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close up of a sign&#10;&#10;Description automatically generated" id="29" name="Google Shape;29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12883" y="427995"/>
            <a:ext cx="2645634" cy="1639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Only">
  <p:cSld name="2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2"/>
          <p:cNvSpPr txBox="1"/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" name="Google Shape;7;p32"/>
          <p:cNvSpPr txBox="1"/>
          <p:nvPr>
            <p:ph idx="1" type="body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indent="-633730" lvl="0" marL="457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633730" lvl="1" marL="914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633730" lvl="2" marL="1371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633730" lvl="3" marL="1828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633729" lvl="4" marL="2286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633729" lvl="5" marL="2743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633729" lvl="6" marL="3200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633729" lvl="7" marL="3657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633729" lvl="8" marL="4114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p32"/>
          <p:cNvSpPr txBox="1"/>
          <p:nvPr>
            <p:ph idx="12" type="sldNum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hyperlink" Target="mailto:duy.nguyenngoc1@vti.com.vn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ocs.aws.amazon.com/AmazonECS/latest/developerguide/Welcome.html" TargetMode="External"/><Relationship Id="rId4" Type="http://schemas.openxmlformats.org/officeDocument/2006/relationships/image" Target="../media/image23.png"/><Relationship Id="rId5" Type="http://schemas.openxmlformats.org/officeDocument/2006/relationships/hyperlink" Target="https://aws.amazon.com/ecs/pricing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youtube.com/watch?v=kfrb5_6Pe_Y" TargetMode="External"/><Relationship Id="rId4" Type="http://schemas.openxmlformats.org/officeDocument/2006/relationships/hyperlink" Target="https://www.youtube.com/watch?v=oyWOkGPgaM0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youtube.com/watch?v=kfrb5_6Pe_Y" TargetMode="External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Relationship Id="rId4" Type="http://schemas.openxmlformats.org/officeDocument/2006/relationships/hyperlink" Target="https://docs.aws.amazon.com/AmazonECS/latest/developerguide/create-task-definition.html#task-definition-template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Relationship Id="rId4" Type="http://schemas.openxmlformats.org/officeDocument/2006/relationships/image" Target="../media/image3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Relationship Id="rId4" Type="http://schemas.openxmlformats.org/officeDocument/2006/relationships/image" Target="../media/image2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8.png"/><Relationship Id="rId4" Type="http://schemas.openxmlformats.org/officeDocument/2006/relationships/image" Target="../media/image3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www.youtube.com/watch?v=kfrb5_6Pe_Y" TargetMode="External"/><Relationship Id="rId4" Type="http://schemas.openxmlformats.org/officeDocument/2006/relationships/image" Target="../media/image32.png"/><Relationship Id="rId5" Type="http://schemas.openxmlformats.org/officeDocument/2006/relationships/hyperlink" Target="https://www.youtube.com/watch?v=lvrdESP8Ffs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docs.aws.amazon.com/eks/latest/userguide/getting-started.html" TargetMode="External"/><Relationship Id="rId4" Type="http://schemas.openxmlformats.org/officeDocument/2006/relationships/image" Target="../media/image2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aws.amazon.com/eks/pricing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www.youtube.com/watch?v=kfrb5_6Pe_Y" TargetMode="External"/><Relationship Id="rId4" Type="http://schemas.openxmlformats.org/officeDocument/2006/relationships/hyperlink" Target="https://www.youtube.com/watch?v=O4h69KMm2tE" TargetMode="External"/><Relationship Id="rId5" Type="http://schemas.openxmlformats.org/officeDocument/2006/relationships/image" Target="../media/image1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docs.aws.amazon.com/codepipeline/latest/userguide/welcome.html" TargetMode="External"/><Relationship Id="rId4" Type="http://schemas.openxmlformats.org/officeDocument/2006/relationships/hyperlink" Target="https://aws.amazon.com/codepipeline/pricing" TargetMode="External"/><Relationship Id="rId5" Type="http://schemas.openxmlformats.org/officeDocument/2006/relationships/image" Target="../media/image2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www.youtube.com/watch?v=kfrb5_6Pe_Y" TargetMode="External"/><Relationship Id="rId4" Type="http://schemas.openxmlformats.org/officeDocument/2006/relationships/hyperlink" Target="https://www.youtube.com/watch?v=KCcoQ7GBra8" TargetMode="External"/><Relationship Id="rId5" Type="http://schemas.openxmlformats.org/officeDocument/2006/relationships/hyperlink" Target="https://www.youtube.com/watch?v=NCXzTgjUOQo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drawing&#10;&#10;Description automatically generated" id="35" name="Google Shape;3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3650" y="1753558"/>
            <a:ext cx="5103775" cy="1429741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"/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100"/>
              <a:buFont typeface="Times New Roman"/>
              <a:buNone/>
            </a:pPr>
            <a:r>
              <a:rPr b="1" i="0" lang="en-US" sz="31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WAY TO ENTERPRISE</a:t>
            </a:r>
            <a:endParaRPr/>
          </a:p>
        </p:txBody>
      </p:sp>
      <p:sp>
        <p:nvSpPr>
          <p:cNvPr id="37" name="Google Shape;37;p1"/>
          <p:cNvSpPr txBox="1"/>
          <p:nvPr/>
        </p:nvSpPr>
        <p:spPr>
          <a:xfrm>
            <a:off x="1215678" y="4549070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4400"/>
              <a:buFont typeface="Times New Roman"/>
              <a:buNone/>
            </a:pPr>
            <a:r>
              <a:rPr b="0" i="0" lang="en-US" sz="10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</a:t>
            </a:r>
            <a:endParaRPr b="0" i="0" sz="10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" name="Google Shape;38;p1"/>
          <p:cNvSpPr txBox="1"/>
          <p:nvPr/>
        </p:nvSpPr>
        <p:spPr>
          <a:xfrm>
            <a:off x="1795790" y="8295495"/>
            <a:ext cx="11871552" cy="2841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Author: </a:t>
            </a:r>
            <a:r>
              <a:rPr b="1" i="0" lang="en-US" sz="5000" u="sng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duy.nguyenngoc1@vti.com.vn</a:t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t/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"/>
          <p:cNvSpPr txBox="1"/>
          <p:nvPr>
            <p:ph type="title"/>
          </p:nvPr>
        </p:nvSpPr>
        <p:spPr>
          <a:xfrm>
            <a:off x="1845217" y="357188"/>
            <a:ext cx="15794390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8200"/>
              <a:buFont typeface="Calibri"/>
              <a:buNone/>
            </a:pPr>
            <a:r>
              <a:rPr lang="en-US">
                <a:solidFill>
                  <a:srgbClr val="0079BF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Copyright </a:t>
            </a:r>
            <a:r>
              <a:rPr b="0" i="1" lang="en-US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© </a:t>
            </a:r>
            <a:r>
              <a:rPr b="0" i="0" lang="en-US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VTI Academy All Rights Reserved </a:t>
            </a:r>
            <a:endParaRPr/>
          </a:p>
        </p:txBody>
      </p:sp>
      <p:sp>
        <p:nvSpPr>
          <p:cNvPr id="45" name="Google Shape;45;p2"/>
          <p:cNvSpPr txBox="1"/>
          <p:nvPr/>
        </p:nvSpPr>
        <p:spPr>
          <a:xfrm>
            <a:off x="1845216" y="3116480"/>
            <a:ext cx="21746304" cy="97177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Elastic Container Service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Elastic Container Registry Service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Elastic Kubernetes Service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CodePipeline Service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Elastic Container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2283995" y="12031242"/>
            <a:ext cx="1932071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Tutorial: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https://docs.aws.amazon.com/AmazonECS/latest/developerguide/Welcome.html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2" name="Google Shape;5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433656" y="5467350"/>
            <a:ext cx="11950344" cy="656389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3"/>
          <p:cNvSpPr txBox="1"/>
          <p:nvPr/>
        </p:nvSpPr>
        <p:spPr>
          <a:xfrm>
            <a:off x="1117434" y="2268392"/>
            <a:ext cx="23114166" cy="8075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service that allows manage containers running on AWS (Similar to Docker Swarm, Kubernetes)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You must provision &amp; maintain EC2 instances / Fargate (Serverless)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Integrated with other AWS Services (ELB, Auto Scaling, SQS, ...)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Usecases: microservices, batch job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Price: </a:t>
            </a:r>
            <a:r>
              <a:rPr b="0" i="0" lang="en-US" sz="40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https://aws.amazon.com/ecs/pricing</a:t>
            </a: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"/>
          <p:cNvSpPr txBox="1"/>
          <p:nvPr/>
        </p:nvSpPr>
        <p:spPr>
          <a:xfrm>
            <a:off x="1117434" y="2370385"/>
            <a:ext cx="13074816" cy="69450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Demo</a:t>
            </a:r>
            <a:endParaRPr b="0" i="0" sz="3600" u="sng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  <a:hlinkClick r:id="rId3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https://www.youtube.com/watch?v=oyWOkGPgaM0</a:t>
            </a: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-261302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None/>
            </a:pPr>
            <a:r>
              <a:t/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" name="Google Shape;59;p4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Elastic Container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" name="Google Shape;65;p5"/>
          <p:cNvSpPr txBox="1"/>
          <p:nvPr/>
        </p:nvSpPr>
        <p:spPr>
          <a:xfrm>
            <a:off x="1371601" y="2370387"/>
            <a:ext cx="4743450" cy="138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"/>
          <p:cNvSpPr txBox="1"/>
          <p:nvPr/>
        </p:nvSpPr>
        <p:spPr>
          <a:xfrm>
            <a:off x="1117434" y="2370385"/>
            <a:ext cx="10064916" cy="102978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Components</a:t>
            </a:r>
            <a:endParaRPr b="0" i="0" sz="3600" u="sng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  <a:hlinkClick r:id="rId3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Registry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Image/Container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Instance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Task Definition / Task / Scheduling Task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Service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Cluster</a:t>
            </a:r>
            <a:endParaRPr/>
          </a:p>
        </p:txBody>
      </p:sp>
      <p:sp>
        <p:nvSpPr>
          <p:cNvPr id="71" name="Google Shape;71;p6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Elastic Container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2" name="Google Shape;7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196384" y="1558074"/>
            <a:ext cx="9758866" cy="10957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"/>
          <p:cNvSpPr txBox="1"/>
          <p:nvPr/>
        </p:nvSpPr>
        <p:spPr>
          <a:xfrm>
            <a:off x="1117434" y="2370385"/>
            <a:ext cx="12484266" cy="1022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Registry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place to save images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Ex: Elastic Container Registry (ECR), Docker Hub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Image/Container: Similar to Docker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Instance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Run the containers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types 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EC2 instance: on-demand / spot / reserved instance</a:t>
            </a:r>
            <a:endParaRPr/>
          </a:p>
        </p:txBody>
      </p:sp>
      <p:sp>
        <p:nvSpPr>
          <p:cNvPr id="78" name="Google Shape;78;p7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Elastic Container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9" name="Google Shape;7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18322" y="2370385"/>
            <a:ext cx="10165678" cy="464001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7"/>
          <p:cNvSpPr/>
          <p:nvPr/>
        </p:nvSpPr>
        <p:spPr>
          <a:xfrm>
            <a:off x="17694792" y="7010400"/>
            <a:ext cx="321273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Image/Container</a:t>
            </a:r>
            <a:endParaRPr/>
          </a:p>
        </p:txBody>
      </p:sp>
      <p:pic>
        <p:nvPicPr>
          <p:cNvPr id="81" name="Google Shape;8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345612" y="8045399"/>
            <a:ext cx="7911097" cy="3898951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7"/>
          <p:cNvSpPr/>
          <p:nvPr/>
        </p:nvSpPr>
        <p:spPr>
          <a:xfrm>
            <a:off x="18331985" y="12007275"/>
            <a:ext cx="193835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Instances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8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Elastic Container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8"/>
          <p:cNvSpPr/>
          <p:nvPr/>
        </p:nvSpPr>
        <p:spPr>
          <a:xfrm>
            <a:off x="11821261" y="11599455"/>
            <a:ext cx="11632709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Fargate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 just runs ECS Tasks for you based on the CPU / RAM you need</a:t>
            </a:r>
            <a:endParaRPr/>
          </a:p>
        </p:txBody>
      </p:sp>
      <p:sp>
        <p:nvSpPr>
          <p:cNvPr id="89" name="Google Shape;89;p8"/>
          <p:cNvSpPr txBox="1"/>
          <p:nvPr/>
        </p:nvSpPr>
        <p:spPr>
          <a:xfrm>
            <a:off x="1117434" y="2370385"/>
            <a:ext cx="16770516" cy="2468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6" lvl="3" marL="194468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External instance: on-premises server, virtual machine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Fargate: Serverless, you do not provision the infrastructure (no EC2 instances to manage)</a:t>
            </a:r>
            <a:endParaRPr/>
          </a:p>
        </p:txBody>
      </p:sp>
      <p:sp>
        <p:nvSpPr>
          <p:cNvPr id="90" name="Google Shape;90;p8"/>
          <p:cNvSpPr/>
          <p:nvPr/>
        </p:nvSpPr>
        <p:spPr>
          <a:xfrm>
            <a:off x="2505271" y="11599455"/>
            <a:ext cx="8133958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EC2 instance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 takes care of starting / stopping containers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1" name="Google Shape;9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85771" y="5763288"/>
            <a:ext cx="5772956" cy="5696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808023" y="5763288"/>
            <a:ext cx="5659186" cy="56967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9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Elastic Container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9"/>
          <p:cNvSpPr txBox="1"/>
          <p:nvPr/>
        </p:nvSpPr>
        <p:spPr>
          <a:xfrm>
            <a:off x="1117434" y="2370385"/>
            <a:ext cx="14884566" cy="14777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2" marL="1500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Installed Container Agent to send container information to ECS</a:t>
            </a:r>
            <a:endParaRPr/>
          </a:p>
        </p:txBody>
      </p:sp>
      <p:pic>
        <p:nvPicPr>
          <p:cNvPr id="99" name="Google Shape;9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6219" y="4089114"/>
            <a:ext cx="8193876" cy="746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9"/>
          <p:cNvSpPr/>
          <p:nvPr/>
        </p:nvSpPr>
        <p:spPr>
          <a:xfrm>
            <a:off x="10136975" y="11569127"/>
            <a:ext cx="301236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Container Agent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0"/>
          <p:cNvSpPr txBox="1"/>
          <p:nvPr/>
        </p:nvSpPr>
        <p:spPr>
          <a:xfrm>
            <a:off x="1117434" y="2370385"/>
            <a:ext cx="15132216" cy="10774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Task Definition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JSON file, describe initialize container (up to 10 containers)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Similar to docker compose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Including: 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Task size: RAM, CPU, Volume (EFS, EBS, …), Network mode, …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Container: Port, Image, Entry Point, Command, …, HealthCheck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IAM Role, Log, ...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Task: run multiple Task Definition in Cluster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Scheduling Task: Run long-running task, scheduling task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10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Elastic Container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7" name="Google Shape;10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87850" y="2789484"/>
            <a:ext cx="5751256" cy="83547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1"/>
          <p:cNvSpPr txBox="1"/>
          <p:nvPr/>
        </p:nvSpPr>
        <p:spPr>
          <a:xfrm>
            <a:off x="1117434" y="2370385"/>
            <a:ext cx="11912766" cy="34779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Service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Define how many replicas of tasks in cluster</a:t>
            </a:r>
            <a:endParaRPr/>
          </a:p>
        </p:txBody>
      </p:sp>
      <p:sp>
        <p:nvSpPr>
          <p:cNvPr id="113" name="Google Shape;113;p11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Elastic Container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4" name="Google Shape;11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25550" y="2370385"/>
            <a:ext cx="9201150" cy="8270696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1"/>
          <p:cNvSpPr/>
          <p:nvPr/>
        </p:nvSpPr>
        <p:spPr>
          <a:xfrm>
            <a:off x="16868775" y="10641081"/>
            <a:ext cx="33147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63C1"/>
              </a:buClr>
              <a:buSzPts val="3200"/>
              <a:buFont typeface="Times New Roman"/>
              <a:buNone/>
            </a:pPr>
            <a:r>
              <a:rPr b="0" i="1" lang="en-US" sz="3200" u="sng" cap="none" strike="noStrike">
                <a:solidFill>
                  <a:srgbClr val="0563C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Task Tutorial</a:t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2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Elastic Container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12"/>
          <p:cNvSpPr txBox="1"/>
          <p:nvPr/>
        </p:nvSpPr>
        <p:spPr>
          <a:xfrm>
            <a:off x="1117434" y="2370385"/>
            <a:ext cx="14313066" cy="23349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2" marL="1500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EFS for storing data, not support Fsx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Bind mount for storing Instance Store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12"/>
          <p:cNvSpPr/>
          <p:nvPr/>
        </p:nvSpPr>
        <p:spPr>
          <a:xfrm>
            <a:off x="5392135" y="11944351"/>
            <a:ext cx="88998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EFS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3" name="Google Shape;12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03307" y="4433493"/>
            <a:ext cx="5467640" cy="7436491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2"/>
          <p:cNvSpPr/>
          <p:nvPr/>
        </p:nvSpPr>
        <p:spPr>
          <a:xfrm>
            <a:off x="15813009" y="11944351"/>
            <a:ext cx="208743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Bind mount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5" name="Google Shape;125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82368" y="4478359"/>
            <a:ext cx="6358232" cy="739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3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Elastic Container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13"/>
          <p:cNvSpPr txBox="1"/>
          <p:nvPr/>
        </p:nvSpPr>
        <p:spPr>
          <a:xfrm>
            <a:off x="1117434" y="2370386"/>
            <a:ext cx="11398416" cy="1573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2" marL="1500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Call ECS Task through CloudWatch Event</a:t>
            </a:r>
            <a:endParaRPr/>
          </a:p>
        </p:txBody>
      </p:sp>
      <p:sp>
        <p:nvSpPr>
          <p:cNvPr id="132" name="Google Shape;132;p13"/>
          <p:cNvSpPr/>
          <p:nvPr/>
        </p:nvSpPr>
        <p:spPr>
          <a:xfrm>
            <a:off x="3539584" y="10377162"/>
            <a:ext cx="598913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CloudWatch Event (Event Bridge)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3" name="Google Shape;13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3698" y="4528722"/>
            <a:ext cx="12480910" cy="5848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598344" y="6900052"/>
            <a:ext cx="10345594" cy="347711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3"/>
          <p:cNvSpPr/>
          <p:nvPr/>
        </p:nvSpPr>
        <p:spPr>
          <a:xfrm>
            <a:off x="17418847" y="10377162"/>
            <a:ext cx="270458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Event Schedule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Elastic Container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1" name="Google Shape;14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2769" y="6342079"/>
            <a:ext cx="11371581" cy="4868016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4"/>
          <p:cNvSpPr txBox="1"/>
          <p:nvPr/>
        </p:nvSpPr>
        <p:spPr>
          <a:xfrm>
            <a:off x="1117434" y="2370386"/>
            <a:ext cx="14027316" cy="25635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2" marL="1500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Call ECS Task pull message from SQS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IAM Roles for ECS Task when calling to other AWS services</a:t>
            </a:r>
            <a:endParaRPr/>
          </a:p>
        </p:txBody>
      </p:sp>
      <p:sp>
        <p:nvSpPr>
          <p:cNvPr id="143" name="Google Shape;143;p14"/>
          <p:cNvSpPr/>
          <p:nvPr/>
        </p:nvSpPr>
        <p:spPr>
          <a:xfrm>
            <a:off x="4757990" y="11314040"/>
            <a:ext cx="300114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ECS Tasks - SQS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4" name="Google Shape;14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349454" y="5649044"/>
            <a:ext cx="11882146" cy="5486399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4"/>
          <p:cNvSpPr/>
          <p:nvPr/>
        </p:nvSpPr>
        <p:spPr>
          <a:xfrm>
            <a:off x="16333215" y="11362495"/>
            <a:ext cx="421942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IAM Role for ECS Tasks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5"/>
          <p:cNvSpPr txBox="1"/>
          <p:nvPr/>
        </p:nvSpPr>
        <p:spPr>
          <a:xfrm>
            <a:off x="1117434" y="2370385"/>
            <a:ext cx="6102516" cy="11729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2" marL="1500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ELB, Health check</a:t>
            </a:r>
            <a:endParaRPr/>
          </a:p>
        </p:txBody>
      </p:sp>
      <p:sp>
        <p:nvSpPr>
          <p:cNvPr id="151" name="Google Shape;151;p15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Elastic Container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15"/>
          <p:cNvSpPr/>
          <p:nvPr/>
        </p:nvSpPr>
        <p:spPr>
          <a:xfrm>
            <a:off x="2127828" y="9630001"/>
            <a:ext cx="828877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Load Balancing with ECS (EC2 instance)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3" name="Google Shape;15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57525" y="4222913"/>
            <a:ext cx="6429375" cy="548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5"/>
          <p:cNvSpPr/>
          <p:nvPr/>
        </p:nvSpPr>
        <p:spPr>
          <a:xfrm>
            <a:off x="13277369" y="9709313"/>
            <a:ext cx="828877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Load Balancing with ECS (Fargate)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5" name="Google Shape;15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83492" y="3919694"/>
            <a:ext cx="7476523" cy="57896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6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Elastic Container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1" name="Google Shape;16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44350" y="4270661"/>
            <a:ext cx="11813304" cy="5119688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6"/>
          <p:cNvSpPr/>
          <p:nvPr/>
        </p:nvSpPr>
        <p:spPr>
          <a:xfrm>
            <a:off x="13100342" y="9390349"/>
            <a:ext cx="950132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ECS Auto Scaling – SQS Queue based on message count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3" name="Google Shape;16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2691" y="4195762"/>
            <a:ext cx="11231055" cy="5194587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6"/>
          <p:cNvSpPr/>
          <p:nvPr/>
        </p:nvSpPr>
        <p:spPr>
          <a:xfrm>
            <a:off x="1028073" y="9390349"/>
            <a:ext cx="9600293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 Scaling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Automatically increase/decrease the desired number of ECS tasks based-on Ram, CPU, ALB Request Count 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1117434" y="2370385"/>
            <a:ext cx="11912766" cy="34779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2" marL="1500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 Scaling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Elastic Container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13329840" y="10194923"/>
            <a:ext cx="389882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 100%, Max 150%</a:t>
            </a:r>
            <a:endParaRPr/>
          </a:p>
        </p:txBody>
      </p:sp>
      <p:sp>
        <p:nvSpPr>
          <p:cNvPr id="172" name="Google Shape;172;p17"/>
          <p:cNvSpPr/>
          <p:nvPr/>
        </p:nvSpPr>
        <p:spPr>
          <a:xfrm>
            <a:off x="4917324" y="10194923"/>
            <a:ext cx="519238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 50%, Max 100%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1117434" y="2370385"/>
            <a:ext cx="20847216" cy="34779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2" marL="1500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Rolling Update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updating from v1 to v2, we can control how many tasks can be started and stopped, and in which order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4" name="Google Shape;17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74563" y="6909638"/>
            <a:ext cx="6477904" cy="33056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299708" y="5721264"/>
            <a:ext cx="5959088" cy="44736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8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Elastic Container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18"/>
          <p:cNvSpPr txBox="1"/>
          <p:nvPr/>
        </p:nvSpPr>
        <p:spPr>
          <a:xfrm>
            <a:off x="1117434" y="2370385"/>
            <a:ext cx="20847216" cy="34779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2" marL="1500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Environment Variable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SSM Parameter Store Service &amp; Secrets Manager Service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Files - S3</a:t>
            </a:r>
            <a:endParaRPr/>
          </a:p>
        </p:txBody>
      </p:sp>
      <p:pic>
        <p:nvPicPr>
          <p:cNvPr id="182" name="Google Shape;18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7263" y="6451552"/>
            <a:ext cx="12294173" cy="4254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9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p19"/>
          <p:cNvSpPr txBox="1"/>
          <p:nvPr/>
        </p:nvSpPr>
        <p:spPr>
          <a:xfrm>
            <a:off x="1371601" y="2370387"/>
            <a:ext cx="4743450" cy="138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0"/>
          <p:cNvSpPr txBox="1"/>
          <p:nvPr/>
        </p:nvSpPr>
        <p:spPr>
          <a:xfrm>
            <a:off x="1117434" y="2370385"/>
            <a:ext cx="16903866" cy="40113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Store, manage and deploy containers on AWS, pay for what you use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Fully integrated with ECS &amp; IAM for security, backed by S3 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Supports image vulnerability scanning, version, tag, image lifecycle</a:t>
            </a:r>
            <a:endParaRPr/>
          </a:p>
          <a:p>
            <a:pPr indent="-97154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220"/>
              <a:buFont typeface="Noto Sans Symbols"/>
              <a:buNone/>
            </a:pPr>
            <a:r>
              <a:t/>
            </a:r>
            <a:endParaRPr b="0" i="0" sz="3600" u="sng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  <a:hlinkClick r:id="rId3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1200149" y="571498"/>
            <a:ext cx="129540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Elastic Container Registry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5" name="Google Shape;19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28551" y="6896100"/>
            <a:ext cx="15124014" cy="4757949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0"/>
          <p:cNvSpPr/>
          <p:nvPr/>
        </p:nvSpPr>
        <p:spPr>
          <a:xfrm>
            <a:off x="6853111" y="12032963"/>
            <a:ext cx="1033488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Demo: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https://www.youtube.com/watch?v=lvrdESP8Ffs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1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Elastic Kubernetes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2283995" y="12031242"/>
            <a:ext cx="1932071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Tutorial: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https://docs.aws.amazon.com/eks/latest/userguide/getting-started.html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1117434" y="2268392"/>
            <a:ext cx="17856366" cy="2303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service that allows manage kubernetes containers running on AWS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Open-source</a:t>
            </a:r>
            <a:endParaRPr/>
          </a:p>
        </p:txBody>
      </p:sp>
      <p:pic>
        <p:nvPicPr>
          <p:cNvPr id="204" name="Google Shape;20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72777" y="4514850"/>
            <a:ext cx="18943146" cy="74592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2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Elastic Kubernetes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" name="Google Shape;210;p22"/>
          <p:cNvSpPr txBox="1"/>
          <p:nvPr/>
        </p:nvSpPr>
        <p:spPr>
          <a:xfrm>
            <a:off x="1117434" y="2268392"/>
            <a:ext cx="22980816" cy="9762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It’s an alternative to ECS, similar goal but different API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Kubernetes is cloud-agnostic (can be used in any cloud – Azure, GCP…)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Supports EC2 (you want to to deploy worker nodes) or Fargate (deploy serverless containers)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Usecases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Courier New"/>
              <a:buChar char="o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Microservices, batch job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Courier New"/>
              <a:buChar char="o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your company is already using Kubernetes on-premises or in another cloud, and wants to migrate to AWS using Kubernetes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Price: </a:t>
            </a:r>
            <a:r>
              <a:rPr b="0" i="0" lang="en-US" sz="40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https://aws.amazon.com/eks/pricing</a:t>
            </a: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3"/>
          <p:cNvSpPr txBox="1"/>
          <p:nvPr/>
        </p:nvSpPr>
        <p:spPr>
          <a:xfrm>
            <a:off x="1117434" y="2370385"/>
            <a:ext cx="13074816" cy="69450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Demo</a:t>
            </a:r>
            <a:endParaRPr b="0" i="0" sz="3600" u="sng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  <a:hlinkClick r:id="rId3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https://www.youtube.com/watch?v=O4h69KMm2tE</a:t>
            </a: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-261302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None/>
            </a:pPr>
            <a:r>
              <a:t/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6" name="Google Shape;216;p23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Elastic Kubernetes Service</a:t>
            </a:r>
            <a:endParaRPr/>
          </a:p>
        </p:txBody>
      </p:sp>
      <p:pic>
        <p:nvPicPr>
          <p:cNvPr id="217" name="Google Shape;21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72136" y="5842917"/>
            <a:ext cx="13144428" cy="3878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4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" name="Google Shape;223;p24"/>
          <p:cNvSpPr txBox="1"/>
          <p:nvPr/>
        </p:nvSpPr>
        <p:spPr>
          <a:xfrm>
            <a:off x="1371601" y="2370387"/>
            <a:ext cx="4743450" cy="138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5"/>
          <p:cNvSpPr txBox="1"/>
          <p:nvPr/>
        </p:nvSpPr>
        <p:spPr>
          <a:xfrm>
            <a:off x="1200149" y="571498"/>
            <a:ext cx="86868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CodePipeline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" name="Google Shape;229;p25"/>
          <p:cNvSpPr/>
          <p:nvPr/>
        </p:nvSpPr>
        <p:spPr>
          <a:xfrm>
            <a:off x="2283995" y="12031242"/>
            <a:ext cx="1932071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Tutorial: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https://docs.aws.amazon.com/codepipeline/latest/userguide/welcome.html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0" name="Google Shape;230;p25"/>
          <p:cNvSpPr txBox="1"/>
          <p:nvPr/>
        </p:nvSpPr>
        <p:spPr>
          <a:xfrm>
            <a:off x="1117434" y="2268392"/>
            <a:ext cx="22352166" cy="48944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service that allows deploy and release applications continuously and automatically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Usecases: microservices, automatically deploy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Price: </a:t>
            </a:r>
            <a:r>
              <a:rPr b="0" i="0" lang="en-US" sz="40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https://aws.amazon.com/codepipeline/pricing</a:t>
            </a: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03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None/>
            </a:pPr>
            <a:r>
              <a:t/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1" name="Google Shape;231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01016" y="5934973"/>
            <a:ext cx="12886667" cy="60962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6"/>
          <p:cNvSpPr txBox="1"/>
          <p:nvPr/>
        </p:nvSpPr>
        <p:spPr>
          <a:xfrm>
            <a:off x="1117434" y="2370385"/>
            <a:ext cx="15056016" cy="5135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Components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CodeCommit: storing code (similar to GitHub)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CodeBuild: build &amp; testing service in CICD pipelines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CodeDeploy: deploy the packaged code into EC2 and AWS Lambda</a:t>
            </a:r>
            <a:endParaRPr/>
          </a:p>
        </p:txBody>
      </p:sp>
      <p:sp>
        <p:nvSpPr>
          <p:cNvPr id="237" name="Google Shape;237;p26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CodePipeline Service</a:t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82188" y="7213042"/>
            <a:ext cx="9124324" cy="5323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7"/>
          <p:cNvSpPr txBox="1"/>
          <p:nvPr/>
        </p:nvSpPr>
        <p:spPr>
          <a:xfrm>
            <a:off x="1117434" y="2370385"/>
            <a:ext cx="12731916" cy="42018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Demo</a:t>
            </a:r>
            <a:endParaRPr b="0" i="0" sz="3600" u="sng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  <a:hlinkClick r:id="rId3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https://www.youtube.com/watch?v=KCcoQ7GBra8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https://www.youtube.com/watch?v=NCXzTgjUOQo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" name="Google Shape;244;p27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CodePipeline Service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8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0" name="Google Shape;250;p28"/>
          <p:cNvSpPr txBox="1"/>
          <p:nvPr/>
        </p:nvSpPr>
        <p:spPr>
          <a:xfrm>
            <a:off x="1371601" y="2370387"/>
            <a:ext cx="4743450" cy="138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9"/>
          <p:cNvSpPr txBox="1"/>
          <p:nvPr/>
        </p:nvSpPr>
        <p:spPr>
          <a:xfrm>
            <a:off x="1117434" y="2370385"/>
            <a:ext cx="22466466" cy="108884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ECS is service that allows manage containers on AWS (Similar to Docker Swarm, Kubernetes)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You must provision &amp; maintain EC2 instances / Fargate (Serverless)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Integrated with other AWS Services (ELB, Autoscaling, SQS, ...) 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Usecases: microservices, batch job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⮚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Components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Registry (ECR/Docker Hub) 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Image, Container, 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Instance: EC2 instance/External instance/Fargate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6" name="Google Shape;256;p29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0"/>
          <p:cNvSpPr txBox="1"/>
          <p:nvPr/>
        </p:nvSpPr>
        <p:spPr>
          <a:xfrm>
            <a:off x="1117434" y="2370385"/>
            <a:ext cx="22295016" cy="96882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Task Definition / Task / Scheduling Task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Service: Autoscaling, ELB, Health check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Cluster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EKS is service that allows manage kubernetes containers running on AWS, GCP, Azure…, Open-source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CodePipeline 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Allows deploy and release applications continuously and automatically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Components: </a:t>
            </a:r>
            <a:r>
              <a:rPr b="0" i="0" lang="en-US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CodeCommit, CodeBuild, CodeDeploy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2" name="Google Shape;262;p30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1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eiryo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Copyright </a:t>
            </a:r>
            <a:r>
              <a:rPr b="0" i="1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© </a:t>
            </a: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VTI Academy All Rights Reserved </a:t>
            </a:r>
            <a:endParaRPr/>
          </a:p>
        </p:txBody>
      </p:sp>
      <p:sp>
        <p:nvSpPr>
          <p:cNvPr id="269" name="Google Shape;269;p31"/>
          <p:cNvSpPr/>
          <p:nvPr/>
        </p:nvSpPr>
        <p:spPr>
          <a:xfrm>
            <a:off x="7195160" y="5450175"/>
            <a:ext cx="10095282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17F"/>
              </a:buClr>
              <a:buSzPts val="8800"/>
              <a:buFont typeface="Times New Roman"/>
              <a:buNone/>
            </a:pPr>
            <a:r>
              <a:rPr b="0" i="0" lang="en-US" sz="8800" u="none" cap="none" strike="noStrike">
                <a:solidFill>
                  <a:srgbClr val="0051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&amp; 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Nguyen Anh Quan (VTI.GA)</dc:creator>
</cp:coreProperties>
</file>