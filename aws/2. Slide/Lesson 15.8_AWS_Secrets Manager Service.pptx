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13716000" cx="24384000"/>
  <p:notesSz cx="6797675" cy="99298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320">
          <p15:clr>
            <a:srgbClr val="A4A3A4"/>
          </p15:clr>
        </p15:guide>
        <p15:guide id="2" pos="7680">
          <p15:clr>
            <a:srgbClr val="A4A3A4"/>
          </p15:clr>
        </p15:guide>
      </p15:sldGuideLst>
    </p:ext>
    <p:ext uri="GoogleSlidesCustomDataVersion2">
      <go:slidesCustomData xmlns:go="http://customooxmlschemas.google.com/" r:id="rId16" roundtripDataSignature="AMtx7miKqgJ1kiUrZJsIk3ZrinSC9dneF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320" orient="horz"/>
        <p:guide pos="76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228600" lvl="6" marL="32004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228600" lvl="7" marL="36576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228600" lvl="8" marL="4114800" marR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2200" u="none" cap="none" strike="noStrike"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" name="Google Shape;29;p1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2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3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3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4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5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6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5" name="Google Shape;65;p6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7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1" name="Google Shape;71;p7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9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9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0:notes"/>
          <p:cNvSpPr/>
          <p:nvPr>
            <p:ph idx="2" type="sldImg"/>
          </p:nvPr>
        </p:nvSpPr>
        <p:spPr>
          <a:xfrm>
            <a:off x="88900" y="744538"/>
            <a:ext cx="6619875" cy="3724275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1" name="Google Shape;91;p10:notes"/>
          <p:cNvSpPr txBox="1"/>
          <p:nvPr>
            <p:ph idx="1" type="body"/>
          </p:nvPr>
        </p:nvSpPr>
        <p:spPr>
          <a:xfrm>
            <a:off x="906357" y="4716661"/>
            <a:ext cx="4984962" cy="446841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10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Calibri"/>
              <a:buNone/>
            </a:pPr>
            <a:fld id="{00000000-1234-1234-1234-123412341234}" type="slidenum">
              <a:rPr b="1" i="0" lang="en-US" sz="3200" u="none" cap="none" strike="noStrik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b="1" i="0" sz="3200" u="none" cap="none" strike="noStrik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4.jp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itle Only">
  <p:cSld name="1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1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1017132" y="859479"/>
            <a:ext cx="2950192" cy="1131834"/>
          </a:xfrm>
          <a:prstGeom prst="rect">
            <a:avLst/>
          </a:prstGeom>
          <a:noFill/>
          <a:ln>
            <a:noFill/>
          </a:ln>
        </p:spPr>
      </p:pic>
      <p:pic>
        <p:nvPicPr>
          <p:cNvPr id="11" name="Google Shape;11;p1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24384000" cy="13716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>
  <p:cSld name="1_Title and Content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" name="Google Shape;13;p13"/>
          <p:cNvCxnSpPr/>
          <p:nvPr/>
        </p:nvCxnSpPr>
        <p:spPr>
          <a:xfrm>
            <a:off x="482600" y="1412390"/>
            <a:ext cx="21521992" cy="0"/>
          </a:xfrm>
          <a:prstGeom prst="straightConnector1">
            <a:avLst/>
          </a:prstGeom>
          <a:noFill/>
          <a:ln cap="flat" cmpd="sng" w="19050">
            <a:solidFill>
              <a:srgbClr val="3C5A99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4" name="Google Shape;14;p13"/>
          <p:cNvSpPr/>
          <p:nvPr/>
        </p:nvSpPr>
        <p:spPr>
          <a:xfrm>
            <a:off x="0" y="12670972"/>
            <a:ext cx="24384000" cy="1045028"/>
          </a:xfrm>
          <a:prstGeom prst="rect">
            <a:avLst/>
          </a:prstGeom>
          <a:solidFill>
            <a:srgbClr val="3C5A99"/>
          </a:solidFill>
          <a:ln>
            <a:noFill/>
          </a:ln>
        </p:spPr>
        <p:txBody>
          <a:bodyPr anchorCtr="0" anchor="ctr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Times New Roman"/>
              <a:buNone/>
            </a:pPr>
            <a:r>
              <a:t/>
            </a:r>
            <a:endParaRPr b="1" i="0" sz="36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" name="Google Shape;15;p13"/>
          <p:cNvSpPr/>
          <p:nvPr/>
        </p:nvSpPr>
        <p:spPr>
          <a:xfrm>
            <a:off x="6781639" y="12854932"/>
            <a:ext cx="10458958" cy="677108"/>
          </a:xfrm>
          <a:prstGeom prst="rect">
            <a:avLst/>
          </a:prstGeom>
          <a:noFill/>
          <a:ln>
            <a:noFill/>
          </a:ln>
        </p:spPr>
        <p:txBody>
          <a:bodyPr anchorCtr="0" anchor="t" bIns="91400" lIns="182850" spcFirstLastPara="1" rIns="182850" wrap="square" tIns="914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Times New Roman"/>
              <a:buNone/>
            </a:pP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Copyright </a:t>
            </a:r>
            <a:r>
              <a:rPr b="1" i="1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© </a:t>
            </a:r>
            <a:r>
              <a:rPr b="1" i="0" lang="en-US" sz="3200" u="none" cap="none" strike="noStrike">
                <a:solidFill>
                  <a:schemeClr val="lt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 All Right Reserved </a:t>
            </a:r>
            <a:endParaRPr b="1" i="0" sz="3200" u="none" cap="none" strike="noStrike">
              <a:solidFill>
                <a:schemeClr val="lt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cxnSp>
        <p:nvCxnSpPr>
          <p:cNvPr id="16" name="Google Shape;16;p13"/>
          <p:cNvCxnSpPr/>
          <p:nvPr/>
        </p:nvCxnSpPr>
        <p:spPr>
          <a:xfrm>
            <a:off x="14610736" y="1412390"/>
            <a:ext cx="7393856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" name="Google Shape;17;p13"/>
          <p:cNvCxnSpPr/>
          <p:nvPr/>
        </p:nvCxnSpPr>
        <p:spPr>
          <a:xfrm>
            <a:off x="0" y="12670972"/>
            <a:ext cx="24384000" cy="0"/>
          </a:xfrm>
          <a:prstGeom prst="straightConnector1">
            <a:avLst/>
          </a:prstGeom>
          <a:noFill/>
          <a:ln cap="flat" cmpd="sng" w="19050">
            <a:solidFill>
              <a:srgbClr val="FFC000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descr="A picture containing drawing&#10;&#10;Description automatically generated" id="18" name="Google Shape;18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9252276" y="-25180"/>
            <a:ext cx="5131724" cy="143757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14"/>
          <p:cNvSpPr txBox="1"/>
          <p:nvPr>
            <p:ph type="title"/>
          </p:nvPr>
        </p:nvSpPr>
        <p:spPr>
          <a:xfrm>
            <a:off x="1845217" y="357188"/>
            <a:ext cx="18701658" cy="1710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200"/>
              <a:buFont typeface="Meiryo"/>
              <a:buNone/>
              <a:defRPr sz="8200">
                <a:latin typeface="Meiryo"/>
                <a:ea typeface="Meiryo"/>
                <a:cs typeface="Meiryo"/>
                <a:sym typeface="Meiry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  <a:defRPr/>
            </a:lvl9pPr>
          </a:lstStyle>
          <a:p/>
        </p:txBody>
      </p:sp>
      <p:sp>
        <p:nvSpPr>
          <p:cNvPr id="21" name="Google Shape;21;p14"/>
          <p:cNvSpPr txBox="1"/>
          <p:nvPr>
            <p:ph idx="10" type="dt"/>
          </p:nvPr>
        </p:nvSpPr>
        <p:spPr>
          <a:xfrm>
            <a:off x="1676400" y="12712701"/>
            <a:ext cx="54864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2" name="Google Shape;22;p14"/>
          <p:cNvSpPr txBox="1"/>
          <p:nvPr>
            <p:ph idx="11" type="ftr"/>
          </p:nvPr>
        </p:nvSpPr>
        <p:spPr>
          <a:xfrm>
            <a:off x="8077200" y="12712701"/>
            <a:ext cx="8229600" cy="7302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  <a:defRPr b="1" i="0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23" name="Google Shape;23;p14"/>
          <p:cNvSpPr txBox="1"/>
          <p:nvPr>
            <p:ph idx="12" type="sldNum"/>
          </p:nvPr>
        </p:nvSpPr>
        <p:spPr>
          <a:xfrm>
            <a:off x="11962817" y="13073062"/>
            <a:ext cx="448840" cy="482823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1pPr>
            <a:lvl2pPr indent="0" lvl="1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2pPr>
            <a:lvl3pPr indent="0" lvl="2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3pPr>
            <a:lvl4pPr indent="0" lvl="3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4pPr>
            <a:lvl5pPr indent="0" lvl="4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5pPr>
            <a:lvl6pPr indent="0" lvl="5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6pPr>
            <a:lvl7pPr indent="0" lvl="6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7pPr>
            <a:lvl8pPr indent="0" lvl="7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8pPr>
            <a:lvl9pPr indent="0" lvl="8" mar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/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cxnSp>
        <p:nvCxnSpPr>
          <p:cNvPr id="24" name="Google Shape;24;p14"/>
          <p:cNvCxnSpPr/>
          <p:nvPr/>
        </p:nvCxnSpPr>
        <p:spPr>
          <a:xfrm>
            <a:off x="1845217" y="1893677"/>
            <a:ext cx="18701658" cy="0"/>
          </a:xfrm>
          <a:prstGeom prst="straightConnector1">
            <a:avLst/>
          </a:prstGeom>
          <a:noFill/>
          <a:ln cap="rnd" cmpd="sng" w="38100">
            <a:solidFill>
              <a:srgbClr val="057BBA">
                <a:alpha val="80000"/>
              </a:srgbClr>
            </a:solidFill>
            <a:prstDash val="solid"/>
            <a:round/>
            <a:headEnd len="sm" w="sm" type="none"/>
            <a:tailEnd len="sm" w="sm" type="none"/>
          </a:ln>
        </p:spPr>
      </p:cxnSp>
      <p:pic>
        <p:nvPicPr>
          <p:cNvPr descr="A close up of a sign&#10;&#10;Description automatically generated" id="25" name="Google Shape;25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20812883" y="427995"/>
            <a:ext cx="2645634" cy="163951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_Title Only">
  <p:cSld name="2_Title Only">
    <p:bg>
      <p:bgPr>
        <a:gradFill>
          <a:gsLst>
            <a:gs pos="0">
              <a:schemeClr val="lt1"/>
            </a:gs>
            <a:gs pos="17000">
              <a:schemeClr val="lt1"/>
            </a:gs>
            <a:gs pos="67000">
              <a:srgbClr val="F1FAFE"/>
            </a:gs>
            <a:gs pos="83000">
              <a:srgbClr val="FFEACC"/>
            </a:gs>
            <a:gs pos="100000">
              <a:srgbClr val="62C5FB"/>
            </a:gs>
          </a:gsLst>
          <a:path path="circle">
            <a:fillToRect b="100%" r="100%"/>
          </a:path>
          <a:tileRect l="-100%" t="-100%"/>
        </a:gradFill>
      </p:bgPr>
    </p:bg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1"/>
          <p:cNvSpPr txBox="1"/>
          <p:nvPr>
            <p:ph type="title"/>
          </p:nvPr>
        </p:nvSpPr>
        <p:spPr>
          <a:xfrm>
            <a:off x="4387453" y="357187"/>
            <a:ext cx="15609094" cy="3036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lvl="1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lvl="2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lvl="3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lvl="4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lvl="5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lvl="6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lvl="7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lvl="8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200"/>
              <a:buFont typeface="Times New Roman"/>
              <a:buNone/>
              <a:defRPr b="0" i="0" sz="11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7" name="Google Shape;7;p11"/>
          <p:cNvSpPr txBox="1"/>
          <p:nvPr>
            <p:ph idx="1" type="body"/>
          </p:nvPr>
        </p:nvSpPr>
        <p:spPr>
          <a:xfrm>
            <a:off x="4387453" y="3643312"/>
            <a:ext cx="15609094" cy="8840392"/>
          </a:xfrm>
          <a:prstGeom prst="rect">
            <a:avLst/>
          </a:prstGeom>
          <a:noFill/>
          <a:ln>
            <a:noFill/>
          </a:ln>
        </p:spPr>
        <p:txBody>
          <a:bodyPr anchorCtr="0" anchor="ctr" bIns="71425" lIns="71425" spcFirstLastPara="1" rIns="71425" wrap="square" tIns="71425">
            <a:normAutofit/>
          </a:bodyPr>
          <a:lstStyle>
            <a:lvl1pPr indent="-633730" lvl="0" marL="457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633730" lvl="1" marL="914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633730" lvl="2" marL="1371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633730" lvl="3" marL="1828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633729" lvl="4" marL="22860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633729" lvl="5" marL="27432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-633729" lvl="6" marL="32004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-633729" lvl="7" marL="36576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-633729" lvl="8" marL="4114800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6380"/>
              <a:buFont typeface="Times New Roman"/>
              <a:buChar char="•"/>
              <a:defRPr b="0" i="0" sz="44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/>
        </p:txBody>
      </p:sp>
      <p:sp>
        <p:nvSpPr>
          <p:cNvPr id="8" name="Google Shape;8;p11"/>
          <p:cNvSpPr txBox="1"/>
          <p:nvPr>
            <p:ph idx="12" type="sldNum"/>
          </p:nvPr>
        </p:nvSpPr>
        <p:spPr>
          <a:xfrm>
            <a:off x="11954103" y="13073062"/>
            <a:ext cx="466269" cy="477671"/>
          </a:xfrm>
          <a:prstGeom prst="rect">
            <a:avLst/>
          </a:prstGeom>
          <a:noFill/>
          <a:ln>
            <a:noFill/>
          </a:ln>
        </p:spPr>
        <p:txBody>
          <a:bodyPr anchorCtr="0" anchor="t" bIns="71425" lIns="71425" spcFirstLastPara="1" rIns="71425" wrap="square" tIns="71425">
            <a:spAutoFit/>
          </a:bodyPr>
          <a:lstStyle>
            <a:lvl1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0" lvl="1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0" lvl="2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0" lvl="3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0" lvl="4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0" lvl="5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6pPr>
            <a:lvl7pPr indent="0" lvl="6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7pPr>
            <a:lvl8pPr indent="0" lvl="7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8pPr>
            <a:lvl9pPr indent="0" lvl="8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200"/>
              <a:buFont typeface="Times New Roman"/>
              <a:buNone/>
              <a:defRPr b="0" i="0" sz="2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9pPr>
          </a:lstStyle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hyperlink" Target="mailto:duy.nguyenngoc1@vti.com.vn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ws.amazon.com/secrets-manager/pricing" TargetMode="External"/><Relationship Id="rId4" Type="http://schemas.openxmlformats.org/officeDocument/2006/relationships/image" Target="../media/image9.png"/><Relationship Id="rId5" Type="http://schemas.openxmlformats.org/officeDocument/2006/relationships/hyperlink" Target="https://docs.aws.amazon.com/secretsmanager/latest/userguide/intro.htm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image" Target="../media/image7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www.youtube.com/watch?v=kfrb5_6Pe_Y" TargetMode="External"/><Relationship Id="rId4" Type="http://schemas.openxmlformats.org/officeDocument/2006/relationships/hyperlink" Target="https://youtu.be/jgQaGhx_YaQ?t=499" TargetMode="External"/><Relationship Id="rId5" Type="http://schemas.openxmlformats.org/officeDocument/2006/relationships/hyperlink" Target="https://www.youtube.com/watch?v=Y3Gn_iP3FlE" TargetMode="External"/><Relationship Id="rId6" Type="http://schemas.openxmlformats.org/officeDocument/2006/relationships/hyperlink" Target="https://docs.aws.amazon.com/secretsmanager/latest/userguide/tutorials.html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www.youtube.com/watch?v=kfrb5_6Pe_Y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5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hyperlink" Target="https://www.youtube.com/watch?v=kfrb5_6Pe_Y" TargetMode="Externa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A picture containing drawing&#10;&#10;Description automatically generated" id="31" name="Google Shape;31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13650" y="1753558"/>
            <a:ext cx="5103775" cy="1429741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1"/>
          <p:cNvSpPr/>
          <p:nvPr/>
        </p:nvSpPr>
        <p:spPr>
          <a:xfrm>
            <a:off x="1795790" y="3025157"/>
            <a:ext cx="5636029" cy="5693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100"/>
              <a:buFont typeface="Times New Roman"/>
              <a:buNone/>
            </a:pPr>
            <a:r>
              <a:rPr b="1" i="0" lang="en-US" sz="31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WAY TO ENTERPRISE</a:t>
            </a:r>
            <a:endParaRPr/>
          </a:p>
        </p:txBody>
      </p:sp>
      <p:sp>
        <p:nvSpPr>
          <p:cNvPr id="33" name="Google Shape;33;p1"/>
          <p:cNvSpPr txBox="1"/>
          <p:nvPr/>
        </p:nvSpPr>
        <p:spPr>
          <a:xfrm>
            <a:off x="1215678" y="4549070"/>
            <a:ext cx="22486370" cy="131775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4400"/>
              <a:buFont typeface="Times New Roman"/>
              <a:buNone/>
            </a:pPr>
            <a:r>
              <a:rPr b="0" i="0" lang="en-US" sz="10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AWS</a:t>
            </a:r>
            <a:endParaRPr b="0" i="0" sz="10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34" name="Google Shape;34;p1"/>
          <p:cNvSpPr txBox="1"/>
          <p:nvPr/>
        </p:nvSpPr>
        <p:spPr>
          <a:xfrm>
            <a:off x="1795790" y="8295495"/>
            <a:ext cx="11871552" cy="284166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VTI ACADEMY</a:t>
            </a:r>
            <a:endParaRPr/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rPr b="1" i="0" lang="en-US" sz="5000" u="none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Author: </a:t>
            </a:r>
            <a:r>
              <a:rPr b="1" i="0" lang="en-US" sz="5000" u="sng" cap="none" strike="noStrike">
                <a:solidFill>
                  <a:srgbClr val="0079BF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duy.nguyenngoc1@vti.com.vn</a:t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1000"/>
              </a:spcBef>
              <a:spcAft>
                <a:spcPts val="0"/>
              </a:spcAft>
              <a:buClr>
                <a:srgbClr val="0079BF"/>
              </a:buClr>
              <a:buSzPts val="3000"/>
              <a:buFont typeface="Times New Roman"/>
              <a:buNone/>
            </a:pPr>
            <a:r>
              <a:t/>
            </a:r>
            <a:endParaRPr b="1" i="0" sz="5000" u="none" cap="none" strike="noStrike">
              <a:solidFill>
                <a:srgbClr val="0079BF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2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Secrets Manager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0" name="Google Shape;40;p2"/>
          <p:cNvSpPr txBox="1"/>
          <p:nvPr/>
        </p:nvSpPr>
        <p:spPr>
          <a:xfrm>
            <a:off x="1117434" y="2192193"/>
            <a:ext cx="19997988" cy="50190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Allow to get secrets (username &amp; password) through code (not hardcode directly in code)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Integration with Amazon RDS, Redshift…</a:t>
            </a:r>
            <a:endParaRPr b="0" i="0" sz="4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Usecases: store sensitive information: Username &amp; Password, License code, API key, …</a:t>
            </a:r>
            <a:endParaRPr/>
          </a:p>
          <a:p>
            <a:pPr indent="-428625" lvl="0" marL="428625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Price: </a:t>
            </a:r>
            <a:r>
              <a:rPr b="0" i="0" lang="en-US" sz="40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https://aws.amazon.com/secrets-manager/pricing</a:t>
            </a: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pic>
        <p:nvPicPr>
          <p:cNvPr descr="AWS Secrets Manager : All you need to know about" id="41" name="Google Shape;4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95707" y="7211228"/>
            <a:ext cx="13142928" cy="5073453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2"/>
          <p:cNvSpPr/>
          <p:nvPr/>
        </p:nvSpPr>
        <p:spPr>
          <a:xfrm>
            <a:off x="1466849" y="12089898"/>
            <a:ext cx="21200645" cy="5847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Times New Roman"/>
              <a:buNone/>
            </a:pP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Tutorial: </a:t>
            </a:r>
            <a:r>
              <a:rPr b="0" i="1" lang="en-US" sz="32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https://docs.aws.amazon.com/secretsmanager/latest/userguide/intro.html</a:t>
            </a:r>
            <a:r>
              <a:rPr b="0" i="1" lang="en-US" sz="32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b="0" i="1" sz="32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3"/>
          <p:cNvSpPr txBox="1"/>
          <p:nvPr/>
        </p:nvSpPr>
        <p:spPr>
          <a:xfrm>
            <a:off x="1117434" y="2370383"/>
            <a:ext cx="14222829" cy="435526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Flow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Admin create database and config username &amp; password (credential) using Secrets Manager for database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Secrets Manager will encrypt and save the credential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48" name="Google Shape;48;p3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Secrets Manager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49" name="Google Shape;49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4919158" y="2370384"/>
            <a:ext cx="9347268" cy="3309281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3"/>
          <p:cNvSpPr txBox="1"/>
          <p:nvPr/>
        </p:nvSpPr>
        <p:spPr>
          <a:xfrm>
            <a:off x="1117434" y="7110835"/>
            <a:ext cx="17375103" cy="45357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MyCustomApp wants to access the database, it will request to Secrets Manager to get username &amp; password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Secrets Manager will decrypt &amp; return credential via HTTPS &amp; TLS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MyCustomApp gets credential and accesses database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4"/>
          <p:cNvSpPr txBox="1"/>
          <p:nvPr/>
        </p:nvSpPr>
        <p:spPr>
          <a:xfrm>
            <a:off x="1117432" y="2370385"/>
            <a:ext cx="20250651" cy="66532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Demo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https://youtu.be/jgQaGhx_YaQ?t=499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 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https://www.youtube.com/watch?v=Y3Gn_iP3FlE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sng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  <a:hlinkClick r:id="rId6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https://docs.aws.amazon.com/secretsmanager/latest/userguide/tutorials.html</a:t>
            </a: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/>
          </a:p>
        </p:txBody>
      </p:sp>
      <p:sp>
        <p:nvSpPr>
          <p:cNvPr id="56" name="Google Shape;56;p4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Secrets Manager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5"/>
          <p:cNvSpPr txBox="1"/>
          <p:nvPr/>
        </p:nvSpPr>
        <p:spPr>
          <a:xfrm>
            <a:off x="1200150" y="571498"/>
            <a:ext cx="11372850" cy="62071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Assignment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62" name="Google Shape;62;p5"/>
          <p:cNvSpPr txBox="1"/>
          <p:nvPr/>
        </p:nvSpPr>
        <p:spPr>
          <a:xfrm>
            <a:off x="1371601" y="2370387"/>
            <a:ext cx="4743450" cy="13824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Self-practice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/>
          <p:nvPr/>
        </p:nvSpPr>
        <p:spPr>
          <a:xfrm>
            <a:off x="1117434" y="2370385"/>
            <a:ext cx="4561471" cy="237005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Components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</a:t>
            </a:r>
            <a:endParaRPr/>
          </a:p>
        </p:txBody>
      </p:sp>
      <p:sp>
        <p:nvSpPr>
          <p:cNvPr id="68" name="Google Shape;68;p6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Secrets Manager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7"/>
          <p:cNvSpPr txBox="1"/>
          <p:nvPr/>
        </p:nvSpPr>
        <p:spPr>
          <a:xfrm>
            <a:off x="1117433" y="2370384"/>
            <a:ext cx="10089047" cy="902913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1" marL="10556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Key-value format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Types</a:t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Credentials for RDS database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Credentials for on-premises database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Credentials for Redshift cluster</a:t>
            </a:r>
            <a:endParaRPr/>
          </a:p>
          <a:p>
            <a:pPr indent="-611186" lvl="3" marL="1944686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4350"/>
              <a:buFont typeface="Times New Roman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Other type of secrets (Ex: API Key, token, …)</a:t>
            </a:r>
            <a:endParaRPr b="0" i="0" sz="30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74" name="Google Shape;74;p7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Secrets Manager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75" name="Google Shape;75;p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2813882" y="2478669"/>
            <a:ext cx="10258425" cy="2133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1999495" y="5281111"/>
            <a:ext cx="11887200" cy="7172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"/>
          <p:cNvSpPr txBox="1"/>
          <p:nvPr/>
        </p:nvSpPr>
        <p:spPr>
          <a:xfrm>
            <a:off x="1117433" y="2370384"/>
            <a:ext cx="19781420" cy="992589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611187" lvl="2" marL="150018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Suppport encrypt secret with KMS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Policy with IAM Service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Replicaset Secret in other region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rotation: 30/60/90 days, Lambda Function</a:t>
            </a:r>
            <a:endParaRPr/>
          </a:p>
          <a:p>
            <a:pPr indent="-611187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Char char="▪"/>
            </a:pPr>
            <a:r>
              <a:rPr b="0" i="0" lang="en-US" sz="35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Support application: Java, JS, C#, Python, PHP, Go, Node.js…</a:t>
            </a:r>
            <a:endParaRPr/>
          </a:p>
          <a:p>
            <a:pPr indent="-288924" lvl="2" marL="15001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075"/>
              <a:buFont typeface="Noto Sans Symbols"/>
              <a:buNone/>
            </a:pPr>
            <a:r>
              <a:t/>
            </a:r>
            <a:endParaRPr b="0" i="0" sz="35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2" name="Google Shape;82;p8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Secrets Manager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9"/>
          <p:cNvSpPr txBox="1"/>
          <p:nvPr/>
        </p:nvSpPr>
        <p:spPr>
          <a:xfrm>
            <a:off x="1117434" y="2370385"/>
            <a:ext cx="18854987" cy="839787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428625" lvl="0" marL="42862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5800"/>
              <a:buFont typeface="Noto Sans Symbols"/>
              <a:buChar char="⮚"/>
            </a:pPr>
            <a:r>
              <a:rPr b="0" i="0" lang="en-US" sz="40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 Features</a:t>
            </a:r>
            <a:endParaRPr b="0" i="0" sz="3600" u="sng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  <a:hlinkClick r:id="rId3">
                <a:extLst>
                  <a:ext uri="{A12FA001-AC4F-418D-AE19-62706E023703}">
                    <ahyp:hlinkClr val="tx"/>
                  </a:ext>
                </a:extLst>
              </a:hlinkClick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Set secret through runtime programming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Save many different type secrets (RDS, Redshift, custom, ...)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Encrypt secret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Automatic rotate secret</a:t>
            </a:r>
            <a:endParaRPr/>
          </a:p>
          <a:p>
            <a:pPr indent="-611187" lvl="1" marL="1055687" marR="0" rtl="0" algn="l">
              <a:lnSpc>
                <a:spcPct val="100000"/>
              </a:lnSpc>
              <a:spcBef>
                <a:spcPts val="5900"/>
              </a:spcBef>
              <a:spcAft>
                <a:spcPts val="0"/>
              </a:spcAft>
              <a:buClr>
                <a:srgbClr val="000000"/>
              </a:buClr>
              <a:buSzPts val="5510"/>
              <a:buFont typeface="Courier New"/>
              <a:buChar char="o"/>
            </a:pPr>
            <a:r>
              <a:rPr b="0" i="0" lang="en-US" sz="3800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 policy</a:t>
            </a:r>
            <a:endParaRPr b="0" i="0" sz="3800" u="none" cap="none" strike="noStrike">
              <a:solidFill>
                <a:srgbClr val="000000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88" name="Google Shape;88;p9"/>
          <p:cNvSpPr txBox="1"/>
          <p:nvPr/>
        </p:nvSpPr>
        <p:spPr>
          <a:xfrm>
            <a:off x="1200149" y="571498"/>
            <a:ext cx="11156283" cy="8382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F81BD"/>
              </a:buClr>
              <a:buSzPts val="6000"/>
              <a:buFont typeface="Noto Sans Symbols"/>
              <a:buNone/>
            </a:pPr>
            <a:r>
              <a:rPr b="1" i="0" lang="en-US" sz="6000" u="none" cap="none" strike="noStrike">
                <a:solidFill>
                  <a:srgbClr val="4F81B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Secrets Manager Service</a:t>
            </a:r>
            <a:endParaRPr b="1" i="0" sz="6000" u="none" cap="none" strike="noStrike">
              <a:solidFill>
                <a:srgbClr val="4F81BD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0"/>
          <p:cNvSpPr/>
          <p:nvPr/>
        </p:nvSpPr>
        <p:spPr>
          <a:xfrm>
            <a:off x="8898777" y="13198291"/>
            <a:ext cx="6688049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Meiryo"/>
              <a:buNone/>
            </a:pP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Copyright </a:t>
            </a:r>
            <a:r>
              <a:rPr b="0" i="1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© </a:t>
            </a:r>
            <a:r>
              <a:rPr b="0" i="0" lang="en-US" sz="2200" u="none" cap="none" strike="noStrike">
                <a:solidFill>
                  <a:schemeClr val="dk1"/>
                </a:solidFill>
                <a:latin typeface="Meiryo"/>
                <a:ea typeface="Meiryo"/>
                <a:cs typeface="Meiryo"/>
                <a:sym typeface="Meiryo"/>
              </a:rPr>
              <a:t>VTI Academy All Rights Reserved </a:t>
            </a:r>
            <a:endParaRPr/>
          </a:p>
        </p:txBody>
      </p:sp>
      <p:sp>
        <p:nvSpPr>
          <p:cNvPr id="95" name="Google Shape;95;p10"/>
          <p:cNvSpPr/>
          <p:nvPr/>
        </p:nvSpPr>
        <p:spPr>
          <a:xfrm>
            <a:off x="7195160" y="5450175"/>
            <a:ext cx="10095282" cy="14465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517F"/>
              </a:buClr>
              <a:buSzPts val="8800"/>
              <a:buFont typeface="Times New Roman"/>
              <a:buNone/>
            </a:pPr>
            <a:r>
              <a:rPr b="0" i="0" lang="en-US" sz="8800" u="none" cap="none" strike="noStrike">
                <a:solidFill>
                  <a:srgbClr val="00517F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Q &amp; A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White">
  <a:themeElements>
    <a:clrScheme name="White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61D836"/>
      </a:accent3>
      <a:accent4>
        <a:srgbClr val="FAE232"/>
      </a:accent4>
      <a:accent5>
        <a:srgbClr val="FF644E"/>
      </a:accent5>
      <a:accent6>
        <a:srgbClr val="EF5FA7"/>
      </a:accent6>
      <a:hlink>
        <a:srgbClr val="0000FF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Nguyen Anh Quan (VTI.GA)</dc:creator>
</cp:coreProperties>
</file>