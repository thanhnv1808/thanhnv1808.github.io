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lZw1sYdIFM7nOdtGtzv9jc+S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apigateway/latest/developerguide/welcome.html" TargetMode="External"/><Relationship Id="rId4" Type="http://schemas.openxmlformats.org/officeDocument/2006/relationships/hyperlink" Target="https://docs.aws.amazon.com/apigateway/latest/developerguide/api-gateway-pricing.html" TargetMode="External"/><Relationship Id="rId5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kfrb5_6Pe_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Relationship Id="rId6" Type="http://schemas.openxmlformats.org/officeDocument/2006/relationships/hyperlink" Target="https://www.youtube.com/watch?v=al5I9v5Y-kA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youtube.com/watch?v=kfrb5_6Pe_Y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573748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https://docs.aws.amazon.com/apigateway/latest/developerguide/welcome.html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117434" y="2268393"/>
            <a:ext cx="23266566" cy="9028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 APIs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Service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Back-end systems running on Amazon EC2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 any public HTTP address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https://docs.aws.amazon.com/apigateway/latest/developerguide/api-gateway-pricing.html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PI Gateway | AWS Cheat Sheet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57953" y="2268393"/>
            <a:ext cx="11459564" cy="6132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117434" y="2268393"/>
            <a:ext cx="22275966" cy="5027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AWS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endpoints in the backend / Restful API / Lambda Function: Support AWS API &amp; On-premises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API: Only resources in VPC can access API Gateway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97405" y="8720338"/>
            <a:ext cx="85010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AWS Service via Lambda Function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278" y="10013077"/>
            <a:ext cx="8811939" cy="257938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6412993" y="12135942"/>
            <a:ext cx="22365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API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31865" y="7296150"/>
            <a:ext cx="6408735" cy="529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9660" y="8154838"/>
            <a:ext cx="10116533" cy="154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117425" y="2370374"/>
            <a:ext cx="13389000" cy="79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Resource &amp; Method in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117434" y="2370385"/>
            <a:ext cx="7455066" cy="925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962" y="3295650"/>
            <a:ext cx="11589388" cy="84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9324085" y="12052013"/>
            <a:ext cx="52405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getAllDepartments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96242" y="3295650"/>
            <a:ext cx="8703977" cy="858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210271" y="12052013"/>
            <a:ext cx="54681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getDepartmentByID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871561"/>
            <a:ext cx="13888149" cy="1010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46488" y="1871561"/>
            <a:ext cx="9093515" cy="1010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9901710" y="11869771"/>
            <a:ext cx="44662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getAllDepartments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9" y="3148012"/>
            <a:ext cx="11293874" cy="801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1226" y="3148012"/>
            <a:ext cx="9034108" cy="801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1" y="3958139"/>
            <a:ext cx="11944351" cy="289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5713" y="3803659"/>
            <a:ext cx="9553575" cy="57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/>
        </p:nvSpPr>
        <p:spPr>
          <a:xfrm>
            <a:off x="1117434" y="2370385"/>
            <a:ext cx="6045366" cy="925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650" y="3208758"/>
            <a:ext cx="10163174" cy="362275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/>
          <p:nvPr/>
        </p:nvSpPr>
        <p:spPr>
          <a:xfrm>
            <a:off x="17330017" y="10196266"/>
            <a:ext cx="1132041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4">
            <a:alphaModFix/>
          </a:blip>
          <a:srcRect b="40810" l="-7719" r="7719" t="-40810"/>
          <a:stretch/>
        </p:blipFill>
        <p:spPr>
          <a:xfrm>
            <a:off x="1181099" y="6831525"/>
            <a:ext cx="10582276" cy="496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10177795" y="12034671"/>
            <a:ext cx="383790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Mock API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24175" y="3288383"/>
            <a:ext cx="6943725" cy="69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4770408" y="12032166"/>
            <a:ext cx="340509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method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1117434" y="2370385"/>
            <a:ext cx="10960266" cy="925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Resource &amp; Method in API Gateway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14583180" y="11159405"/>
            <a:ext cx="9390712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based Policy (Lambda Function)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7266747" y="12015621"/>
            <a:ext cx="9660017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getAllDepartments Lambda Function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" y="1585913"/>
            <a:ext cx="13111163" cy="415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4884265" y="5647492"/>
            <a:ext cx="3676006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resource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4967354" y="11456742"/>
            <a:ext cx="340509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method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6840" y="6649782"/>
            <a:ext cx="8250856" cy="488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3483" y="1811316"/>
            <a:ext cx="8930109" cy="2353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39214" y="4428295"/>
            <a:ext cx="9278645" cy="67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11625979" y="11701045"/>
            <a:ext cx="1132041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443" y="2147470"/>
            <a:ext cx="11033111" cy="95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8288015" y="9931728"/>
            <a:ext cx="1132041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7172971" y="12015621"/>
            <a:ext cx="984756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getDepartmentById Lambda Function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4884265" y="5647492"/>
            <a:ext cx="3676006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resource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4967354" y="11456742"/>
            <a:ext cx="340509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method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3" y="1886616"/>
            <a:ext cx="11996738" cy="3802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2890" y="6692801"/>
            <a:ext cx="8998756" cy="483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20219" y="1891629"/>
            <a:ext cx="10267635" cy="7957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269" y="4191000"/>
            <a:ext cx="13058974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/>
          <p:nvPr/>
        </p:nvSpPr>
        <p:spPr>
          <a:xfrm>
            <a:off x="11001745" y="8777121"/>
            <a:ext cx="2190023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1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Log</a:t>
            </a:r>
            <a:endParaRPr b="0" i="1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1117434" y="2370385"/>
            <a:ext cx="5873916" cy="111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738" y="4662487"/>
            <a:ext cx="6403708" cy="416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49" y="4662487"/>
            <a:ext cx="4656253" cy="416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25450" y="3898311"/>
            <a:ext cx="10398011" cy="5692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/>
        </p:nvSpPr>
        <p:spPr>
          <a:xfrm>
            <a:off x="1117434" y="2370385"/>
            <a:ext cx="5873916" cy="111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" y="4275384"/>
            <a:ext cx="12630326" cy="704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0" y="6254538"/>
            <a:ext cx="10979654" cy="308200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16891388" y="9336546"/>
            <a:ext cx="37144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getDepartmentById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794362" y="11440230"/>
            <a:ext cx="355578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getAllDepartments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/>
        </p:nvSpPr>
        <p:spPr>
          <a:xfrm>
            <a:off x="1117425" y="2370374"/>
            <a:ext cx="5473800" cy="9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1200150" y="1409699"/>
            <a:ext cx="22911000" cy="11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89612" lvl="1" marL="10556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70"/>
              <a:buFont typeface="Courier New"/>
              <a:buChar char="o"/>
            </a:pPr>
            <a:r>
              <a:rPr b="0" i="0" lang="en-US" sz="384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5828" lvl="2" marL="1500187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833"/>
              <a:buFont typeface="Noto Sans Symbols"/>
              <a:buChar char="▪"/>
            </a:pPr>
            <a:r>
              <a:rPr b="0" i="0" lang="en-US" sz="361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Edge-Optimized (default): For global clients</a:t>
            </a:r>
            <a:endParaRPr b="0" i="0" sz="3612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6185" lvl="3" marL="1944686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Times New Roman"/>
              <a:buChar char="•"/>
            </a:pPr>
            <a:r>
              <a:rPr b="0" i="0" lang="en-US" sz="3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are routed through the CloudFront Edge locations (improves latency)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6185" lvl="3" marL="1944686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Times New Roman"/>
              <a:buChar char="•"/>
            </a:pPr>
            <a:r>
              <a:rPr b="0" i="0" lang="en-US" sz="3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API Gateway still lives in only one region 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5828" lvl="2" marL="1500187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833"/>
              <a:buFont typeface="Noto Sans Symbols"/>
              <a:buChar char="▪"/>
            </a:pPr>
            <a:r>
              <a:rPr b="0" i="0" lang="en-US" sz="361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Regional: For clients within the same region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6185" lvl="3" marL="1944686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Times New Roman"/>
              <a:buChar char="•"/>
            </a:pPr>
            <a:r>
              <a:rPr b="0" i="0" lang="en-US" sz="3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Could manually combine with CloudFront (more control over the caching strategies and the distribution)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5828" lvl="2" marL="1500187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833"/>
              <a:buFont typeface="Noto Sans Symbols"/>
              <a:buChar char="▪"/>
            </a:pPr>
            <a:r>
              <a:rPr b="0" i="0" lang="en-US" sz="361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endParaRPr b="0" i="0" sz="3612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6185" lvl="3" marL="1944686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Times New Roman"/>
              <a:buChar char="•"/>
            </a:pPr>
            <a:r>
              <a:rPr b="0" i="0" lang="en-US" sz="3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only be accessed from your VPC using an interface VPC endpoint (ENI)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6185" lvl="3" marL="1944686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Times New Roman"/>
              <a:buChar char="•"/>
            </a:pPr>
            <a:r>
              <a:rPr b="0" i="0" lang="en-US" sz="3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resource policy to define access</a:t>
            </a:r>
            <a:endParaRPr b="0" i="0" sz="1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275" y="2773728"/>
            <a:ext cx="7687223" cy="1739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1117434" y="2370385"/>
            <a:ext cx="16917647" cy="9536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Path, HTTP method, Query String, Header, ... mapping to resources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(API, HTTP address,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 Link: ALB, NLB, SQS, …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both Stateful API (WebSocket) &amp; Stateless API (HTTP, REST)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config: timeout, proxy, CORS, ...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5286" y="5338885"/>
            <a:ext cx="10143114" cy="40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1117434" y="2370386"/>
            <a:ext cx="23266566" cy="235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Authorizers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Authentication &amp; Authorization with IAM Policy, Lambda authorizer functions, Cognito user pools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95" y="6456594"/>
            <a:ext cx="7991932" cy="3344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4628" y="6256793"/>
            <a:ext cx="7139098" cy="345566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>
            <a:off x="3048312" y="9822535"/>
            <a:ext cx="2122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86933" y="9776368"/>
            <a:ext cx="5854488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1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authorizer functions</a:t>
            </a:r>
            <a:endParaRPr b="0" i="1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8384730" y="9776368"/>
            <a:ext cx="36006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 user pools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83401" y="6320698"/>
            <a:ext cx="8203324" cy="345567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6811374" y="12001213"/>
            <a:ext cx="102659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https://www.youtube.com/watch?v=al5I9v5Y-kA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1117434" y="2370386"/>
            <a:ext cx="23266566" cy="235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Stages: dev, prod, beta, v1, v2,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7175" y="5055220"/>
            <a:ext cx="18474349" cy="6326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1117434" y="2370386"/>
            <a:ext cx="11256149" cy="1047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request throttling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document for developer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 API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encoding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API from Swagger / Open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Monitoring: CloudWatch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3919034" y="2370385"/>
            <a:ext cx="10693566" cy="10012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7154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Noto Sans Symbols"/>
              <a:buNone/>
            </a:pPr>
            <a:r>
              <a:t/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&amp; validate requests &amp; responses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API responses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domain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/>
        </p:nvSpPr>
        <p:spPr>
          <a:xfrm>
            <a:off x="1117433" y="2370385"/>
            <a:ext cx="23133217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 APIs for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Service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endpoints in the backend / Restful API / Lambda Function: Support AWS API &amp; On-premises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API: Only resources in VPC can access 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 any public HTTP address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Components: Type, Resource, Authorizers, Error Response, Stages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