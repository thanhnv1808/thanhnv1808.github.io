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3716000" cx="24384000"/>
  <p:notesSz cx="6797675" cy="9929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27" roundtripDataSignature="AMtx7mhIqdfqeCm0yokZVHHomZT91T1D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1pPr>
            <a:lvl2pPr indent="-228600" lvl="1" marL="9144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2pPr>
            <a:lvl3pPr indent="-228600" lvl="2" marL="13716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3pPr>
            <a:lvl4pPr indent="-228600" lvl="3" marL="18288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4pPr>
            <a:lvl5pPr indent="-228600" lvl="4" marL="22860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5pPr>
            <a:lvl6pPr indent="-228600" lvl="5" marL="27432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6pPr>
            <a:lvl7pPr indent="-228600" lvl="6" marL="32004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7pPr>
            <a:lvl8pPr indent="-228600" lvl="7" marL="36576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8pPr>
            <a:lvl9pPr indent="-228600" lvl="8" marL="4114800" marR="0" rtl="0" algn="l">
              <a:lnSpc>
                <a:spcPct val="117999"/>
              </a:lnSpc>
              <a:spcBef>
                <a:spcPts val="0"/>
              </a:spcBef>
              <a:spcAft>
                <a:spcPts val="0"/>
              </a:spcAft>
              <a:buSzPts val="1400"/>
              <a:buNone/>
              <a:defRPr b="0" i="0" sz="2200" u="none" cap="none" strike="noStrike">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6: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9: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1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1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3: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4: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1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5: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6: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7: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8: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9: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0:notes"/>
          <p:cNvSpPr txBox="1"/>
          <p:nvPr>
            <p:ph idx="1" type="body"/>
          </p:nvPr>
        </p:nvSpPr>
        <p:spPr>
          <a:xfrm>
            <a:off x="906357" y="4716661"/>
            <a:ext cx="4984962" cy="4468416"/>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
        <p:nvSpPr>
          <p:cNvPr id="173" name="Google Shape;173;p21:notes"/>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Calibri"/>
              <a:buNone/>
            </a:pPr>
            <a:fld id="{00000000-1234-1234-1234-123412341234}" type="slidenum">
              <a:rPr b="1" i="0" lang="en-US" sz="3200" u="none" cap="none" strike="noStrike">
                <a:solidFill>
                  <a:srgbClr val="000000"/>
                </a:solidFill>
                <a:latin typeface="Calibri"/>
                <a:ea typeface="Calibri"/>
                <a:cs typeface="Calibri"/>
                <a:sym typeface="Calibri"/>
              </a:rPr>
              <a:t>‹#›</a:t>
            </a:fld>
            <a:endParaRPr b="1" i="0" sz="3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23"/>
          <p:cNvPicPr preferRelativeResize="0"/>
          <p:nvPr/>
        </p:nvPicPr>
        <p:blipFill rotWithShape="1">
          <a:blip r:embed="rId2">
            <a:alphaModFix/>
          </a:blip>
          <a:srcRect b="0" l="0" r="0" t="0"/>
          <a:stretch/>
        </p:blipFill>
        <p:spPr>
          <a:xfrm>
            <a:off x="21017132" y="859479"/>
            <a:ext cx="2950192" cy="1131834"/>
          </a:xfrm>
          <a:prstGeom prst="rect">
            <a:avLst/>
          </a:prstGeom>
          <a:noFill/>
          <a:ln>
            <a:noFill/>
          </a:ln>
        </p:spPr>
      </p:pic>
      <p:pic>
        <p:nvPicPr>
          <p:cNvPr id="11" name="Google Shape;11;p2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2" name="Shape 12"/>
        <p:cNvGrpSpPr/>
        <p:nvPr/>
      </p:nvGrpSpPr>
      <p:grpSpPr>
        <a:xfrm>
          <a:off x="0" y="0"/>
          <a:ext cx="0" cy="0"/>
          <a:chOff x="0" y="0"/>
          <a:chExt cx="0" cy="0"/>
        </a:xfrm>
      </p:grpSpPr>
      <p:cxnSp>
        <p:nvCxnSpPr>
          <p:cNvPr id="13" name="Google Shape;13;p24"/>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4" name="Google Shape;14;p24"/>
          <p:cNvSpPr/>
          <p:nvPr/>
        </p:nvSpPr>
        <p:spPr>
          <a:xfrm>
            <a:off x="0" y="12670972"/>
            <a:ext cx="24384000"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Times New Roman"/>
              <a:buNone/>
            </a:pPr>
            <a:r>
              <a:t/>
            </a:r>
            <a:endParaRPr b="1" i="0" sz="3600" u="none" cap="none" strike="noStrike">
              <a:solidFill>
                <a:schemeClr val="lt1"/>
              </a:solidFill>
              <a:latin typeface="Calibri"/>
              <a:ea typeface="Calibri"/>
              <a:cs typeface="Calibri"/>
              <a:sym typeface="Calibri"/>
            </a:endParaRPr>
          </a:p>
        </p:txBody>
      </p:sp>
      <p:sp>
        <p:nvSpPr>
          <p:cNvPr id="15" name="Google Shape;15;p24"/>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Times New Roman"/>
              <a:buNone/>
            </a:pPr>
            <a:r>
              <a:rPr b="1" i="0" lang="en-US" sz="3200" u="none" cap="none" strike="noStrike">
                <a:solidFill>
                  <a:schemeClr val="lt1"/>
                </a:solidFill>
                <a:latin typeface="Times New Roman"/>
                <a:ea typeface="Times New Roman"/>
                <a:cs typeface="Times New Roman"/>
                <a:sym typeface="Times New Roman"/>
              </a:rPr>
              <a:t>Copyright </a:t>
            </a:r>
            <a:r>
              <a:rPr b="1" i="1" lang="en-US" sz="3200" u="none" cap="none" strike="noStrike">
                <a:solidFill>
                  <a:schemeClr val="lt1"/>
                </a:solidFill>
                <a:latin typeface="Times New Roman"/>
                <a:ea typeface="Times New Roman"/>
                <a:cs typeface="Times New Roman"/>
                <a:sym typeface="Times New Roman"/>
              </a:rPr>
              <a:t>© </a:t>
            </a:r>
            <a:r>
              <a:rPr b="1" i="0" lang="en-US" sz="3200" u="none" cap="none" strike="noStrike">
                <a:solidFill>
                  <a:schemeClr val="lt1"/>
                </a:solidFill>
                <a:latin typeface="Times New Roman"/>
                <a:ea typeface="Times New Roman"/>
                <a:cs typeface="Times New Roman"/>
                <a:sym typeface="Times New Roman"/>
              </a:rPr>
              <a:t>VTI Academy All Right Reserved </a:t>
            </a:r>
            <a:endParaRPr b="1" i="0" sz="3200" u="none" cap="none" strike="noStrike">
              <a:solidFill>
                <a:schemeClr val="lt1"/>
              </a:solidFill>
              <a:latin typeface="Times New Roman"/>
              <a:ea typeface="Times New Roman"/>
              <a:cs typeface="Times New Roman"/>
              <a:sym typeface="Times New Roman"/>
            </a:endParaRPr>
          </a:p>
        </p:txBody>
      </p:sp>
      <p:cxnSp>
        <p:nvCxnSpPr>
          <p:cNvPr id="16" name="Google Shape;16;p24"/>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17" name="Google Shape;17;p24"/>
          <p:cNvCxnSpPr/>
          <p:nvPr/>
        </p:nvCxnSpPr>
        <p:spPr>
          <a:xfrm>
            <a:off x="0" y="12670972"/>
            <a:ext cx="24384000"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18" name="Google Shape;18;p24"/>
          <p:cNvPicPr preferRelativeResize="0"/>
          <p:nvPr/>
        </p:nvPicPr>
        <p:blipFill rotWithShape="1">
          <a:blip r:embed="rId2">
            <a:alphaModFix/>
          </a:blip>
          <a:srcRect b="0" l="0" r="0" t="0"/>
          <a:stretch/>
        </p:blipFill>
        <p:spPr>
          <a:xfrm>
            <a:off x="19252276" y="-25180"/>
            <a:ext cx="5131724" cy="143757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19" name="Shape 19"/>
        <p:cNvGrpSpPr/>
        <p:nvPr/>
      </p:nvGrpSpPr>
      <p:grpSpPr>
        <a:xfrm>
          <a:off x="0" y="0"/>
          <a:ext cx="0" cy="0"/>
          <a:chOff x="0" y="0"/>
          <a:chExt cx="0" cy="0"/>
        </a:xfrm>
      </p:grpSpPr>
      <p:sp>
        <p:nvSpPr>
          <p:cNvPr id="20" name="Google Shape;20;p25"/>
          <p:cNvSpPr txBox="1"/>
          <p:nvPr>
            <p:ph type="title"/>
          </p:nvPr>
        </p:nvSpPr>
        <p:spPr>
          <a:xfrm>
            <a:off x="1845217" y="357188"/>
            <a:ext cx="18701658"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 name="Google Shape;21;p25"/>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9pPr>
          </a:lstStyle>
          <a:p/>
        </p:txBody>
      </p:sp>
      <p:sp>
        <p:nvSpPr>
          <p:cNvPr id="22" name="Google Shape;22;p25"/>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3200"/>
              <a:buFont typeface="Times New Roman"/>
              <a:buNone/>
              <a:defRPr b="1" i="0" sz="3200" u="none" cap="none" strike="noStrike">
                <a:solidFill>
                  <a:srgbClr val="000000"/>
                </a:solidFill>
                <a:latin typeface="Times New Roman"/>
                <a:ea typeface="Times New Roman"/>
                <a:cs typeface="Times New Roman"/>
                <a:sym typeface="Times New Roman"/>
              </a:defRPr>
            </a:lvl9pPr>
          </a:lstStyle>
          <a:p/>
        </p:txBody>
      </p:sp>
      <p:sp>
        <p:nvSpPr>
          <p:cNvPr id="23" name="Google Shape;23;p25"/>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algn="ctr">
              <a:lnSpc>
                <a:spcPct val="100000"/>
              </a:lnSpc>
              <a:spcBef>
                <a:spcPts val="0"/>
              </a:spcBef>
              <a:spcAft>
                <a:spcPts val="0"/>
              </a:spcAft>
              <a:buClr>
                <a:srgbClr val="000000"/>
              </a:buClr>
              <a:buSzPts val="2200"/>
              <a:buFont typeface="Times New Roman"/>
              <a:buNone/>
              <a:defRPr/>
            </a:lvl1pPr>
            <a:lvl2pPr indent="0" lvl="1" marL="0" algn="ctr">
              <a:lnSpc>
                <a:spcPct val="100000"/>
              </a:lnSpc>
              <a:spcBef>
                <a:spcPts val="0"/>
              </a:spcBef>
              <a:spcAft>
                <a:spcPts val="0"/>
              </a:spcAft>
              <a:buClr>
                <a:srgbClr val="000000"/>
              </a:buClr>
              <a:buSzPts val="2200"/>
              <a:buFont typeface="Times New Roman"/>
              <a:buNone/>
              <a:defRPr/>
            </a:lvl2pPr>
            <a:lvl3pPr indent="0" lvl="2" marL="0" algn="ctr">
              <a:lnSpc>
                <a:spcPct val="100000"/>
              </a:lnSpc>
              <a:spcBef>
                <a:spcPts val="0"/>
              </a:spcBef>
              <a:spcAft>
                <a:spcPts val="0"/>
              </a:spcAft>
              <a:buClr>
                <a:srgbClr val="000000"/>
              </a:buClr>
              <a:buSzPts val="2200"/>
              <a:buFont typeface="Times New Roman"/>
              <a:buNone/>
              <a:defRPr/>
            </a:lvl3pPr>
            <a:lvl4pPr indent="0" lvl="3" marL="0" algn="ctr">
              <a:lnSpc>
                <a:spcPct val="100000"/>
              </a:lnSpc>
              <a:spcBef>
                <a:spcPts val="0"/>
              </a:spcBef>
              <a:spcAft>
                <a:spcPts val="0"/>
              </a:spcAft>
              <a:buClr>
                <a:srgbClr val="000000"/>
              </a:buClr>
              <a:buSzPts val="2200"/>
              <a:buFont typeface="Times New Roman"/>
              <a:buNone/>
              <a:defRPr/>
            </a:lvl4pPr>
            <a:lvl5pPr indent="0" lvl="4" marL="0" algn="ctr">
              <a:lnSpc>
                <a:spcPct val="100000"/>
              </a:lnSpc>
              <a:spcBef>
                <a:spcPts val="0"/>
              </a:spcBef>
              <a:spcAft>
                <a:spcPts val="0"/>
              </a:spcAft>
              <a:buClr>
                <a:srgbClr val="000000"/>
              </a:buClr>
              <a:buSzPts val="2200"/>
              <a:buFont typeface="Times New Roman"/>
              <a:buNone/>
              <a:defRPr/>
            </a:lvl5pPr>
            <a:lvl6pPr indent="0" lvl="5" marL="0" algn="ctr">
              <a:lnSpc>
                <a:spcPct val="100000"/>
              </a:lnSpc>
              <a:spcBef>
                <a:spcPts val="0"/>
              </a:spcBef>
              <a:spcAft>
                <a:spcPts val="0"/>
              </a:spcAft>
              <a:buClr>
                <a:srgbClr val="000000"/>
              </a:buClr>
              <a:buSzPts val="2200"/>
              <a:buFont typeface="Times New Roman"/>
              <a:buNone/>
              <a:defRPr/>
            </a:lvl6pPr>
            <a:lvl7pPr indent="0" lvl="6" marL="0" algn="ctr">
              <a:lnSpc>
                <a:spcPct val="100000"/>
              </a:lnSpc>
              <a:spcBef>
                <a:spcPts val="0"/>
              </a:spcBef>
              <a:spcAft>
                <a:spcPts val="0"/>
              </a:spcAft>
              <a:buClr>
                <a:srgbClr val="000000"/>
              </a:buClr>
              <a:buSzPts val="2200"/>
              <a:buFont typeface="Times New Roman"/>
              <a:buNone/>
              <a:defRPr/>
            </a:lvl7pPr>
            <a:lvl8pPr indent="0" lvl="7" marL="0" algn="ctr">
              <a:lnSpc>
                <a:spcPct val="100000"/>
              </a:lnSpc>
              <a:spcBef>
                <a:spcPts val="0"/>
              </a:spcBef>
              <a:spcAft>
                <a:spcPts val="0"/>
              </a:spcAft>
              <a:buClr>
                <a:srgbClr val="000000"/>
              </a:buClr>
              <a:buSzPts val="2200"/>
              <a:buFont typeface="Times New Roman"/>
              <a:buNone/>
              <a:defRPr/>
            </a:lvl8pPr>
            <a:lvl9pPr indent="0" lvl="8" marL="0" algn="ctr">
              <a:lnSpc>
                <a:spcPct val="100000"/>
              </a:lnSpc>
              <a:spcBef>
                <a:spcPts val="0"/>
              </a:spcBef>
              <a:spcAft>
                <a:spcPts val="0"/>
              </a:spcAft>
              <a:buClr>
                <a:srgbClr val="000000"/>
              </a:buClr>
              <a:buSzPts val="2200"/>
              <a:buFont typeface="Times New Roman"/>
              <a:buNone/>
              <a:defRPr/>
            </a:lvl9pPr>
          </a:lstStyle>
          <a:p>
            <a:pPr indent="0" lvl="0" marL="0" rtl="0" algn="ctr">
              <a:spcBef>
                <a:spcPts val="0"/>
              </a:spcBef>
              <a:spcAft>
                <a:spcPts val="0"/>
              </a:spcAft>
              <a:buNone/>
            </a:pPr>
            <a:fld id="{00000000-1234-1234-1234-123412341234}" type="slidenum">
              <a:rPr lang="en-US"/>
              <a:t>‹#›</a:t>
            </a:fld>
            <a:endParaRPr/>
          </a:p>
        </p:txBody>
      </p:sp>
      <p:cxnSp>
        <p:nvCxnSpPr>
          <p:cNvPr id="24" name="Google Shape;24;p25"/>
          <p:cNvCxnSpPr/>
          <p:nvPr/>
        </p:nvCxnSpPr>
        <p:spPr>
          <a:xfrm>
            <a:off x="1845217" y="1893677"/>
            <a:ext cx="18701658"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5" name="Google Shape;25;p25"/>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6" name="Shape 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387453" y="357187"/>
            <a:ext cx="15609094"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1200"/>
              <a:buFont typeface="Times New Roman"/>
              <a:buNone/>
              <a:defRPr b="0" i="0" sz="11200" u="none" cap="none" strike="noStrike">
                <a:solidFill>
                  <a:srgbClr val="000000"/>
                </a:solidFill>
                <a:latin typeface="Times New Roman"/>
                <a:ea typeface="Times New Roman"/>
                <a:cs typeface="Times New Roman"/>
                <a:sym typeface="Times New Roman"/>
              </a:defRPr>
            </a:lvl9pPr>
          </a:lstStyle>
          <a:p/>
        </p:txBody>
      </p:sp>
      <p:sp>
        <p:nvSpPr>
          <p:cNvPr id="7" name="Google Shape;7;p22"/>
          <p:cNvSpPr txBox="1"/>
          <p:nvPr>
            <p:ph idx="1" type="body"/>
          </p:nvPr>
        </p:nvSpPr>
        <p:spPr>
          <a:xfrm>
            <a:off x="4387453" y="3643312"/>
            <a:ext cx="15609094"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1pPr>
            <a:lvl2pPr indent="-633730" lvl="1" marL="9144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2pPr>
            <a:lvl3pPr indent="-633730" lvl="2" marL="13716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3pPr>
            <a:lvl4pPr indent="-633730" lvl="3" marL="18288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4pPr>
            <a:lvl5pPr indent="-633729" lvl="4" marL="22860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5pPr>
            <a:lvl6pPr indent="-633729" lvl="5" marL="27432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6pPr>
            <a:lvl7pPr indent="-633729" lvl="6" marL="32004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7pPr>
            <a:lvl8pPr indent="-633729" lvl="7" marL="36576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8pPr>
            <a:lvl9pPr indent="-633729" lvl="8" marL="4114800" marR="0" rtl="0" algn="l">
              <a:lnSpc>
                <a:spcPct val="100000"/>
              </a:lnSpc>
              <a:spcBef>
                <a:spcPts val="5900"/>
              </a:spcBef>
              <a:spcAft>
                <a:spcPts val="0"/>
              </a:spcAft>
              <a:buClr>
                <a:srgbClr val="000000"/>
              </a:buClr>
              <a:buSzPts val="6380"/>
              <a:buFont typeface="Times New Roman"/>
              <a:buChar char="•"/>
              <a:defRPr b="0" i="0" sz="4400" u="none" cap="none" strike="noStrike">
                <a:solidFill>
                  <a:srgbClr val="000000"/>
                </a:solidFill>
                <a:latin typeface="Times New Roman"/>
                <a:ea typeface="Times New Roman"/>
                <a:cs typeface="Times New Roman"/>
                <a:sym typeface="Times New Roman"/>
              </a:defRPr>
            </a:lvl9pPr>
          </a:lstStyle>
          <a:p/>
        </p:txBody>
      </p:sp>
      <p:sp>
        <p:nvSpPr>
          <p:cNvPr id="8" name="Google Shape;8;p2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000000"/>
              </a:buClr>
              <a:buSzPts val="2200"/>
              <a:buFont typeface="Times New Roman"/>
              <a:buNone/>
              <a:defRPr b="0" i="0" sz="2200" u="none" cap="none" strike="noStrike">
                <a:solidFill>
                  <a:srgbClr val="000000"/>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mailto:duy.nguyenngoc1@vti.com.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ocs.aws.amazon.com/snowball" TargetMode="Externa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aws.amazon.com/snowball/pricing" TargetMode="External"/><Relationship Id="rId4" Type="http://schemas.openxmlformats.org/officeDocument/2006/relationships/image" Target="../media/image14.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hyperlink" Target="https://docs.aws.amazon.com/snowball/latest/ug/how-it-works.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aws.amazon.com/snowcone/pricing" TargetMode="External"/><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aws.amazon.com/snowball/pricing" TargetMode="External"/><Relationship Id="rId4" Type="http://schemas.openxmlformats.org/officeDocument/2006/relationships/image" Target="../media/image17.png"/><Relationship Id="rId5" Type="http://schemas.openxmlformats.org/officeDocument/2006/relationships/hyperlink" Target="https://docs.aws.amazon.com/snowball/latest/developer-guide/device-differences.html" TargetMode="External"/><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hyperlink" Target="https://www.youtube.com/watch?v=_A3A47Vuu0I"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docs.aws.amazon.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A picture containing drawing&#10;&#10;Description automatically generated" id="31" name="Google Shape;31;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2" name="Google Shape;32;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Times New Roman"/>
              <a:buNone/>
            </a:pPr>
            <a:r>
              <a:rPr b="1" i="0" lang="en-US" sz="3100" u="none" cap="none" strike="noStrike">
                <a:solidFill>
                  <a:srgbClr val="0079BF"/>
                </a:solidFill>
                <a:latin typeface="Times New Roman"/>
                <a:ea typeface="Times New Roman"/>
                <a:cs typeface="Times New Roman"/>
                <a:sym typeface="Times New Roman"/>
              </a:rPr>
              <a:t>WAY TO ENTERPRISE</a:t>
            </a:r>
            <a:endParaRPr/>
          </a:p>
        </p:txBody>
      </p:sp>
      <p:sp>
        <p:nvSpPr>
          <p:cNvPr id="33" name="Google Shape;33;p1"/>
          <p:cNvSpPr txBox="1"/>
          <p:nvPr/>
        </p:nvSpPr>
        <p:spPr>
          <a:xfrm>
            <a:off x="1215678" y="4549070"/>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Times New Roman"/>
              <a:buNone/>
            </a:pPr>
            <a:r>
              <a:rPr b="0" i="0" lang="en-US" sz="10000" u="none" cap="none" strike="noStrike">
                <a:solidFill>
                  <a:srgbClr val="0079BF"/>
                </a:solidFill>
                <a:latin typeface="Times New Roman"/>
                <a:ea typeface="Times New Roman"/>
                <a:cs typeface="Times New Roman"/>
                <a:sym typeface="Times New Roman"/>
              </a:rPr>
              <a:t>AWS</a:t>
            </a:r>
            <a:endParaRPr b="0" i="0" sz="10000" u="none" cap="none" strike="noStrike">
              <a:solidFill>
                <a:srgbClr val="0079BF"/>
              </a:solidFill>
              <a:latin typeface="Times New Roman"/>
              <a:ea typeface="Times New Roman"/>
              <a:cs typeface="Times New Roman"/>
              <a:sym typeface="Times New Roman"/>
            </a:endParaRPr>
          </a:p>
        </p:txBody>
      </p:sp>
      <p:sp>
        <p:nvSpPr>
          <p:cNvPr id="34" name="Google Shape;34;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Times New Roman"/>
              <a:buNone/>
            </a:pPr>
            <a:r>
              <a:rPr b="1" i="0" lang="en-US" sz="5000" u="none" cap="none" strike="noStrike">
                <a:solidFill>
                  <a:srgbClr val="0079BF"/>
                </a:solidFill>
                <a:latin typeface="Times New Roman"/>
                <a:ea typeface="Times New Roman"/>
                <a:cs typeface="Times New Roman"/>
                <a:sym typeface="Times New Roman"/>
              </a:rPr>
              <a:t>VTI ACADEMY</a:t>
            </a:r>
            <a:endParaRPr/>
          </a:p>
          <a:p>
            <a:pPr indent="0" lvl="0" marL="0" marR="0" rtl="0" algn="l">
              <a:lnSpc>
                <a:spcPct val="100000"/>
              </a:lnSpc>
              <a:spcBef>
                <a:spcPts val="1000"/>
              </a:spcBef>
              <a:spcAft>
                <a:spcPts val="0"/>
              </a:spcAft>
              <a:buClr>
                <a:srgbClr val="0079BF"/>
              </a:buClr>
              <a:buSzPts val="3000"/>
              <a:buFont typeface="Times New Roman"/>
              <a:buNone/>
            </a:pPr>
            <a:r>
              <a:rPr b="1" i="0" lang="en-US" sz="5000" u="none" cap="none" strike="noStrike">
                <a:solidFill>
                  <a:srgbClr val="0079BF"/>
                </a:solidFill>
                <a:latin typeface="Times New Roman"/>
                <a:ea typeface="Times New Roman"/>
                <a:cs typeface="Times New Roman"/>
                <a:sym typeface="Times New Roman"/>
              </a:rPr>
              <a:t>Author: </a:t>
            </a:r>
            <a:r>
              <a:rPr b="1" i="0" lang="en-US" sz="5000" u="sng" cap="none" strike="noStrike">
                <a:solidFill>
                  <a:srgbClr val="0079BF"/>
                </a:solidFill>
                <a:latin typeface="Times New Roman"/>
                <a:ea typeface="Times New Roman"/>
                <a:cs typeface="Times New Roman"/>
                <a:sym typeface="Times New Roman"/>
                <a:hlinkClick r:id="rId4">
                  <a:extLst>
                    <a:ext uri="{A12FA001-AC4F-418D-AE19-62706E023703}">
                      <ahyp:hlinkClr val="tx"/>
                    </a:ext>
                  </a:extLst>
                </a:hlinkClick>
              </a:rPr>
              <a:t>duy.nguyenngoc1@vti.com.vn</a:t>
            </a:r>
            <a:endParaRPr b="1" i="0" sz="5000" u="none" cap="none" strike="noStrike">
              <a:solidFill>
                <a:srgbClr val="0079BF"/>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79BF"/>
              </a:buClr>
              <a:buSzPts val="3000"/>
              <a:buFont typeface="Times New Roman"/>
              <a:buNone/>
            </a:pPr>
            <a:r>
              <a:t/>
            </a:r>
            <a:endParaRPr b="1" i="0" sz="5000" u="none" cap="none" strike="noStrike">
              <a:solidFill>
                <a:srgbClr val="0079B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txBox="1"/>
          <p:nvPr/>
        </p:nvSpPr>
        <p:spPr>
          <a:xfrm>
            <a:off x="1200150" y="348477"/>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40" name="Google Shape;40;p2"/>
          <p:cNvSpPr txBox="1"/>
          <p:nvPr/>
        </p:nvSpPr>
        <p:spPr>
          <a:xfrm>
            <a:off x="1200151" y="2370386"/>
            <a:ext cx="17449799" cy="5173414"/>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Using for transfer large amount of data between on-premises and S3 </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Highly-secure, portable devices</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Transfer faster, cheaper than over the internet</a:t>
            </a:r>
            <a:endParaRPr/>
          </a:p>
          <a:p>
            <a:pPr indent="-428625" lvl="0" marL="428625" marR="0" rtl="0" algn="l">
              <a:lnSpc>
                <a:spcPct val="100000"/>
              </a:lnSpc>
              <a:spcBef>
                <a:spcPts val="590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Transfer data from several TB</a:t>
            </a:r>
            <a:endParaRPr/>
          </a:p>
        </p:txBody>
      </p:sp>
      <p:sp>
        <p:nvSpPr>
          <p:cNvPr id="41" name="Google Shape;41;p2"/>
          <p:cNvSpPr/>
          <p:nvPr/>
        </p:nvSpPr>
        <p:spPr>
          <a:xfrm>
            <a:off x="5981700" y="11980724"/>
            <a:ext cx="1200785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https://docs.aws.amazon.com/snowball</a:t>
            </a:r>
            <a:endParaRPr b="0" i="1" sz="3200" u="none" cap="none" strike="noStrike">
              <a:solidFill>
                <a:srgbClr val="000000"/>
              </a:solidFill>
              <a:latin typeface="Times New Roman"/>
              <a:ea typeface="Times New Roman"/>
              <a:cs typeface="Times New Roman"/>
              <a:sym typeface="Times New Roman"/>
            </a:endParaRPr>
          </a:p>
        </p:txBody>
      </p:sp>
      <p:pic>
        <p:nvPicPr>
          <p:cNvPr id="42" name="Google Shape;42;p2"/>
          <p:cNvPicPr preferRelativeResize="0"/>
          <p:nvPr/>
        </p:nvPicPr>
        <p:blipFill rotWithShape="1">
          <a:blip r:embed="rId4">
            <a:alphaModFix/>
          </a:blip>
          <a:srcRect b="0" l="0" r="0" t="0"/>
          <a:stretch/>
        </p:blipFill>
        <p:spPr>
          <a:xfrm>
            <a:off x="4397991" y="7543800"/>
            <a:ext cx="15175268" cy="40368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3"/>
          <p:cNvSpPr txBox="1"/>
          <p:nvPr/>
        </p:nvSpPr>
        <p:spPr>
          <a:xfrm>
            <a:off x="1200150" y="393081"/>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48" name="Google Shape;48;p3"/>
          <p:cNvSpPr txBox="1"/>
          <p:nvPr/>
        </p:nvSpPr>
        <p:spPr>
          <a:xfrm>
            <a:off x="1200151" y="2370386"/>
            <a:ext cx="21316949" cy="6463937"/>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Usecases</a:t>
            </a:r>
            <a:endParaRPr b="0" i="0" sz="4000" u="none" cap="none" strike="noStrike">
              <a:solidFill>
                <a:srgbClr val="000000"/>
              </a:solidFill>
              <a:latin typeface="Times New Roman"/>
              <a:ea typeface="Times New Roman"/>
              <a:cs typeface="Times New Roman"/>
              <a:sym typeface="Times New Roman"/>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Import/export large amount of data (from several TB) between on-premises and S3</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Use device as local storage</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DC decommission, disaster recovery</a:t>
            </a:r>
            <a:endParaRPr/>
          </a:p>
          <a:p>
            <a:pPr indent="-611187" lvl="0" marL="611187" marR="0" rtl="0" algn="l">
              <a:lnSpc>
                <a:spcPct val="100000"/>
              </a:lnSpc>
              <a:spcBef>
                <a:spcPts val="5900"/>
              </a:spcBef>
              <a:spcAft>
                <a:spcPts val="0"/>
              </a:spcAft>
              <a:buClr>
                <a:srgbClr val="000000"/>
              </a:buClr>
              <a:buSzPts val="5510"/>
              <a:buFont typeface="Noto Sans Symbols"/>
              <a:buChar char="⮚"/>
            </a:pPr>
            <a:r>
              <a:rPr b="0" i="0" lang="en-US" sz="3800" u="none" cap="none" strike="noStrike">
                <a:solidFill>
                  <a:srgbClr val="000000"/>
                </a:solidFill>
                <a:latin typeface="Times New Roman"/>
                <a:ea typeface="Times New Roman"/>
                <a:cs typeface="Times New Roman"/>
                <a:sym typeface="Times New Roman"/>
              </a:rPr>
              <a:t> </a:t>
            </a:r>
            <a:r>
              <a:rPr b="0" i="0" lang="en-US" sz="4000" u="none" cap="none" strike="noStrike">
                <a:solidFill>
                  <a:srgbClr val="000000"/>
                </a:solidFill>
                <a:latin typeface="Times New Roman"/>
                <a:ea typeface="Times New Roman"/>
                <a:cs typeface="Times New Roman"/>
                <a:sym typeface="Times New Roman"/>
              </a:rPr>
              <a:t>Price: </a:t>
            </a:r>
            <a:r>
              <a:rPr b="0" i="0" lang="en-US" sz="40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https://aws.amazon.com/snowball/pricing</a:t>
            </a:r>
            <a:r>
              <a:rPr b="0" i="0" lang="en-US" sz="4000" u="none" cap="none" strike="noStrike">
                <a:solidFill>
                  <a:srgbClr val="000000"/>
                </a:solidFill>
                <a:latin typeface="Times New Roman"/>
                <a:ea typeface="Times New Roman"/>
                <a:cs typeface="Times New Roman"/>
                <a:sym typeface="Times New Roman"/>
              </a:rPr>
              <a:t>  </a:t>
            </a:r>
            <a:endParaRPr/>
          </a:p>
        </p:txBody>
      </p:sp>
      <p:sp>
        <p:nvSpPr>
          <p:cNvPr id="49" name="Google Shape;49;p3"/>
          <p:cNvSpPr/>
          <p:nvPr/>
        </p:nvSpPr>
        <p:spPr>
          <a:xfrm>
            <a:off x="4413043" y="11998048"/>
            <a:ext cx="149352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If it takes more than a week to transfer over the internet, use Snowball devices!</a:t>
            </a:r>
            <a:endParaRPr/>
          </a:p>
        </p:txBody>
      </p:sp>
      <p:pic>
        <p:nvPicPr>
          <p:cNvPr id="50" name="Google Shape;50;p3"/>
          <p:cNvPicPr preferRelativeResize="0"/>
          <p:nvPr/>
        </p:nvPicPr>
        <p:blipFill rotWithShape="1">
          <a:blip r:embed="rId4">
            <a:alphaModFix/>
          </a:blip>
          <a:srcRect b="0" l="0" r="0" t="0"/>
          <a:stretch/>
        </p:blipFill>
        <p:spPr>
          <a:xfrm>
            <a:off x="4590696" y="8984282"/>
            <a:ext cx="5661251" cy="1862254"/>
          </a:xfrm>
          <a:prstGeom prst="rect">
            <a:avLst/>
          </a:prstGeom>
          <a:noFill/>
          <a:ln>
            <a:noFill/>
          </a:ln>
        </p:spPr>
      </p:pic>
      <p:pic>
        <p:nvPicPr>
          <p:cNvPr id="51" name="Google Shape;51;p3"/>
          <p:cNvPicPr preferRelativeResize="0"/>
          <p:nvPr/>
        </p:nvPicPr>
        <p:blipFill rotWithShape="1">
          <a:blip r:embed="rId5">
            <a:alphaModFix/>
          </a:blip>
          <a:srcRect b="0" l="0" r="0" t="0"/>
          <a:stretch/>
        </p:blipFill>
        <p:spPr>
          <a:xfrm>
            <a:off x="11167968" y="8834323"/>
            <a:ext cx="9844182" cy="1928927"/>
          </a:xfrm>
          <a:prstGeom prst="rect">
            <a:avLst/>
          </a:prstGeom>
          <a:noFill/>
          <a:ln>
            <a:noFill/>
          </a:ln>
        </p:spPr>
      </p:pic>
      <p:sp>
        <p:nvSpPr>
          <p:cNvPr id="52" name="Google Shape;52;p3"/>
          <p:cNvSpPr/>
          <p:nvPr/>
        </p:nvSpPr>
        <p:spPr>
          <a:xfrm>
            <a:off x="4951067" y="10789386"/>
            <a:ext cx="494050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Direct upload to S3</a:t>
            </a:r>
            <a:endParaRPr/>
          </a:p>
        </p:txBody>
      </p:sp>
      <p:sp>
        <p:nvSpPr>
          <p:cNvPr id="53" name="Google Shape;53;p3"/>
          <p:cNvSpPr/>
          <p:nvPr/>
        </p:nvSpPr>
        <p:spPr>
          <a:xfrm>
            <a:off x="13619805" y="10815637"/>
            <a:ext cx="494050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Snow Family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4"/>
          <p:cNvSpPr txBox="1"/>
          <p:nvPr/>
        </p:nvSpPr>
        <p:spPr>
          <a:xfrm>
            <a:off x="1200150" y="393081"/>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59" name="Google Shape;59;p4"/>
          <p:cNvSpPr txBox="1"/>
          <p:nvPr/>
        </p:nvSpPr>
        <p:spPr>
          <a:xfrm>
            <a:off x="1200151" y="2370386"/>
            <a:ext cx="2552699" cy="1477714"/>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Flow</a:t>
            </a:r>
            <a:endParaRPr/>
          </a:p>
        </p:txBody>
      </p:sp>
      <p:pic>
        <p:nvPicPr>
          <p:cNvPr id="60" name="Google Shape;60;p4"/>
          <p:cNvPicPr preferRelativeResize="0"/>
          <p:nvPr/>
        </p:nvPicPr>
        <p:blipFill rotWithShape="1">
          <a:blip r:embed="rId3">
            <a:alphaModFix/>
          </a:blip>
          <a:srcRect b="0" l="0" r="0" t="0"/>
          <a:stretch/>
        </p:blipFill>
        <p:spPr>
          <a:xfrm>
            <a:off x="2676270" y="3409950"/>
            <a:ext cx="8125079" cy="7912381"/>
          </a:xfrm>
          <a:prstGeom prst="rect">
            <a:avLst/>
          </a:prstGeom>
          <a:noFill/>
          <a:ln>
            <a:noFill/>
          </a:ln>
        </p:spPr>
      </p:pic>
      <p:pic>
        <p:nvPicPr>
          <p:cNvPr id="61" name="Google Shape;61;p4"/>
          <p:cNvPicPr preferRelativeResize="0"/>
          <p:nvPr/>
        </p:nvPicPr>
        <p:blipFill rotWithShape="1">
          <a:blip r:embed="rId4">
            <a:alphaModFix/>
          </a:blip>
          <a:srcRect b="0" l="0" r="0" t="0"/>
          <a:stretch/>
        </p:blipFill>
        <p:spPr>
          <a:xfrm>
            <a:off x="14468220" y="3409950"/>
            <a:ext cx="8125079" cy="7912381"/>
          </a:xfrm>
          <a:prstGeom prst="rect">
            <a:avLst/>
          </a:prstGeom>
          <a:noFill/>
          <a:ln>
            <a:noFill/>
          </a:ln>
        </p:spPr>
      </p:pic>
      <p:sp>
        <p:nvSpPr>
          <p:cNvPr id="62" name="Google Shape;62;p4"/>
          <p:cNvSpPr/>
          <p:nvPr/>
        </p:nvSpPr>
        <p:spPr>
          <a:xfrm>
            <a:off x="4170028" y="11322331"/>
            <a:ext cx="494050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Import</a:t>
            </a:r>
            <a:endParaRPr b="0" i="1" sz="3200" u="none" cap="none" strike="noStrike">
              <a:solidFill>
                <a:srgbClr val="000000"/>
              </a:solidFill>
              <a:latin typeface="Times New Roman"/>
              <a:ea typeface="Times New Roman"/>
              <a:cs typeface="Times New Roman"/>
              <a:sym typeface="Times New Roman"/>
            </a:endParaRPr>
          </a:p>
        </p:txBody>
      </p:sp>
      <p:sp>
        <p:nvSpPr>
          <p:cNvPr id="63" name="Google Shape;63;p4"/>
          <p:cNvSpPr/>
          <p:nvPr/>
        </p:nvSpPr>
        <p:spPr>
          <a:xfrm>
            <a:off x="16574855" y="11322330"/>
            <a:ext cx="494050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none" cap="none" strike="noStrike">
                <a:solidFill>
                  <a:srgbClr val="000000"/>
                </a:solidFill>
                <a:latin typeface="Times New Roman"/>
                <a:ea typeface="Times New Roman"/>
                <a:cs typeface="Times New Roman"/>
                <a:sym typeface="Times New Roman"/>
              </a:rPr>
              <a:t>Export</a:t>
            </a:r>
            <a:endParaRPr b="0" i="1" sz="3200" u="none" cap="none" strike="noStrike">
              <a:solidFill>
                <a:srgbClr val="000000"/>
              </a:solidFill>
              <a:latin typeface="Times New Roman"/>
              <a:ea typeface="Times New Roman"/>
              <a:cs typeface="Times New Roman"/>
              <a:sym typeface="Times New Roman"/>
            </a:endParaRPr>
          </a:p>
        </p:txBody>
      </p:sp>
      <p:sp>
        <p:nvSpPr>
          <p:cNvPr id="64" name="Google Shape;64;p4"/>
          <p:cNvSpPr/>
          <p:nvPr/>
        </p:nvSpPr>
        <p:spPr>
          <a:xfrm>
            <a:off x="6456295" y="11993307"/>
            <a:ext cx="1147140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563C1"/>
              </a:buClr>
              <a:buSzPts val="3200"/>
              <a:buFont typeface="Times New Roman"/>
              <a:buNone/>
            </a:pPr>
            <a:r>
              <a:rPr b="0" i="1" lang="en-US" sz="3200" u="sng" cap="none" strike="noStrike">
                <a:solidFill>
                  <a:srgbClr val="0563C1"/>
                </a:solidFill>
                <a:latin typeface="Times New Roman"/>
                <a:ea typeface="Times New Roman"/>
                <a:cs typeface="Times New Roman"/>
                <a:sym typeface="Times New Roman"/>
                <a:hlinkClick r:id="rId5">
                  <a:extLst>
                    <a:ext uri="{A12FA001-AC4F-418D-AE19-62706E023703}">
                      <ahyp:hlinkClr val="tx"/>
                    </a:ext>
                  </a:extLst>
                </a:hlinkClick>
              </a:rPr>
              <a:t>https://docs.aws.amazon.com/snowball/latest/ug/how-it-works.html</a:t>
            </a:r>
            <a:endParaRPr b="0" i="0"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5"/>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70" name="Google Shape;70;p5"/>
          <p:cNvSpPr txBox="1"/>
          <p:nvPr/>
        </p:nvSpPr>
        <p:spPr>
          <a:xfrm>
            <a:off x="1200151" y="2370384"/>
            <a:ext cx="20473075" cy="9205531"/>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Step 1: Request Snowball devices from the AWS console for delivery</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Step 2: Install the snowball client / AWS OpsHub on your servers</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Step 3: Connect the snowball to your servers and copy files using the client</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Step 4: Ship back the device when you’re done (goes to the right AWS facility)</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Step 5: Data will be loaded into an S3 bucket</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Step 6: Snowball is completely wiped</a:t>
            </a:r>
            <a:endParaRPr b="0" i="0" sz="3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6"/>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76" name="Google Shape;76;p6"/>
          <p:cNvSpPr txBox="1"/>
          <p:nvPr/>
        </p:nvSpPr>
        <p:spPr>
          <a:xfrm>
            <a:off x="1200151" y="2370386"/>
            <a:ext cx="12211049" cy="4963864"/>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Components</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Snowball devices</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Snowball client / S3 Adapter for Snowball</a:t>
            </a:r>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OpsHub / Snowball Edge client</a:t>
            </a:r>
            <a:endParaRPr/>
          </a:p>
          <a:p>
            <a:pPr indent="-261302" lvl="1" marL="1055687" marR="0" rtl="0" algn="l">
              <a:lnSpc>
                <a:spcPct val="100000"/>
              </a:lnSpc>
              <a:spcBef>
                <a:spcPts val="5900"/>
              </a:spcBef>
              <a:spcAft>
                <a:spcPts val="0"/>
              </a:spcAft>
              <a:buClr>
                <a:srgbClr val="000000"/>
              </a:buClr>
              <a:buSzPts val="5510"/>
              <a:buFont typeface="Courier New"/>
              <a:buNone/>
            </a:pPr>
            <a:r>
              <a:t/>
            </a:r>
            <a:endParaRPr b="0" i="0" sz="3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txBox="1"/>
          <p:nvPr/>
        </p:nvSpPr>
        <p:spPr>
          <a:xfrm>
            <a:off x="1200150" y="393081"/>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82" name="Google Shape;82;p7"/>
          <p:cNvSpPr txBox="1"/>
          <p:nvPr/>
        </p:nvSpPr>
        <p:spPr>
          <a:xfrm>
            <a:off x="1200151" y="2370386"/>
            <a:ext cx="10801349" cy="10119929"/>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Snowball device</a:t>
            </a:r>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Is a physical storage device</a:t>
            </a:r>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Shipped through Shipping Regional Carriers</a:t>
            </a:r>
            <a:endParaRPr b="0" i="0" sz="3500" u="none" cap="none" strike="noStrike">
              <a:solidFill>
                <a:srgbClr val="000000"/>
              </a:solidFill>
              <a:latin typeface="Times New Roman"/>
              <a:ea typeface="Times New Roman"/>
              <a:cs typeface="Times New Roman"/>
              <a:sym typeface="Times New Roman"/>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Types</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Snowcone </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Snowball Edge</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Snowmobile</a:t>
            </a:r>
            <a:endParaRPr/>
          </a:p>
          <a:p>
            <a:pPr indent="-261302" lvl="1" marL="1055687" marR="0" rtl="0" algn="l">
              <a:lnSpc>
                <a:spcPct val="100000"/>
              </a:lnSpc>
              <a:spcBef>
                <a:spcPts val="5900"/>
              </a:spcBef>
              <a:spcAft>
                <a:spcPts val="0"/>
              </a:spcAft>
              <a:buClr>
                <a:srgbClr val="000000"/>
              </a:buClr>
              <a:buSzPts val="5510"/>
              <a:buFont typeface="Courier New"/>
              <a:buNone/>
            </a:pPr>
            <a:r>
              <a:t/>
            </a:r>
            <a:endParaRPr b="0" i="0" sz="3800" u="none" cap="none" strike="noStrike">
              <a:solidFill>
                <a:srgbClr val="000000"/>
              </a:solidFill>
              <a:latin typeface="Times New Roman"/>
              <a:ea typeface="Times New Roman"/>
              <a:cs typeface="Times New Roman"/>
              <a:sym typeface="Times New Roman"/>
            </a:endParaRPr>
          </a:p>
        </p:txBody>
      </p:sp>
      <p:pic>
        <p:nvPicPr>
          <p:cNvPr id="83" name="Google Shape;83;p7"/>
          <p:cNvPicPr preferRelativeResize="0"/>
          <p:nvPr/>
        </p:nvPicPr>
        <p:blipFill rotWithShape="1">
          <a:blip r:embed="rId3">
            <a:alphaModFix/>
          </a:blip>
          <a:srcRect b="0" l="0" r="0" t="0"/>
          <a:stretch/>
        </p:blipFill>
        <p:spPr>
          <a:xfrm>
            <a:off x="12001500" y="3867787"/>
            <a:ext cx="11804794" cy="66192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8"/>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89" name="Google Shape;89;p8"/>
          <p:cNvSpPr txBox="1"/>
          <p:nvPr/>
        </p:nvSpPr>
        <p:spPr>
          <a:xfrm>
            <a:off x="1200151" y="2370386"/>
            <a:ext cx="18783299" cy="6587208"/>
          </a:xfrm>
          <a:prstGeom prst="rect">
            <a:avLst/>
          </a:prstGeom>
          <a:noFill/>
          <a:ln>
            <a:noFill/>
          </a:ln>
        </p:spPr>
        <p:txBody>
          <a:bodyPr anchorCtr="0" anchor="t" bIns="45700" lIns="91425" spcFirstLastPara="1" rIns="91425" wrap="square" tIns="45700">
            <a:normAutofit/>
          </a:bodyPr>
          <a:lstStyle/>
          <a:p>
            <a:pPr indent="-611186" lvl="3" marL="1944686" marR="0" rtl="0" algn="l">
              <a:lnSpc>
                <a:spcPct val="100000"/>
              </a:lnSpc>
              <a:spcBef>
                <a:spcPts val="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Snowcone</a:t>
            </a:r>
            <a:endParaRPr b="0" i="0" sz="3000" u="none" cap="none" strike="noStrike">
              <a:solidFill>
                <a:srgbClr val="000000"/>
              </a:solidFill>
              <a:latin typeface="Times New Roman"/>
              <a:ea typeface="Times New Roman"/>
              <a:cs typeface="Times New Roman"/>
              <a:sym typeface="Times New Roman"/>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Small, portable computing, anywhere, rugged &amp; secure, withstands harsh environments</a:t>
            </a:r>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Light: 2.1 kg</a:t>
            </a:r>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Can be sent back to AWS offline, or connect it to internet and use AWS DataSync to send data</a:t>
            </a:r>
            <a:endParaRPr b="0" i="0" sz="2800" u="none" cap="none" strike="noStrike">
              <a:solidFill>
                <a:srgbClr val="000000"/>
              </a:solidFill>
              <a:latin typeface="Times New Roman"/>
              <a:ea typeface="Times New Roman"/>
              <a:cs typeface="Times New Roman"/>
              <a:sym typeface="Times New Roman"/>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Price: </a:t>
            </a:r>
            <a:r>
              <a:rPr b="0" i="0" lang="en-US" sz="28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https://aws.amazon.com/snowcone/pricing</a:t>
            </a:r>
            <a:r>
              <a:rPr b="0" i="0" lang="en-US" sz="2800" u="none" cap="none" strike="noStrike">
                <a:solidFill>
                  <a:srgbClr val="000000"/>
                </a:solidFill>
                <a:latin typeface="Times New Roman"/>
                <a:ea typeface="Times New Roman"/>
                <a:cs typeface="Times New Roman"/>
                <a:sym typeface="Times New Roman"/>
              </a:rPr>
              <a:t> </a:t>
            </a:r>
            <a:endParaRPr b="0" i="0" sz="2800" u="none" cap="none" strike="noStrike">
              <a:solidFill>
                <a:srgbClr val="000000"/>
              </a:solidFill>
              <a:latin typeface="Times New Roman"/>
              <a:ea typeface="Times New Roman"/>
              <a:cs typeface="Times New Roman"/>
              <a:sym typeface="Times New Roman"/>
            </a:endParaRPr>
          </a:p>
          <a:p>
            <a:pPr indent="-261302" lvl="1" marL="1055687" marR="0" rtl="0" algn="l">
              <a:lnSpc>
                <a:spcPct val="100000"/>
              </a:lnSpc>
              <a:spcBef>
                <a:spcPts val="5900"/>
              </a:spcBef>
              <a:spcAft>
                <a:spcPts val="0"/>
              </a:spcAft>
              <a:buClr>
                <a:srgbClr val="000000"/>
              </a:buClr>
              <a:buSzPts val="5510"/>
              <a:buFont typeface="Courier New"/>
              <a:buNone/>
            </a:pPr>
            <a:r>
              <a:t/>
            </a:r>
            <a:endParaRPr b="0" i="0" sz="3800" u="none" cap="none" strike="noStrike">
              <a:solidFill>
                <a:srgbClr val="000000"/>
              </a:solidFill>
              <a:latin typeface="Times New Roman"/>
              <a:ea typeface="Times New Roman"/>
              <a:cs typeface="Times New Roman"/>
              <a:sym typeface="Times New Roman"/>
            </a:endParaRPr>
          </a:p>
        </p:txBody>
      </p:sp>
      <p:pic>
        <p:nvPicPr>
          <p:cNvPr id="90" name="Google Shape;90;p8"/>
          <p:cNvPicPr preferRelativeResize="0"/>
          <p:nvPr/>
        </p:nvPicPr>
        <p:blipFill rotWithShape="1">
          <a:blip r:embed="rId4">
            <a:alphaModFix/>
          </a:blip>
          <a:srcRect b="0" l="0" r="0" t="0"/>
          <a:stretch/>
        </p:blipFill>
        <p:spPr>
          <a:xfrm>
            <a:off x="19202399" y="4453320"/>
            <a:ext cx="4446585" cy="2184866"/>
          </a:xfrm>
          <a:prstGeom prst="rect">
            <a:avLst/>
          </a:prstGeom>
          <a:noFill/>
          <a:ln>
            <a:noFill/>
          </a:ln>
        </p:spPr>
      </p:pic>
      <p:pic>
        <p:nvPicPr>
          <p:cNvPr id="91" name="Google Shape;91;p8"/>
          <p:cNvPicPr preferRelativeResize="0"/>
          <p:nvPr/>
        </p:nvPicPr>
        <p:blipFill rotWithShape="1">
          <a:blip r:embed="rId5">
            <a:alphaModFix/>
          </a:blip>
          <a:srcRect b="0" l="0" r="0" t="0"/>
          <a:stretch/>
        </p:blipFill>
        <p:spPr>
          <a:xfrm>
            <a:off x="4504884" y="8462208"/>
            <a:ext cx="4656747" cy="3749202"/>
          </a:xfrm>
          <a:prstGeom prst="rect">
            <a:avLst/>
          </a:prstGeom>
          <a:noFill/>
          <a:ln>
            <a:noFill/>
          </a:ln>
        </p:spPr>
      </p:pic>
      <p:pic>
        <p:nvPicPr>
          <p:cNvPr id="92" name="Google Shape;92;p8"/>
          <p:cNvPicPr preferRelativeResize="0"/>
          <p:nvPr/>
        </p:nvPicPr>
        <p:blipFill rotWithShape="1">
          <a:blip r:embed="rId6">
            <a:alphaModFix/>
          </a:blip>
          <a:srcRect b="0" l="0" r="0" t="0"/>
          <a:stretch/>
        </p:blipFill>
        <p:spPr>
          <a:xfrm>
            <a:off x="10861545" y="8462208"/>
            <a:ext cx="9527629" cy="37192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9"/>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98" name="Google Shape;98;p9"/>
          <p:cNvSpPr txBox="1"/>
          <p:nvPr/>
        </p:nvSpPr>
        <p:spPr>
          <a:xfrm>
            <a:off x="1200151" y="2370385"/>
            <a:ext cx="23183849" cy="10353394"/>
          </a:xfrm>
          <a:prstGeom prst="rect">
            <a:avLst/>
          </a:prstGeom>
          <a:noFill/>
          <a:ln>
            <a:noFill/>
          </a:ln>
        </p:spPr>
        <p:txBody>
          <a:bodyPr anchorCtr="0" anchor="t" bIns="45700" lIns="91425" spcFirstLastPara="1" rIns="91425" wrap="square" tIns="45700">
            <a:normAutofit/>
          </a:bodyPr>
          <a:lstStyle/>
          <a:p>
            <a:pPr indent="-611186" lvl="3" marL="1944686" marR="0" rtl="0" algn="l">
              <a:lnSpc>
                <a:spcPct val="100000"/>
              </a:lnSpc>
              <a:spcBef>
                <a:spcPts val="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Snowball Edge</a:t>
            </a:r>
            <a:endParaRPr b="0" i="0" sz="3000" u="none" cap="none" strike="noStrike">
              <a:solidFill>
                <a:srgbClr val="000000"/>
              </a:solidFill>
              <a:latin typeface="Times New Roman"/>
              <a:ea typeface="Times New Roman"/>
              <a:cs typeface="Times New Roman"/>
              <a:sym typeface="Times New Roman"/>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Light: 22.54 kg</a:t>
            </a:r>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Faster than snowcone, up to 100GB/s</a:t>
            </a:r>
            <a:endParaRPr b="0" i="0" sz="2800" u="none" cap="none" strike="noStrike">
              <a:solidFill>
                <a:srgbClr val="000000"/>
              </a:solidFill>
              <a:latin typeface="Times New Roman"/>
              <a:ea typeface="Times New Roman"/>
              <a:cs typeface="Times New Roman"/>
              <a:sym typeface="Times New Roman"/>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Providing Processing Data Tool (Lambda Function)</a:t>
            </a:r>
            <a:endParaRPr b="0" i="0" sz="2800" u="none" cap="none" strike="noStrike">
              <a:solidFill>
                <a:srgbClr val="000000"/>
              </a:solidFill>
              <a:latin typeface="Times New Roman"/>
              <a:ea typeface="Times New Roman"/>
              <a:cs typeface="Times New Roman"/>
              <a:sym typeface="Times New Roman"/>
            </a:endParaRPr>
          </a:p>
          <a:p>
            <a:pPr indent="-611186" lvl="5" marL="2833687" marR="0" rtl="0" algn="l">
              <a:lnSpc>
                <a:spcPct val="100000"/>
              </a:lnSpc>
              <a:spcBef>
                <a:spcPts val="5900"/>
              </a:spcBef>
              <a:spcAft>
                <a:spcPts val="0"/>
              </a:spcAft>
              <a:buClr>
                <a:srgbClr val="000000"/>
              </a:buClr>
              <a:buSzPts val="3625"/>
              <a:buFont typeface="Noto Sans Symbols"/>
              <a:buChar char="▪"/>
            </a:pPr>
            <a:r>
              <a:rPr b="0" i="0" lang="en-US" sz="2500" u="none" cap="none" strike="noStrike">
                <a:solidFill>
                  <a:srgbClr val="000000"/>
                </a:solidFill>
                <a:latin typeface="Times New Roman"/>
                <a:ea typeface="Times New Roman"/>
                <a:cs typeface="Times New Roman"/>
                <a:sym typeface="Times New Roman"/>
              </a:rPr>
              <a:t>Preprocess data, Transcoding media streams, </a:t>
            </a:r>
            <a:endParaRPr b="0" i="0" sz="2500" u="none" cap="none" strike="noStrike">
              <a:solidFill>
                <a:srgbClr val="000000"/>
              </a:solidFill>
              <a:latin typeface="Times New Roman"/>
              <a:ea typeface="Times New Roman"/>
              <a:cs typeface="Times New Roman"/>
              <a:sym typeface="Times New Roman"/>
            </a:endParaRPr>
          </a:p>
          <a:p>
            <a:pPr indent="-611186" lvl="5" marL="2833687" marR="0" rtl="0" algn="l">
              <a:lnSpc>
                <a:spcPct val="100000"/>
              </a:lnSpc>
              <a:spcBef>
                <a:spcPts val="5900"/>
              </a:spcBef>
              <a:spcAft>
                <a:spcPts val="0"/>
              </a:spcAft>
              <a:buClr>
                <a:srgbClr val="000000"/>
              </a:buClr>
              <a:buSzPts val="3625"/>
              <a:buFont typeface="Noto Sans Symbols"/>
              <a:buChar char="▪"/>
            </a:pPr>
            <a:r>
              <a:rPr b="0" i="0" lang="en-US" sz="2500" u="none" cap="none" strike="noStrike">
                <a:solidFill>
                  <a:srgbClr val="000000"/>
                </a:solidFill>
                <a:latin typeface="Times New Roman"/>
                <a:ea typeface="Times New Roman"/>
                <a:cs typeface="Times New Roman"/>
                <a:sym typeface="Times New Roman"/>
              </a:rPr>
              <a:t>Connect to existing system</a:t>
            </a:r>
            <a:endParaRPr/>
          </a:p>
          <a:p>
            <a:pPr indent="0" lvl="6" marL="2667000" marR="0" rtl="0" algn="l">
              <a:lnSpc>
                <a:spcPct val="100000"/>
              </a:lnSpc>
              <a:spcBef>
                <a:spcPts val="5900"/>
              </a:spcBef>
              <a:spcAft>
                <a:spcPts val="0"/>
              </a:spcAft>
              <a:buClr>
                <a:srgbClr val="000000"/>
              </a:buClr>
              <a:buSzPts val="3335"/>
              <a:buFont typeface="Times New Roman"/>
              <a:buNone/>
            </a:pPr>
            <a:r>
              <a:rPr b="0" i="0" lang="en-US" sz="2300" u="none" cap="none" strike="noStrike">
                <a:solidFill>
                  <a:srgbClr val="000000"/>
                </a:solidFill>
                <a:latin typeface="Times New Roman"/>
                <a:ea typeface="Times New Roman"/>
                <a:cs typeface="Times New Roman"/>
                <a:sym typeface="Times New Roman"/>
              </a:rPr>
              <a:t>Example: An Aircraft engine manufacturer can put a Snowball edge on an Airplane to collect information about how the plane's engines are running. When the Plane lands, getting the Snowball edge from the Airplane and send it to the AWS Data Center</a:t>
            </a:r>
            <a:endParaRPr/>
          </a:p>
          <a:p>
            <a:pPr indent="-611186" lvl="5" marL="2833687" marR="0" rtl="0" algn="l">
              <a:lnSpc>
                <a:spcPct val="100000"/>
              </a:lnSpc>
              <a:spcBef>
                <a:spcPts val="5900"/>
              </a:spcBef>
              <a:spcAft>
                <a:spcPts val="0"/>
              </a:spcAft>
              <a:buClr>
                <a:srgbClr val="000000"/>
              </a:buClr>
              <a:buSzPts val="3625"/>
              <a:buFont typeface="Noto Sans Symbols"/>
              <a:buChar char="▪"/>
            </a:pPr>
            <a:r>
              <a:rPr b="0" i="0" lang="en-US" sz="2500" u="none" cap="none" strike="noStrike">
                <a:solidFill>
                  <a:srgbClr val="000000"/>
                </a:solidFill>
                <a:latin typeface="Times New Roman"/>
                <a:ea typeface="Times New Roman"/>
                <a:cs typeface="Times New Roman"/>
                <a:sym typeface="Times New Roman"/>
              </a:rPr>
              <a:t>Support cluster</a:t>
            </a:r>
            <a:endParaRPr/>
          </a:p>
          <a:p>
            <a:pPr indent="0" lvl="6" marL="2667000" marR="0" rtl="0" algn="l">
              <a:lnSpc>
                <a:spcPct val="100000"/>
              </a:lnSpc>
              <a:spcBef>
                <a:spcPts val="5900"/>
              </a:spcBef>
              <a:spcAft>
                <a:spcPts val="0"/>
              </a:spcAft>
              <a:buClr>
                <a:srgbClr val="000000"/>
              </a:buClr>
              <a:buSzPts val="3335"/>
              <a:buFont typeface="Times New Roman"/>
              <a:buNone/>
            </a:pPr>
            <a:r>
              <a:rPr b="0" i="0" lang="en-US" sz="2300" u="none" cap="none" strike="noStrike">
                <a:solidFill>
                  <a:srgbClr val="000000"/>
                </a:solidFill>
                <a:latin typeface="Times New Roman"/>
                <a:ea typeface="Times New Roman"/>
                <a:cs typeface="Times New Roman"/>
                <a:sym typeface="Times New Roman"/>
              </a:rPr>
              <a:t>Can combine Snowballs, local data in on-premises into 1 cluster to provide storage so that the application can run without internet</a:t>
            </a:r>
            <a:endParaRPr b="0" i="0" sz="2300" u="none" cap="none" strike="noStrike">
              <a:solidFill>
                <a:srgbClr val="000000"/>
              </a:solidFill>
              <a:latin typeface="Times New Roman"/>
              <a:ea typeface="Times New Roman"/>
              <a:cs typeface="Times New Roman"/>
              <a:sym typeface="Times New Roman"/>
            </a:endParaRPr>
          </a:p>
        </p:txBody>
      </p:sp>
      <p:pic>
        <p:nvPicPr>
          <p:cNvPr id="99" name="Google Shape;99;p9"/>
          <p:cNvPicPr preferRelativeResize="0"/>
          <p:nvPr/>
        </p:nvPicPr>
        <p:blipFill rotWithShape="1">
          <a:blip r:embed="rId3">
            <a:alphaModFix/>
          </a:blip>
          <a:srcRect b="0" l="0" r="0" t="0"/>
          <a:stretch/>
        </p:blipFill>
        <p:spPr>
          <a:xfrm>
            <a:off x="14697993" y="2370386"/>
            <a:ext cx="3949931" cy="46536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0"/>
          <p:cNvSpPr txBox="1"/>
          <p:nvPr/>
        </p:nvSpPr>
        <p:spPr>
          <a:xfrm>
            <a:off x="1200150" y="393081"/>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105" name="Google Shape;105;p10"/>
          <p:cNvSpPr txBox="1"/>
          <p:nvPr/>
        </p:nvSpPr>
        <p:spPr>
          <a:xfrm>
            <a:off x="1200151" y="2370386"/>
            <a:ext cx="22828249" cy="10609014"/>
          </a:xfrm>
          <a:prstGeom prst="rect">
            <a:avLst/>
          </a:prstGeom>
          <a:noFill/>
          <a:ln>
            <a:noFill/>
          </a:ln>
        </p:spPr>
        <p:txBody>
          <a:bodyPr anchorCtr="0" anchor="t" bIns="45700" lIns="91425" spcFirstLastPara="1" rIns="91425" wrap="square" tIns="45700">
            <a:normAutofit/>
          </a:bodyPr>
          <a:lstStyle/>
          <a:p>
            <a:pPr indent="-611186" lvl="4" marL="2389187" marR="0" rtl="0" algn="l">
              <a:lnSpc>
                <a:spcPct val="100000"/>
              </a:lnSpc>
              <a:spcBef>
                <a:spcPts val="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Price: </a:t>
            </a:r>
            <a:r>
              <a:rPr b="0" i="0" lang="en-US" sz="28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https://aws.amazon.com/snowball/pricing</a:t>
            </a:r>
            <a:endParaRPr b="0" i="0" sz="2800" u="none" cap="none" strike="noStrike">
              <a:solidFill>
                <a:srgbClr val="000000"/>
              </a:solidFill>
              <a:latin typeface="Times New Roman"/>
              <a:ea typeface="Times New Roman"/>
              <a:cs typeface="Times New Roman"/>
              <a:sym typeface="Times New Roman"/>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Types:</a:t>
            </a:r>
            <a:endParaRPr/>
          </a:p>
          <a:p>
            <a:pPr indent="-611186" lvl="5" marL="2833687" marR="0" rtl="0" algn="l">
              <a:lnSpc>
                <a:spcPct val="100000"/>
              </a:lnSpc>
              <a:spcBef>
                <a:spcPts val="5900"/>
              </a:spcBef>
              <a:spcAft>
                <a:spcPts val="0"/>
              </a:spcAft>
              <a:buClr>
                <a:srgbClr val="000000"/>
              </a:buClr>
              <a:buSzPts val="4060"/>
              <a:buFont typeface="Noto Sans Symbols"/>
              <a:buChar char="▪"/>
            </a:pPr>
            <a:r>
              <a:rPr b="0" i="0" lang="en-US" sz="2800" u="none" cap="none" strike="noStrike">
                <a:solidFill>
                  <a:srgbClr val="000000"/>
                </a:solidFill>
                <a:latin typeface="Times New Roman"/>
                <a:ea typeface="Times New Roman"/>
                <a:cs typeface="Times New Roman"/>
                <a:sym typeface="Times New Roman"/>
              </a:rPr>
              <a:t> Storage Optimized (for data transfer)</a:t>
            </a:r>
            <a:endParaRPr/>
          </a:p>
          <a:p>
            <a:pPr indent="-611186" lvl="5" marL="2833687" marR="0" rtl="0" algn="l">
              <a:lnSpc>
                <a:spcPct val="100000"/>
              </a:lnSpc>
              <a:spcBef>
                <a:spcPts val="5900"/>
              </a:spcBef>
              <a:spcAft>
                <a:spcPts val="0"/>
              </a:spcAft>
              <a:buClr>
                <a:srgbClr val="000000"/>
              </a:buClr>
              <a:buSzPts val="4060"/>
              <a:buFont typeface="Noto Sans Symbols"/>
              <a:buChar char="▪"/>
            </a:pPr>
            <a:r>
              <a:rPr b="0" i="0" lang="en-US" sz="2800" u="none" cap="none" strike="noStrike">
                <a:solidFill>
                  <a:srgbClr val="000000"/>
                </a:solidFill>
                <a:latin typeface="Times New Roman"/>
                <a:ea typeface="Times New Roman"/>
                <a:cs typeface="Times New Roman"/>
                <a:sym typeface="Times New Roman"/>
              </a:rPr>
              <a:t>Compute Optimized</a:t>
            </a:r>
            <a:endParaRPr/>
          </a:p>
          <a:p>
            <a:pPr indent="-611186" lvl="5" marL="2833687" marR="0" rtl="0" algn="l">
              <a:lnSpc>
                <a:spcPct val="100000"/>
              </a:lnSpc>
              <a:spcBef>
                <a:spcPts val="5900"/>
              </a:spcBef>
              <a:spcAft>
                <a:spcPts val="0"/>
              </a:spcAft>
              <a:buClr>
                <a:srgbClr val="000000"/>
              </a:buClr>
              <a:buSzPts val="4060"/>
              <a:buFont typeface="Noto Sans Symbols"/>
              <a:buChar char="▪"/>
            </a:pPr>
            <a:r>
              <a:rPr b="0" i="0" lang="en-US" sz="2800" u="none" cap="none" strike="noStrike">
                <a:solidFill>
                  <a:srgbClr val="000000"/>
                </a:solidFill>
                <a:latin typeface="Times New Roman"/>
                <a:ea typeface="Times New Roman"/>
                <a:cs typeface="Times New Roman"/>
                <a:sym typeface="Times New Roman"/>
              </a:rPr>
              <a:t>Compute Optimized with GPU</a:t>
            </a:r>
            <a:endParaRPr/>
          </a:p>
          <a:p>
            <a:pPr indent="-353376" lvl="5" marL="2833687" marR="0" rtl="0" algn="l">
              <a:lnSpc>
                <a:spcPct val="100000"/>
              </a:lnSpc>
              <a:spcBef>
                <a:spcPts val="5900"/>
              </a:spcBef>
              <a:spcAft>
                <a:spcPts val="0"/>
              </a:spcAft>
              <a:buClr>
                <a:srgbClr val="000000"/>
              </a:buClr>
              <a:buSzPts val="4060"/>
              <a:buFont typeface="Noto Sans Symbols"/>
              <a:buNone/>
            </a:pPr>
            <a:r>
              <a:t/>
            </a:r>
            <a:endParaRPr b="0" i="0" sz="2800" u="none" cap="none" strike="noStrike">
              <a:solidFill>
                <a:srgbClr val="000000"/>
              </a:solidFill>
              <a:latin typeface="Times New Roman"/>
              <a:ea typeface="Times New Roman"/>
              <a:cs typeface="Times New Roman"/>
              <a:sym typeface="Times New Roman"/>
            </a:endParaRPr>
          </a:p>
          <a:p>
            <a:pPr indent="-261302" lvl="1" marL="1055687" marR="0" rtl="0" algn="l">
              <a:lnSpc>
                <a:spcPct val="100000"/>
              </a:lnSpc>
              <a:spcBef>
                <a:spcPts val="5900"/>
              </a:spcBef>
              <a:spcAft>
                <a:spcPts val="0"/>
              </a:spcAft>
              <a:buClr>
                <a:srgbClr val="000000"/>
              </a:buClr>
              <a:buSzPts val="5510"/>
              <a:buFont typeface="Courier New"/>
              <a:buNone/>
            </a:pPr>
            <a:r>
              <a:t/>
            </a:r>
            <a:endParaRPr b="0" i="0" sz="3800" u="none" cap="none" strike="noStrike">
              <a:solidFill>
                <a:srgbClr val="000000"/>
              </a:solidFill>
              <a:latin typeface="Times New Roman"/>
              <a:ea typeface="Times New Roman"/>
              <a:cs typeface="Times New Roman"/>
              <a:sym typeface="Times New Roman"/>
            </a:endParaRPr>
          </a:p>
        </p:txBody>
      </p:sp>
      <p:pic>
        <p:nvPicPr>
          <p:cNvPr id="106" name="Google Shape;106;p10"/>
          <p:cNvPicPr preferRelativeResize="0"/>
          <p:nvPr/>
        </p:nvPicPr>
        <p:blipFill rotWithShape="1">
          <a:blip r:embed="rId4">
            <a:alphaModFix/>
          </a:blip>
          <a:srcRect b="0" l="0" r="0" t="0"/>
          <a:stretch/>
        </p:blipFill>
        <p:spPr>
          <a:xfrm>
            <a:off x="12817804" y="3420374"/>
            <a:ext cx="10894962" cy="3101808"/>
          </a:xfrm>
          <a:prstGeom prst="rect">
            <a:avLst/>
          </a:prstGeom>
          <a:noFill/>
          <a:ln>
            <a:noFill/>
          </a:ln>
        </p:spPr>
      </p:pic>
      <p:sp>
        <p:nvSpPr>
          <p:cNvPr id="107" name="Google Shape;107;p10"/>
          <p:cNvSpPr/>
          <p:nvPr/>
        </p:nvSpPr>
        <p:spPr>
          <a:xfrm>
            <a:off x="13281480" y="6770226"/>
            <a:ext cx="9967609"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563C1"/>
              </a:buClr>
              <a:buSzPts val="3200"/>
              <a:buFont typeface="Times New Roman"/>
              <a:buNone/>
            </a:pPr>
            <a:r>
              <a:rPr b="0" i="1" lang="en-US" sz="3200" u="sng" cap="none" strike="noStrike">
                <a:solidFill>
                  <a:srgbClr val="0563C1"/>
                </a:solidFill>
                <a:latin typeface="Times New Roman"/>
                <a:ea typeface="Times New Roman"/>
                <a:cs typeface="Times New Roman"/>
                <a:sym typeface="Times New Roman"/>
                <a:hlinkClick r:id="rId5">
                  <a:extLst>
                    <a:ext uri="{A12FA001-AC4F-418D-AE19-62706E023703}">
                      <ahyp:hlinkClr val="tx"/>
                    </a:ext>
                  </a:extLst>
                </a:hlinkClick>
              </a:rPr>
              <a:t>https://docs.aws.amazon.com/snowball/latest/developer-guide/device-differences.html</a:t>
            </a:r>
            <a:endParaRPr b="1" i="0" sz="3200" u="none" cap="none" strike="noStrike">
              <a:solidFill>
                <a:srgbClr val="000000"/>
              </a:solidFill>
              <a:latin typeface="Times New Roman"/>
              <a:ea typeface="Times New Roman"/>
              <a:cs typeface="Times New Roman"/>
              <a:sym typeface="Times New Roman"/>
            </a:endParaRPr>
          </a:p>
        </p:txBody>
      </p:sp>
      <p:pic>
        <p:nvPicPr>
          <p:cNvPr id="108" name="Google Shape;108;p10"/>
          <p:cNvPicPr preferRelativeResize="0"/>
          <p:nvPr/>
        </p:nvPicPr>
        <p:blipFill rotWithShape="1">
          <a:blip r:embed="rId6">
            <a:alphaModFix/>
          </a:blip>
          <a:srcRect b="0" l="0" r="0" t="0"/>
          <a:stretch/>
        </p:blipFill>
        <p:spPr>
          <a:xfrm>
            <a:off x="5873470" y="8290041"/>
            <a:ext cx="12192256" cy="406408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1"/>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114" name="Google Shape;114;p11"/>
          <p:cNvSpPr txBox="1"/>
          <p:nvPr/>
        </p:nvSpPr>
        <p:spPr>
          <a:xfrm>
            <a:off x="1200152" y="2370386"/>
            <a:ext cx="13177330" cy="8018754"/>
          </a:xfrm>
          <a:prstGeom prst="rect">
            <a:avLst/>
          </a:prstGeom>
          <a:noFill/>
          <a:ln>
            <a:noFill/>
          </a:ln>
        </p:spPr>
        <p:txBody>
          <a:bodyPr anchorCtr="0" anchor="t" bIns="45700" lIns="91425" spcFirstLastPara="1" rIns="91425" wrap="square" tIns="45700">
            <a:normAutofit/>
          </a:bodyPr>
          <a:lstStyle/>
          <a:p>
            <a:pPr indent="-611186" lvl="3" marL="1944686" marR="0" rtl="0" algn="l">
              <a:lnSpc>
                <a:spcPct val="100000"/>
              </a:lnSpc>
              <a:spcBef>
                <a:spcPts val="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Snowball Mobile</a:t>
            </a:r>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Transfer exabytes of data (1 EB = 1,000 PBs = 1,000,000 TBs)</a:t>
            </a:r>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Each Snowmobile has 100 PB of capacity (use multiple in parallel)</a:t>
            </a:r>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High security: temperature controlled, GPS, 24/7 video surveillance</a:t>
            </a:r>
            <a:endParaRPr/>
          </a:p>
          <a:p>
            <a:pPr indent="-611186" lvl="4" marL="2389187" marR="0" rtl="0" algn="l">
              <a:lnSpc>
                <a:spcPct val="100000"/>
              </a:lnSpc>
              <a:spcBef>
                <a:spcPts val="5900"/>
              </a:spcBef>
              <a:spcAft>
                <a:spcPts val="0"/>
              </a:spcAft>
              <a:buClr>
                <a:srgbClr val="000000"/>
              </a:buClr>
              <a:buSzPts val="4060"/>
              <a:buFont typeface="Courier New"/>
              <a:buChar char="o"/>
            </a:pPr>
            <a:r>
              <a:rPr b="0" i="0" lang="en-US" sz="2800" u="none" cap="none" strike="noStrike">
                <a:solidFill>
                  <a:srgbClr val="000000"/>
                </a:solidFill>
                <a:latin typeface="Times New Roman"/>
                <a:ea typeface="Times New Roman"/>
                <a:cs typeface="Times New Roman"/>
                <a:sym typeface="Times New Roman"/>
              </a:rPr>
              <a:t>Usecases</a:t>
            </a:r>
            <a:endParaRPr b="0" i="0" sz="2800" u="none" cap="none" strike="noStrike">
              <a:solidFill>
                <a:srgbClr val="000000"/>
              </a:solidFill>
              <a:latin typeface="Times New Roman"/>
              <a:ea typeface="Times New Roman"/>
              <a:cs typeface="Times New Roman"/>
              <a:sym typeface="Times New Roman"/>
            </a:endParaRPr>
          </a:p>
          <a:p>
            <a:pPr indent="-611186" lvl="5" marL="2833687" marR="0" rtl="0" algn="l">
              <a:lnSpc>
                <a:spcPct val="100000"/>
              </a:lnSpc>
              <a:spcBef>
                <a:spcPts val="5900"/>
              </a:spcBef>
              <a:spcAft>
                <a:spcPts val="0"/>
              </a:spcAft>
              <a:buClr>
                <a:srgbClr val="000000"/>
              </a:buClr>
              <a:buSzPts val="3625"/>
              <a:buFont typeface="Courier New"/>
              <a:buChar char="o"/>
            </a:pPr>
            <a:r>
              <a:rPr b="0" i="0" lang="en-US" sz="2500" u="none" cap="none" strike="noStrike">
                <a:solidFill>
                  <a:srgbClr val="000000"/>
                </a:solidFill>
                <a:latin typeface="Times New Roman"/>
                <a:ea typeface="Times New Roman"/>
                <a:cs typeface="Times New Roman"/>
                <a:sym typeface="Times New Roman"/>
              </a:rPr>
              <a:t>Better than Snowball if you transfer more than 10 PB</a:t>
            </a:r>
            <a:endParaRPr/>
          </a:p>
          <a:p>
            <a:pPr indent="-611186" lvl="5" marL="2833687" marR="0" rtl="0" algn="l">
              <a:lnSpc>
                <a:spcPct val="100000"/>
              </a:lnSpc>
              <a:spcBef>
                <a:spcPts val="5900"/>
              </a:spcBef>
              <a:spcAft>
                <a:spcPts val="0"/>
              </a:spcAft>
              <a:buClr>
                <a:srgbClr val="000000"/>
              </a:buClr>
              <a:buSzPts val="3625"/>
              <a:buFont typeface="Courier New"/>
              <a:buChar char="o"/>
            </a:pPr>
            <a:r>
              <a:rPr b="0" i="0" lang="en-US" sz="2500" u="none" cap="none" strike="noStrike">
                <a:solidFill>
                  <a:srgbClr val="000000"/>
                </a:solidFill>
                <a:latin typeface="Times New Roman"/>
                <a:ea typeface="Times New Roman"/>
                <a:cs typeface="Times New Roman"/>
                <a:sym typeface="Times New Roman"/>
              </a:rPr>
              <a:t>Transfer video libraries, image repositories, ...</a:t>
            </a:r>
            <a:endParaRPr/>
          </a:p>
        </p:txBody>
      </p:sp>
      <p:pic>
        <p:nvPicPr>
          <p:cNvPr id="115" name="Google Shape;115;p11"/>
          <p:cNvPicPr preferRelativeResize="0"/>
          <p:nvPr/>
        </p:nvPicPr>
        <p:blipFill rotWithShape="1">
          <a:blip r:embed="rId3">
            <a:alphaModFix/>
          </a:blip>
          <a:srcRect b="0" l="0" r="0" t="0"/>
          <a:stretch/>
        </p:blipFill>
        <p:spPr>
          <a:xfrm>
            <a:off x="14528638" y="4504231"/>
            <a:ext cx="9699719" cy="37510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121" name="Google Shape;121;p12"/>
          <p:cNvSpPr txBox="1"/>
          <p:nvPr/>
        </p:nvSpPr>
        <p:spPr>
          <a:xfrm>
            <a:off x="1200152" y="2370386"/>
            <a:ext cx="22593704" cy="6112133"/>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Snowball client / S3 Adapter for Snowball</a:t>
            </a:r>
            <a:endParaRPr b="0" i="0" sz="3800" u="none" cap="none" strike="noStrike">
              <a:solidFill>
                <a:srgbClr val="000000"/>
              </a:solidFill>
              <a:latin typeface="Times New Roman"/>
              <a:ea typeface="Times New Roman"/>
              <a:cs typeface="Times New Roman"/>
              <a:sym typeface="Times New Roman"/>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Is a Software installed on Snowball Device to transfer data between Snowball device and on-premises workstation</a:t>
            </a:r>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Snowball client: using via UI</a:t>
            </a:r>
            <a:endParaRPr b="0" i="0" sz="3500" u="none" cap="none" strike="noStrike">
              <a:solidFill>
                <a:srgbClr val="000000"/>
              </a:solidFill>
              <a:latin typeface="Times New Roman"/>
              <a:ea typeface="Times New Roman"/>
              <a:cs typeface="Times New Roman"/>
              <a:sym typeface="Times New Roman"/>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S3 Adapter for Snowball: using via API, SDK, CLI</a:t>
            </a:r>
            <a:endParaRPr/>
          </a:p>
          <a:p>
            <a:pPr indent="-288924" lvl="2" marL="1500187" marR="0" rtl="0" algn="l">
              <a:lnSpc>
                <a:spcPct val="100000"/>
              </a:lnSpc>
              <a:spcBef>
                <a:spcPts val="5900"/>
              </a:spcBef>
              <a:spcAft>
                <a:spcPts val="0"/>
              </a:spcAft>
              <a:buClr>
                <a:srgbClr val="000000"/>
              </a:buClr>
              <a:buSzPts val="5075"/>
              <a:buFont typeface="Noto Sans Symbols"/>
              <a:buNone/>
            </a:pPr>
            <a:r>
              <a:t/>
            </a:r>
            <a:endParaRPr b="0" i="0" sz="3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3"/>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127" name="Google Shape;127;p13"/>
          <p:cNvSpPr txBox="1"/>
          <p:nvPr/>
        </p:nvSpPr>
        <p:spPr>
          <a:xfrm>
            <a:off x="1200152" y="2370386"/>
            <a:ext cx="23183848" cy="10372848"/>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OpsHub / Snowball Edge client</a:t>
            </a:r>
            <a:endParaRPr b="0" i="0" sz="3800" u="none" cap="none" strike="noStrike">
              <a:solidFill>
                <a:srgbClr val="000000"/>
              </a:solidFill>
              <a:latin typeface="Times New Roman"/>
              <a:ea typeface="Times New Roman"/>
              <a:cs typeface="Times New Roman"/>
              <a:sym typeface="Times New Roman"/>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Is a software which you install on your computer to manage your Snow Family Device</a:t>
            </a:r>
            <a:endParaRPr b="0" i="0" sz="3500" u="none" cap="none" strike="noStrike">
              <a:solidFill>
                <a:srgbClr val="000000"/>
              </a:solidFill>
              <a:latin typeface="Times New Roman"/>
              <a:ea typeface="Times New Roman"/>
              <a:cs typeface="Times New Roman"/>
              <a:sym typeface="Times New Roman"/>
            </a:endParaRPr>
          </a:p>
          <a:p>
            <a:pPr indent="-611187" lvl="2" marL="15001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Tasks:</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Unlocking and configuring single or clustered devices</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Transferring files</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Launching and managing instances running on Snow Family Devices</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Monitor device metrics (storage capacity, active instances on your device)</a:t>
            </a:r>
            <a:endParaRPr/>
          </a:p>
          <a:p>
            <a:pPr indent="-611186" lvl="3" marL="1944686" marR="0" rtl="0" algn="l">
              <a:lnSpc>
                <a:spcPct val="100000"/>
              </a:lnSpc>
              <a:spcBef>
                <a:spcPts val="5900"/>
              </a:spcBef>
              <a:spcAft>
                <a:spcPts val="0"/>
              </a:spcAft>
              <a:buClr>
                <a:srgbClr val="000000"/>
              </a:buClr>
              <a:buSzPts val="4350"/>
              <a:buFont typeface="Times New Roman"/>
              <a:buChar char="•"/>
            </a:pPr>
            <a:r>
              <a:rPr b="0" i="0" lang="en-US" sz="3000" u="none" cap="none" strike="noStrike">
                <a:solidFill>
                  <a:srgbClr val="000000"/>
                </a:solidFill>
                <a:latin typeface="Times New Roman"/>
                <a:ea typeface="Times New Roman"/>
                <a:cs typeface="Times New Roman"/>
                <a:sym typeface="Times New Roman"/>
              </a:rPr>
              <a:t>Launch compatible AWS services on your devices (ex: Amazon EC2 instances, AWS DataSync, Network File System (NFS))</a:t>
            </a:r>
            <a:endParaRPr/>
          </a:p>
          <a:p>
            <a:pPr indent="-288924" lvl="2" marL="1500187" marR="0" rtl="0" algn="l">
              <a:lnSpc>
                <a:spcPct val="100000"/>
              </a:lnSpc>
              <a:spcBef>
                <a:spcPts val="5900"/>
              </a:spcBef>
              <a:spcAft>
                <a:spcPts val="0"/>
              </a:spcAft>
              <a:buClr>
                <a:srgbClr val="000000"/>
              </a:buClr>
              <a:buSzPts val="5075"/>
              <a:buFont typeface="Noto Sans Symbols"/>
              <a:buNone/>
            </a:pPr>
            <a:r>
              <a:t/>
            </a:r>
            <a:endParaRPr b="0" i="0" sz="3500" u="none" cap="none" strike="noStrike">
              <a:solidFill>
                <a:srgbClr val="000000"/>
              </a:solidFill>
              <a:latin typeface="Times New Roman"/>
              <a:ea typeface="Times New Roman"/>
              <a:cs typeface="Times New Roman"/>
              <a:sym typeface="Times New Roman"/>
            </a:endParaRPr>
          </a:p>
          <a:p>
            <a:pPr indent="-288924" lvl="2" marL="1500187" marR="0" rtl="0" algn="l">
              <a:lnSpc>
                <a:spcPct val="100000"/>
              </a:lnSpc>
              <a:spcBef>
                <a:spcPts val="5900"/>
              </a:spcBef>
              <a:spcAft>
                <a:spcPts val="0"/>
              </a:spcAft>
              <a:buClr>
                <a:srgbClr val="000000"/>
              </a:buClr>
              <a:buSzPts val="5075"/>
              <a:buFont typeface="Noto Sans Symbols"/>
              <a:buNone/>
            </a:pPr>
            <a:r>
              <a:t/>
            </a:r>
            <a:endParaRPr b="0" i="0" sz="3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4"/>
          <p:cNvSpPr txBox="1"/>
          <p:nvPr/>
        </p:nvSpPr>
        <p:spPr>
          <a:xfrm>
            <a:off x="1200150" y="415383"/>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pic>
        <p:nvPicPr>
          <p:cNvPr descr="https://media.amazonwebservices.com/blog/2020/oh_dash_1.png" id="133" name="Google Shape;133;p14"/>
          <p:cNvPicPr preferRelativeResize="0"/>
          <p:nvPr/>
        </p:nvPicPr>
        <p:blipFill rotWithShape="1">
          <a:blip r:embed="rId3">
            <a:alphaModFix/>
          </a:blip>
          <a:srcRect b="0" l="0" r="0" t="0"/>
          <a:stretch/>
        </p:blipFill>
        <p:spPr>
          <a:xfrm>
            <a:off x="6478554" y="1829914"/>
            <a:ext cx="10603216" cy="10086956"/>
          </a:xfrm>
          <a:prstGeom prst="rect">
            <a:avLst/>
          </a:prstGeom>
          <a:noFill/>
          <a:ln>
            <a:noFill/>
          </a:ln>
        </p:spPr>
      </p:pic>
      <p:sp>
        <p:nvSpPr>
          <p:cNvPr id="134" name="Google Shape;134;p14"/>
          <p:cNvSpPr/>
          <p:nvPr/>
        </p:nvSpPr>
        <p:spPr>
          <a:xfrm>
            <a:off x="7345953" y="12085342"/>
            <a:ext cx="926407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1" lang="en-US" sz="32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https://www.youtube.com/watch?v=_A3A47Vuu0I</a:t>
            </a:r>
            <a:r>
              <a:rPr b="0" i="1" lang="en-US" sz="3200" u="none" cap="none" strike="noStrike">
                <a:solidFill>
                  <a:srgbClr val="000000"/>
                </a:solidFill>
                <a:latin typeface="Times New Roman"/>
                <a:ea typeface="Times New Roman"/>
                <a:cs typeface="Times New Roman"/>
                <a:sym typeface="Times New Roman"/>
              </a:rPr>
              <a:t> </a:t>
            </a:r>
            <a:endParaRPr b="0" i="1"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txBox="1"/>
          <p:nvPr/>
        </p:nvSpPr>
        <p:spPr>
          <a:xfrm>
            <a:off x="1200150" y="393081"/>
            <a:ext cx="8705850" cy="10899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Snow Family Service</a:t>
            </a:r>
            <a:endParaRPr b="1" i="0" sz="6000" u="none" cap="none" strike="noStrike">
              <a:solidFill>
                <a:srgbClr val="4F81BD"/>
              </a:solidFill>
              <a:latin typeface="Times New Roman"/>
              <a:ea typeface="Times New Roman"/>
              <a:cs typeface="Times New Roman"/>
              <a:sym typeface="Times New Roman"/>
            </a:endParaRPr>
          </a:p>
        </p:txBody>
      </p:sp>
      <p:sp>
        <p:nvSpPr>
          <p:cNvPr id="140" name="Google Shape;140;p15"/>
          <p:cNvSpPr txBox="1"/>
          <p:nvPr/>
        </p:nvSpPr>
        <p:spPr>
          <a:xfrm>
            <a:off x="1200151" y="2370386"/>
            <a:ext cx="22846623" cy="2668542"/>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Snowball into Glacier</a:t>
            </a:r>
            <a:endParaRPr b="0" i="0" sz="4000" u="none" cap="none" strike="noStrike">
              <a:solidFill>
                <a:srgbClr val="000000"/>
              </a:solidFill>
              <a:latin typeface="Times New Roman"/>
              <a:ea typeface="Times New Roman"/>
              <a:cs typeface="Times New Roman"/>
              <a:sym typeface="Times New Roman"/>
            </a:endParaRPr>
          </a:p>
          <a:p>
            <a:pPr indent="-611187" lvl="1" marL="1055687" marR="0" rtl="0" algn="l">
              <a:lnSpc>
                <a:spcPct val="100000"/>
              </a:lnSpc>
              <a:spcBef>
                <a:spcPts val="5900"/>
              </a:spcBef>
              <a:spcAft>
                <a:spcPts val="0"/>
              </a:spcAft>
              <a:buClr>
                <a:srgbClr val="000000"/>
              </a:buClr>
              <a:buSzPts val="5510"/>
              <a:buFont typeface="Courier New"/>
              <a:buChar char="o"/>
            </a:pPr>
            <a:r>
              <a:rPr b="0" i="0" lang="en-US" sz="3800" u="none" cap="none" strike="noStrike">
                <a:solidFill>
                  <a:srgbClr val="000000"/>
                </a:solidFill>
                <a:latin typeface="Times New Roman"/>
                <a:ea typeface="Times New Roman"/>
                <a:cs typeface="Times New Roman"/>
                <a:sym typeface="Times New Roman"/>
              </a:rPr>
              <a:t>Snowball cannot import to Glacier directly, you must use Amazon S3 first, in combination with an S3 lifecycle policy</a:t>
            </a:r>
            <a:endParaRPr/>
          </a:p>
          <a:p>
            <a:pPr indent="-261302" lvl="1" marL="1055687" marR="0" rtl="0" algn="l">
              <a:lnSpc>
                <a:spcPct val="100000"/>
              </a:lnSpc>
              <a:spcBef>
                <a:spcPts val="5900"/>
              </a:spcBef>
              <a:spcAft>
                <a:spcPts val="0"/>
              </a:spcAft>
              <a:buClr>
                <a:srgbClr val="000000"/>
              </a:buClr>
              <a:buSzPts val="5510"/>
              <a:buFont typeface="Courier New"/>
              <a:buNone/>
            </a:pPr>
            <a:r>
              <a:t/>
            </a:r>
            <a:endParaRPr b="0" i="0" sz="3800" u="none" cap="none" strike="noStrike">
              <a:solidFill>
                <a:srgbClr val="000000"/>
              </a:solidFill>
              <a:latin typeface="Times New Roman"/>
              <a:ea typeface="Times New Roman"/>
              <a:cs typeface="Times New Roman"/>
              <a:sym typeface="Times New Roman"/>
            </a:endParaRPr>
          </a:p>
        </p:txBody>
      </p:sp>
      <p:pic>
        <p:nvPicPr>
          <p:cNvPr id="141" name="Google Shape;141;p15"/>
          <p:cNvPicPr preferRelativeResize="0"/>
          <p:nvPr/>
        </p:nvPicPr>
        <p:blipFill rotWithShape="1">
          <a:blip r:embed="rId3">
            <a:alphaModFix/>
          </a:blip>
          <a:srcRect b="0" l="0" r="0" t="0"/>
          <a:stretch/>
        </p:blipFill>
        <p:spPr>
          <a:xfrm>
            <a:off x="6534564" y="6223271"/>
            <a:ext cx="12177795" cy="222195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nvSpPr>
        <p:spPr>
          <a:xfrm>
            <a:off x="1200150" y="571498"/>
            <a:ext cx="11372850"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Assignment</a:t>
            </a:r>
            <a:endParaRPr b="1" i="0" sz="6000" u="none" cap="none" strike="noStrike">
              <a:solidFill>
                <a:srgbClr val="4F81BD"/>
              </a:solidFill>
              <a:latin typeface="Times New Roman"/>
              <a:ea typeface="Times New Roman"/>
              <a:cs typeface="Times New Roman"/>
              <a:sym typeface="Times New Roman"/>
            </a:endParaRPr>
          </a:p>
        </p:txBody>
      </p:sp>
      <p:sp>
        <p:nvSpPr>
          <p:cNvPr id="147" name="Google Shape;147;p16"/>
          <p:cNvSpPr txBox="1"/>
          <p:nvPr/>
        </p:nvSpPr>
        <p:spPr>
          <a:xfrm>
            <a:off x="1371601" y="2370387"/>
            <a:ext cx="4743450" cy="1382463"/>
          </a:xfrm>
          <a:prstGeom prst="rect">
            <a:avLst/>
          </a:prstGeom>
          <a:noFill/>
          <a:ln>
            <a:noFill/>
          </a:ln>
        </p:spPr>
        <p:txBody>
          <a:bodyPr anchorCtr="0" anchor="t" bIns="45700" lIns="91425" spcFirstLastPara="1" rIns="91425" wrap="square" tIns="45700">
            <a:normAutofit/>
          </a:bodyPr>
          <a:lstStyle/>
          <a:p>
            <a:pPr indent="-611187" lvl="1" marL="1055687" marR="0" rtl="0" algn="l">
              <a:lnSpc>
                <a:spcPct val="100000"/>
              </a:lnSpc>
              <a:spcBef>
                <a:spcPts val="0"/>
              </a:spcBef>
              <a:spcAft>
                <a:spcPts val="0"/>
              </a:spcAft>
              <a:buClr>
                <a:srgbClr val="000000"/>
              </a:buClr>
              <a:buSzPts val="5800"/>
              <a:buFont typeface="Noto Sans Symbols"/>
              <a:buChar char="⮚"/>
            </a:pPr>
            <a:r>
              <a:rPr b="0" i="0" lang="en-US" sz="4000" u="none" cap="none" strike="noStrike">
                <a:solidFill>
                  <a:srgbClr val="000000"/>
                </a:solidFill>
                <a:latin typeface="Times New Roman"/>
                <a:ea typeface="Times New Roman"/>
                <a:cs typeface="Times New Roman"/>
                <a:sym typeface="Times New Roman"/>
              </a:rPr>
              <a:t> Self-practice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nvSpPr>
        <p:spPr>
          <a:xfrm>
            <a:off x="1200150" y="571498"/>
            <a:ext cx="11372850"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Storage Comparison</a:t>
            </a:r>
            <a:endParaRPr b="1" i="0" sz="6000" u="none" cap="none" strike="noStrike">
              <a:solidFill>
                <a:srgbClr val="4F81BD"/>
              </a:solidFill>
              <a:latin typeface="Times New Roman"/>
              <a:ea typeface="Times New Roman"/>
              <a:cs typeface="Times New Roman"/>
              <a:sym typeface="Times New Roman"/>
            </a:endParaRPr>
          </a:p>
        </p:txBody>
      </p:sp>
      <p:sp>
        <p:nvSpPr>
          <p:cNvPr id="153" name="Google Shape;153;p17"/>
          <p:cNvSpPr txBox="1"/>
          <p:nvPr/>
        </p:nvSpPr>
        <p:spPr>
          <a:xfrm>
            <a:off x="1371601" y="1767272"/>
            <a:ext cx="19679054" cy="10958128"/>
          </a:xfrm>
          <a:prstGeom prst="rect">
            <a:avLst/>
          </a:prstGeom>
          <a:noFill/>
          <a:ln>
            <a:noFill/>
          </a:ln>
        </p:spPr>
        <p:txBody>
          <a:bodyPr anchorCtr="0" anchor="t" bIns="45700" lIns="91425" spcFirstLastPara="1" rIns="91425" wrap="square" tIns="45700">
            <a:noAutofit/>
          </a:bodyPr>
          <a:lstStyle/>
          <a:p>
            <a:pPr indent="-611187" lvl="1" marL="1055687" marR="0" rtl="0" algn="l">
              <a:lnSpc>
                <a:spcPct val="100000"/>
              </a:lnSpc>
              <a:spcBef>
                <a:spcPts val="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S3: Object Storage</a:t>
            </a:r>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Glacier: Object Archival</a:t>
            </a:r>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EBS volumes: Network storage for one EC2 instance at a time</a:t>
            </a:r>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Instance Storage: Physical storage for your EC2 instance (high IOPS)</a:t>
            </a:r>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EFS: Network File System for Linux instances</a:t>
            </a:r>
            <a:endParaRPr b="0" i="0" sz="3500" u="none" cap="none" strike="noStrike">
              <a:solidFill>
                <a:srgbClr val="000000"/>
              </a:solidFill>
              <a:latin typeface="Times New Roman"/>
              <a:ea typeface="Times New Roman"/>
              <a:cs typeface="Times New Roman"/>
              <a:sym typeface="Times New Roman"/>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FSx for Windows: Network File System for Windows servers</a:t>
            </a:r>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FSx for Lustre: High Performance Computing Linux file system</a:t>
            </a:r>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Storage Gateway: File Gateway, Volume Gateway (cache &amp; stored), Tape Gateway</a:t>
            </a:r>
            <a:endParaRPr/>
          </a:p>
          <a:p>
            <a:pPr indent="-611187" lvl="1" marL="1055687" marR="0" rtl="0" algn="l">
              <a:lnSpc>
                <a:spcPct val="100000"/>
              </a:lnSpc>
              <a:spcBef>
                <a:spcPts val="5900"/>
              </a:spcBef>
              <a:spcAft>
                <a:spcPts val="0"/>
              </a:spcAft>
              <a:buClr>
                <a:srgbClr val="000000"/>
              </a:buClr>
              <a:buSzPts val="5075"/>
              <a:buFont typeface="Noto Sans Symbols"/>
              <a:buChar char="⮚"/>
            </a:pPr>
            <a:r>
              <a:rPr b="0" i="0" lang="en-US" sz="3500" u="none" cap="none" strike="noStrike">
                <a:solidFill>
                  <a:srgbClr val="000000"/>
                </a:solidFill>
                <a:latin typeface="Times New Roman"/>
                <a:ea typeface="Times New Roman"/>
                <a:cs typeface="Times New Roman"/>
                <a:sym typeface="Times New Roman"/>
              </a:rPr>
              <a:t>Snowball: To move large amount of data to the cloud (physically)</a:t>
            </a:r>
            <a:endParaRPr b="0" i="0" sz="3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nvSpPr>
        <p:spPr>
          <a:xfrm>
            <a:off x="1200150" y="571498"/>
            <a:ext cx="11372850"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Assignment</a:t>
            </a:r>
            <a:endParaRPr b="1" i="0" sz="6000" u="none" cap="none" strike="noStrike">
              <a:solidFill>
                <a:srgbClr val="4F81BD"/>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nvSpPr>
        <p:spPr>
          <a:xfrm>
            <a:off x="1374774" y="514346"/>
            <a:ext cx="11731626" cy="9694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F81BD"/>
              </a:buClr>
              <a:buSzPts val="5700"/>
              <a:buFont typeface="Noto Sans Symbols"/>
              <a:buNone/>
            </a:pPr>
            <a:r>
              <a:rPr b="1" i="0" lang="en-US" sz="5700" u="none" cap="none" strike="noStrike">
                <a:solidFill>
                  <a:srgbClr val="4F81BD"/>
                </a:solidFill>
                <a:latin typeface="Times New Roman"/>
                <a:ea typeface="Times New Roman"/>
                <a:cs typeface="Times New Roman"/>
                <a:sym typeface="Times New Roman"/>
              </a:rPr>
              <a:t>Quiz</a:t>
            </a:r>
            <a:endParaRPr b="1" i="0" sz="5700" u="none" cap="none" strike="noStrike">
              <a:solidFill>
                <a:srgbClr val="4F81BD"/>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0"/>
          <p:cNvSpPr txBox="1"/>
          <p:nvPr/>
        </p:nvSpPr>
        <p:spPr>
          <a:xfrm>
            <a:off x="1200150" y="571498"/>
            <a:ext cx="8229600"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Times New Roman"/>
                <a:ea typeface="Times New Roman"/>
                <a:cs typeface="Times New Roman"/>
                <a:sym typeface="Times New Roman"/>
              </a:rPr>
              <a:t>Reference</a:t>
            </a:r>
            <a:endParaRPr b="1" i="0" sz="6000" u="none" cap="none" strike="noStrike">
              <a:solidFill>
                <a:srgbClr val="4F81BD"/>
              </a:solidFill>
              <a:latin typeface="Times New Roman"/>
              <a:ea typeface="Times New Roman"/>
              <a:cs typeface="Times New Roman"/>
              <a:sym typeface="Times New Roman"/>
            </a:endParaRPr>
          </a:p>
        </p:txBody>
      </p:sp>
      <p:sp>
        <p:nvSpPr>
          <p:cNvPr id="169" name="Google Shape;169;p20"/>
          <p:cNvSpPr txBox="1"/>
          <p:nvPr/>
        </p:nvSpPr>
        <p:spPr>
          <a:xfrm>
            <a:off x="1857376" y="2335126"/>
            <a:ext cx="14737292" cy="2677141"/>
          </a:xfrm>
          <a:prstGeom prst="rect">
            <a:avLst/>
          </a:prstGeom>
          <a:noFill/>
          <a:ln>
            <a:noFill/>
          </a:ln>
        </p:spPr>
        <p:txBody>
          <a:bodyPr anchorCtr="0" anchor="t" bIns="45700" lIns="91425" spcFirstLastPara="1" rIns="91425" wrap="square" tIns="45700">
            <a:normAutofit/>
          </a:bodyPr>
          <a:lstStyle/>
          <a:p>
            <a:pPr indent="-428625" lvl="0" marL="428625" marR="0" rtl="0" algn="l">
              <a:lnSpc>
                <a:spcPct val="100000"/>
              </a:lnSpc>
              <a:spcBef>
                <a:spcPts val="0"/>
              </a:spcBef>
              <a:spcAft>
                <a:spcPts val="0"/>
              </a:spcAft>
              <a:buClr>
                <a:srgbClr val="000000"/>
              </a:buClr>
              <a:buSzPts val="6380"/>
              <a:buFont typeface="Noto Sans Symbols"/>
              <a:buChar char="⮚"/>
            </a:pPr>
            <a:r>
              <a:rPr b="0" i="0" lang="en-US" sz="4400" u="none" cap="none" strike="noStrike">
                <a:solidFill>
                  <a:srgbClr val="000000"/>
                </a:solidFill>
                <a:latin typeface="Times New Roman"/>
                <a:ea typeface="Times New Roman"/>
                <a:cs typeface="Times New Roman"/>
                <a:sym typeface="Times New Roman"/>
              </a:rPr>
              <a:t> </a:t>
            </a:r>
            <a:r>
              <a:rPr b="0" i="0" lang="en-US" sz="44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https://docs.aws.amazon.com/</a:t>
            </a:r>
            <a:r>
              <a:rPr b="0" i="0" lang="en-US" sz="4400" u="none" cap="none" strike="noStrike">
                <a:solidFill>
                  <a:srgbClr val="000000"/>
                </a:solidFill>
                <a:latin typeface="Times New Roman"/>
                <a:ea typeface="Times New Roman"/>
                <a:cs typeface="Times New Roman"/>
                <a:sym typeface="Times New Roman"/>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21"/>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200"/>
              <a:buFont typeface="Meiryo"/>
              <a:buNone/>
            </a:pPr>
            <a:r>
              <a:rPr b="0" i="0" lang="en-US" sz="2200" u="none" cap="none" strike="noStrike">
                <a:solidFill>
                  <a:schemeClr val="dk1"/>
                </a:solidFill>
                <a:latin typeface="Meiryo"/>
                <a:ea typeface="Meiryo"/>
                <a:cs typeface="Meiryo"/>
                <a:sym typeface="Meiryo"/>
              </a:rPr>
              <a:t>Copyright </a:t>
            </a:r>
            <a:r>
              <a:rPr b="0" i="1" lang="en-US" sz="2200" u="none" cap="none" strike="noStrike">
                <a:solidFill>
                  <a:schemeClr val="dk1"/>
                </a:solidFill>
                <a:latin typeface="Meiryo"/>
                <a:ea typeface="Meiryo"/>
                <a:cs typeface="Meiryo"/>
                <a:sym typeface="Meiryo"/>
              </a:rPr>
              <a:t>© </a:t>
            </a:r>
            <a:r>
              <a:rPr b="0" i="0" lang="en-US" sz="2200" u="none" cap="none" strike="noStrike">
                <a:solidFill>
                  <a:schemeClr val="dk1"/>
                </a:solidFill>
                <a:latin typeface="Meiryo"/>
                <a:ea typeface="Meiryo"/>
                <a:cs typeface="Meiryo"/>
                <a:sym typeface="Meiryo"/>
              </a:rPr>
              <a:t>VTI Academy All Rights Reserved </a:t>
            </a:r>
            <a:endParaRPr/>
          </a:p>
        </p:txBody>
      </p:sp>
      <p:sp>
        <p:nvSpPr>
          <p:cNvPr id="176" name="Google Shape;176;p21"/>
          <p:cNvSpPr/>
          <p:nvPr/>
        </p:nvSpPr>
        <p:spPr>
          <a:xfrm>
            <a:off x="7195160" y="5450175"/>
            <a:ext cx="10095282"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517F"/>
              </a:buClr>
              <a:buSzPts val="8800"/>
              <a:buFont typeface="Times New Roman"/>
              <a:buNone/>
            </a:pPr>
            <a:r>
              <a:rPr b="0" i="0" lang="en-US" sz="8800" u="none" cap="none" strike="noStrike">
                <a:solidFill>
                  <a:srgbClr val="00517F"/>
                </a:solidFill>
                <a:latin typeface="Times New Roman"/>
                <a:ea typeface="Times New Roman"/>
                <a:cs typeface="Times New Roman"/>
                <a:sym typeface="Times New Roman"/>
              </a:rPr>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