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i9wq1Fsc8rIormqxGwoS83Haza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5D155F-420B-4DC6-B3AA-BA808FCCB110}">
  <a:tblStyle styleId="{8E5D155F-420B-4DC6-B3AA-BA808FCCB110}" styleName="Table_0">
    <a:wholeTbl>
      <a:tcTxStyle b="off" i="off">
        <a:font>
          <a:latin typeface="Helvetica Neue Medium"/>
          <a:ea typeface="Helvetica Neue Medium"/>
          <a:cs typeface="Helvetica Neue Medium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customschemas.google.com/relationships/presentationmetadata" Target="meta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2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2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2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3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3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4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4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5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35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5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35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35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6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36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36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36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32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32"/>
          <p:cNvSpPr txBox="1"/>
          <p:nvPr>
            <p:ph idx="12" type="sldNum"/>
          </p:nvPr>
        </p:nvSpPr>
        <p:spPr>
          <a:xfrm>
            <a:off x="11954103" y="13073062"/>
            <a:ext cx="466269" cy="82135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hyperlink" Target="https://docs.aws.amazon.com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ws.amazon.com/" TargetMode="External"/><Relationship Id="rId4" Type="http://schemas.openxmlformats.org/officeDocument/2006/relationships/hyperlink" Target="https://docs.aws.amazon.com/index.html" TargetMode="External"/><Relationship Id="rId5" Type="http://schemas.openxmlformats.org/officeDocument/2006/relationships/hyperlink" Target="https://workshops.aws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console.aws.amazon.com/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console.aws.amazon.com/" TargetMode="External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aws.amazon.com/free/" TargetMode="External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hyperlink" Target="https://infrastructure.aws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hyperlink" Target="https://aws.amazon.com/about-aws/global-infrastructure" TargetMode="External"/><Relationship Id="rId5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Relationship Id="rId4" Type="http://schemas.openxmlformats.org/officeDocument/2006/relationships/hyperlink" Target="https://aws.amazon.com/cloudfront/features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ocs.aws.amazon.com/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1845217" y="3116480"/>
            <a:ext cx="15217098" cy="9329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Times New Roman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Course Overview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Times New Roman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AWS Introduction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Times New Roman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AWS Certification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Times New Roman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Setup Account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Times New Roman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AWS Global Infrastructure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Times New Roman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Assignments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Times New Roman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Quiz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Overview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601035" y="2265848"/>
            <a:ext cx="16191665" cy="4134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 Lessons per week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Setup Drive File Stream, Zoom, ... Other Software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Introduce document, class’s rules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5046" y="6400800"/>
            <a:ext cx="13599611" cy="559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/>
        </p:nvSpPr>
        <p:spPr>
          <a:xfrm>
            <a:off x="1200150" y="571498"/>
            <a:ext cx="7204814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Introduction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1601035" y="2265849"/>
            <a:ext cx="20382665" cy="5239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AWS (Amazon Web Services) is a Cloud Provider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Providing servers &amp; services that you can use on demand and scale easily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Revolution IT over time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Famous websites use AWS: Amazon.com, Netflix, Facebook, Twitch, ...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Introduction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4" name="Google Shape;64;p5"/>
          <p:cNvGraphicFramePr/>
          <p:nvPr/>
        </p:nvGraphicFramePr>
        <p:xfrm>
          <a:off x="203199" y="2895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{8E5D155F-420B-4DC6-B3AA-BA808FCCB110}</a:tableStyleId>
              </a:tblPr>
              <a:tblGrid>
                <a:gridCol w="7166675"/>
                <a:gridCol w="8134425"/>
              </a:tblGrid>
              <a:tr h="106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800"/>
                        <a:buFont typeface="Times New Roman"/>
                        <a:buNone/>
                      </a:pPr>
                      <a:r>
                        <a:rPr b="1" lang="en-US" sz="3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On-premises</a:t>
                      </a:r>
                      <a:endParaRPr b="1" sz="3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800"/>
                        <a:buFont typeface="Times New Roman"/>
                        <a:buNone/>
                      </a:pPr>
                      <a:r>
                        <a:rPr b="1" lang="en-US" sz="3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Cloud Computing (AWS)</a:t>
                      </a:r>
                      <a:endParaRPr b="1" sz="3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116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Times New Roman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 initial purchases 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Times New Roman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(Buying Device, PC, Room, ...)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Times New Roman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upfront investment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Times New Roman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(Suitable for startups)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139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Times New Roman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 on-going costs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Times New Roman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More expensive on-going costs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116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Times New Roman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Many operators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Times New Roman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(Admin, IT, DevOps, ...)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Times New Roman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Setup easily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Times New Roman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(Config hardware, network, software to use)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116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Times New Roman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Fixed capacity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Times New Roman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(PC has 64 GB RAM, 2TB Disk, ...)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Times New Roman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Flexible capacity, scalable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Times New Roman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(Suitable for startups large company)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116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Times New Roman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Procurement and setup 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Times New Roman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(Setup hardware, network, software, ...)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Times New Roman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 on application, function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Times New Roman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Speed and agility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116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Times New Roman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geographic regions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Times New Roman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Global reach on demand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id="65" name="Google Shape;6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07491" y="4627026"/>
            <a:ext cx="8488323" cy="459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Introduction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ttps://www.ebcgroup.co.uk/wp-content/uploads/2020/05/Cloud_setups.png" id="71" name="Google Shape;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1036" y="3424137"/>
            <a:ext cx="20783587" cy="808378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6"/>
          <p:cNvSpPr txBox="1"/>
          <p:nvPr/>
        </p:nvSpPr>
        <p:spPr>
          <a:xfrm>
            <a:off x="1601036" y="2265849"/>
            <a:ext cx="5281027" cy="1158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Deployments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Introduction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7"/>
          <p:cNvSpPr txBox="1"/>
          <p:nvPr/>
        </p:nvSpPr>
        <p:spPr>
          <a:xfrm>
            <a:off x="1601036" y="2265849"/>
            <a:ext cx="15507869" cy="91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AWS Use 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enables you to build sophisticated, scalable applications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Backup &amp; Storage, Big Data analytics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Website hosting, Mobile &amp; Social Apps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Gaming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Machine learning, AI Application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...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Introduction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1601036" y="2265849"/>
            <a:ext cx="6767460" cy="1158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Cloud Service Models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AAS, PAAS, SAAS infographic" id="85" name="Google Shape;8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4306" y="4045388"/>
            <a:ext cx="16682694" cy="7414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Introduction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1097" y="2870200"/>
            <a:ext cx="17617910" cy="845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Introduction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0"/>
          <p:cNvSpPr txBox="1"/>
          <p:nvPr/>
        </p:nvSpPr>
        <p:spPr>
          <a:xfrm>
            <a:off x="1601035" y="2265849"/>
            <a:ext cx="5180765" cy="1125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AWS Services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49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None/>
            </a:pPr>
            <a:r>
              <a:t/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0357" y="3181351"/>
            <a:ext cx="17059448" cy="879556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0"/>
          <p:cNvSpPr/>
          <p:nvPr/>
        </p:nvSpPr>
        <p:spPr>
          <a:xfrm>
            <a:off x="8906197" y="11970282"/>
            <a:ext cx="580960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Introduction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3686" y="3069779"/>
            <a:ext cx="15475912" cy="7455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Introduction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2"/>
          <p:cNvSpPr txBox="1"/>
          <p:nvPr/>
        </p:nvSpPr>
        <p:spPr>
          <a:xfrm>
            <a:off x="1601025" y="2265850"/>
            <a:ext cx="15791700" cy="51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Home page: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Document: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https://docs.aws.amazon.com/index.html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Workshop: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https://workshops.aws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 txBox="1"/>
          <p:nvPr/>
        </p:nvSpPr>
        <p:spPr>
          <a:xfrm>
            <a:off x="1200150" y="571498"/>
            <a:ext cx="17852961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Certification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7" name="Google Shape;11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2115" y="1511324"/>
            <a:ext cx="18967785" cy="1096865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3"/>
          <p:cNvSpPr/>
          <p:nvPr/>
        </p:nvSpPr>
        <p:spPr>
          <a:xfrm>
            <a:off x="7666390" y="12104750"/>
            <a:ext cx="10343314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Solution Architect Associate Certification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/>
        </p:nvSpPr>
        <p:spPr>
          <a:xfrm>
            <a:off x="1200150" y="571498"/>
            <a:ext cx="17852961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Certification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1601035" y="2265848"/>
            <a:ext cx="16191665" cy="5121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Required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Basic IT knowledge (Programming, DevOps, SysOps)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English reading skill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 over 30 AWS Services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/>
        </p:nvSpPr>
        <p:spPr>
          <a:xfrm>
            <a:off x="1200150" y="571498"/>
            <a:ext cx="17852961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 Account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1601035" y="2265847"/>
            <a:ext cx="6742865" cy="25347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Academy’ Account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Create AWS Account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/>
        </p:nvSpPr>
        <p:spPr>
          <a:xfrm>
            <a:off x="1200150" y="571498"/>
            <a:ext cx="17852961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 Account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1601035" y="2265847"/>
            <a:ext cx="6742865" cy="25347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Academy’ Account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10594113" y="6256400"/>
            <a:ext cx="13692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TODO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/>
        </p:nvSpPr>
        <p:spPr>
          <a:xfrm>
            <a:off x="1200150" y="571498"/>
            <a:ext cx="17852961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 Account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1601035" y="2265847"/>
            <a:ext cx="6742865" cy="25347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Create AWS Account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927894" y="10824955"/>
            <a:ext cx="615104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http://console.aws.amazon.com/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106" y="3742773"/>
            <a:ext cx="5572618" cy="7082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51300" y="4052127"/>
            <a:ext cx="6995553" cy="677282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/>
        </p:nvSpPr>
        <p:spPr>
          <a:xfrm>
            <a:off x="11362773" y="11717146"/>
            <a:ext cx="2333349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Signup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/>
        </p:nvSpPr>
        <p:spPr>
          <a:xfrm>
            <a:off x="1200150" y="571498"/>
            <a:ext cx="17852961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 Account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2387008" y="9788444"/>
            <a:ext cx="615104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http://console.aws.amazon.com/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15626500" y="9788484"/>
            <a:ext cx="2088580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Sign-in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5860" y="3533223"/>
            <a:ext cx="6753340" cy="6255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92197" y="3533223"/>
            <a:ext cx="13757187" cy="6255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/>
          <p:nvPr/>
        </p:nvSpPr>
        <p:spPr>
          <a:xfrm>
            <a:off x="1200150" y="571498"/>
            <a:ext cx="17852961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 Account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1601036" y="2265847"/>
            <a:ext cx="3924276" cy="1002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Free tier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9115207" y="11623994"/>
            <a:ext cx="5758469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563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https://aws.amazon.com/free/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7910" y="3470771"/>
            <a:ext cx="18233065" cy="8153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/>
        </p:nvSpPr>
        <p:spPr>
          <a:xfrm>
            <a:off x="1200150" y="571498"/>
            <a:ext cx="10492497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Global Infrastructure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1423235" y="2697647"/>
            <a:ext cx="6882565" cy="5944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Regions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Availability Zones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Centers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Edge Locations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7" name="Google Shape;1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8150" y="2160747"/>
            <a:ext cx="15007451" cy="883452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/>
          <p:nvPr/>
        </p:nvSpPr>
        <p:spPr>
          <a:xfrm>
            <a:off x="14262730" y="11043150"/>
            <a:ext cx="476123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https://infrastructure.aws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/>
        </p:nvSpPr>
        <p:spPr>
          <a:xfrm>
            <a:off x="1200150" y="571498"/>
            <a:ext cx="10492497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Global Infrastructure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1311691" y="2138847"/>
            <a:ext cx="10380956" cy="4363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428671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Times New Roman"/>
              <a:buChar char="⮚"/>
            </a:pPr>
            <a:r>
              <a:rPr b="0" i="0" lang="en-US" sz="4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Regions</a:t>
            </a:r>
            <a:endParaRPr b="0" i="0" sz="4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4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cluster of data centers</a:t>
            </a:r>
            <a:endParaRPr b="0" i="0" sz="4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233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Courier New"/>
              <a:buChar char="o"/>
            </a:pPr>
            <a:r>
              <a:rPr b="0" i="0" lang="en-US" sz="4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AWS has Regions all around the world</a:t>
            </a:r>
            <a:endParaRPr b="0" i="0" sz="4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233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Courier New"/>
              <a:buChar char="o"/>
            </a:pPr>
            <a:r>
              <a:rPr b="0" i="0" lang="en-US" sz="4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Most AWS services are region-scoped</a:t>
            </a:r>
            <a:endParaRPr b="0" i="0" sz="4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5" name="Google Shape;1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1664" y="6793937"/>
            <a:ext cx="9614801" cy="519344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/>
          <p:nvPr/>
        </p:nvSpPr>
        <p:spPr>
          <a:xfrm>
            <a:off x="5878932" y="12066898"/>
            <a:ext cx="11960266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https://aws.amazon.com/about-aws/global-infrastructure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7" name="Google Shape;18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839198" y="2138847"/>
            <a:ext cx="6341602" cy="8953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/>
        </p:nvSpPr>
        <p:spPr>
          <a:xfrm>
            <a:off x="1200150" y="571498"/>
            <a:ext cx="10492497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Global Infrastructure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3"/>
          <p:cNvSpPr txBox="1"/>
          <p:nvPr/>
        </p:nvSpPr>
        <p:spPr>
          <a:xfrm>
            <a:off x="1311691" y="2138847"/>
            <a:ext cx="10380956" cy="41603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region based 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Times New Roman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are the customers?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Times New Roman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Reduced latency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4" name="Google Shape;1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8500" y="6190950"/>
            <a:ext cx="11640300" cy="632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/>
        </p:nvSpPr>
        <p:spPr>
          <a:xfrm>
            <a:off x="1200150" y="571498"/>
            <a:ext cx="10492497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Global Infrastructure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971550" y="2138847"/>
            <a:ext cx="15106650" cy="10229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Availability Zones (AZ)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region has many availability zones (2 -&gt; 6 zones per region)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889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Example: ap-southeast-2a, ap-southeast-2b, ap-southeast-2c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AZ is one or more discrete data centers with redundant power, networking, and connectivity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They’re separate from each other (isolated from disasters)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They’re connected with high bandwidth, ultra-low latency networking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1" name="Google Shape;20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93595" y="3448050"/>
            <a:ext cx="7707338" cy="68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/>
        </p:nvSpPr>
        <p:spPr>
          <a:xfrm>
            <a:off x="1200150" y="571498"/>
            <a:ext cx="10492497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Global Infrastructure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1771650" y="2596047"/>
            <a:ext cx="22364700" cy="4014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Edge Locations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Amazon has 206 Edge Locations in 84 cities across 42 countries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Locations using for caching content which is delivered to end users with lower latency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4344" y="6719025"/>
            <a:ext cx="10293311" cy="5572477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5"/>
          <p:cNvSpPr/>
          <p:nvPr/>
        </p:nvSpPr>
        <p:spPr>
          <a:xfrm>
            <a:off x="7852338" y="12032963"/>
            <a:ext cx="822212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https://aws.amazon.com/cloudfront/features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/>
        </p:nvSpPr>
        <p:spPr>
          <a:xfrm>
            <a:off x="4505606" y="10259345"/>
            <a:ext cx="14881225" cy="1590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50"/>
              <a:buFont typeface="Times New Roman"/>
              <a:buNone/>
            </a:pPr>
            <a:r>
              <a:rPr b="0" i="1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 Regions &amp; 77 Availability Zones – 2021</a:t>
            </a:r>
            <a:endParaRPr b="0" i="1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4950"/>
              <a:buFont typeface="Times New Roman"/>
              <a:buNone/>
            </a:pPr>
            <a:r>
              <a:rPr b="0" i="1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More Regions &amp; 12 More AZ’s for 2022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4950"/>
              <a:buFont typeface="Times New Roman"/>
              <a:buNone/>
            </a:pPr>
            <a:r>
              <a:rPr b="1" i="1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has no infrastructure in Vietnam</a:t>
            </a:r>
            <a:endParaRPr b="1" i="1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5" name="Google Shape;21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0092" y="3159125"/>
            <a:ext cx="12566650" cy="71247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" name="Google Shape;216;p26"/>
          <p:cNvGrpSpPr/>
          <p:nvPr/>
        </p:nvGrpSpPr>
        <p:grpSpPr>
          <a:xfrm>
            <a:off x="3420750" y="8621815"/>
            <a:ext cx="3124199" cy="708772"/>
            <a:chOff x="196669" y="2688917"/>
            <a:chExt cx="4165599" cy="945028"/>
          </a:xfrm>
        </p:grpSpPr>
        <p:pic>
          <p:nvPicPr>
            <p:cNvPr descr="homepage_map_region" id="217" name="Google Shape;21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6669" y="3217172"/>
              <a:ext cx="284543" cy="2845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pdated-homepage_map_edge-pop" id="218" name="Google Shape;218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6283" y="2848964"/>
              <a:ext cx="179497" cy="1733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26"/>
            <p:cNvSpPr/>
            <p:nvPr/>
          </p:nvSpPr>
          <p:spPr>
            <a:xfrm>
              <a:off x="443941" y="3100466"/>
              <a:ext cx="3918327" cy="5334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Infrastructure Region </a:t>
              </a:r>
              <a:endParaRPr b="1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399869" y="2688917"/>
              <a:ext cx="2305907" cy="5334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Edge POP</a:t>
              </a:r>
              <a:endParaRPr b="1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21" name="Google Shape;221;p26"/>
          <p:cNvSpPr txBox="1"/>
          <p:nvPr/>
        </p:nvSpPr>
        <p:spPr>
          <a:xfrm>
            <a:off x="1200150" y="571498"/>
            <a:ext cx="10492497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Global Infrastructure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/>
        </p:nvSpPr>
        <p:spPr>
          <a:xfrm>
            <a:off x="1200150" y="571498"/>
            <a:ext cx="10492497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27"/>
          <p:cNvSpPr txBox="1"/>
          <p:nvPr/>
        </p:nvSpPr>
        <p:spPr>
          <a:xfrm>
            <a:off x="1771650" y="2596047"/>
            <a:ext cx="22364700" cy="8643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Times New Roman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On-premises &amp; Cloud Computing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Times New Roman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AWS: is a Cloud Provider, providing servers &amp; services that you can use on demand and scalable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Times New Roman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Cloud Service Models: IAAS, PAAS, SAAS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Times New Roman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AWS Certification: Solution Architect (Associate)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Times New Roman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AWS Account: Academy’ Account, My AWS Account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Times New Roman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AWS Global infrastructure: Regions, Availability Zones, Data Centers, Edge Locations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8740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Times New Roman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8740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Times New Roman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/>
        </p:nvSpPr>
        <p:spPr>
          <a:xfrm>
            <a:off x="1374774" y="514346"/>
            <a:ext cx="117316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Times New Roman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Quiz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30"/>
          <p:cNvSpPr txBox="1"/>
          <p:nvPr/>
        </p:nvSpPr>
        <p:spPr>
          <a:xfrm>
            <a:off x="1857376" y="2335126"/>
            <a:ext cx="14737292" cy="2677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44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31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