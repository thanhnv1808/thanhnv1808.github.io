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g5ZtnjSmP5W5hKUkWNc7bOoh/j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2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3" name="Google Shape;1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9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29"/>
          <p:cNvSpPr txBox="1"/>
          <p:nvPr>
            <p:ph idx="12" type="sldNum"/>
          </p:nvPr>
        </p:nvSpPr>
        <p:spPr>
          <a:xfrm>
            <a:off x="8820083" y="13156977"/>
            <a:ext cx="6743833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</a:t>
            </a:r>
            <a:r>
              <a:rPr i="1" lang="en-US"/>
              <a:t>© </a:t>
            </a:r>
            <a:r>
              <a:rPr lang="en-US"/>
              <a:t>VTI Academy All Right Reserved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0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30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0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" name="Google Shape;20;p30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" name="Google Shape;21;p30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22" name="Google Shape;22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1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31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31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31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9" name="Google Shape;2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27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ws.amazon.com/glue/pricing" TargetMode="External"/><Relationship Id="rId4" Type="http://schemas.openxmlformats.org/officeDocument/2006/relationships/hyperlink" Target="https://docs.aws.amazon.com/glue/latest/dg/what-is-glue.html" TargetMode="External"/><Relationship Id="rId5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youtube.com/watch?v=taR2hRZ2AwI" TargetMode="External"/><Relationship Id="rId4" Type="http://schemas.openxmlformats.org/officeDocument/2006/relationships/hyperlink" Target="https://www.youtube.com/watch?v=KkN8lQ-jr58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ws.amazon.com/athena/pricing" TargetMode="External"/><Relationship Id="rId4" Type="http://schemas.openxmlformats.org/officeDocument/2006/relationships/image" Target="../media/image15.png"/><Relationship Id="rId5" Type="http://schemas.openxmlformats.org/officeDocument/2006/relationships/hyperlink" Target="https://docs.aws.amazon.com/athena/latest/ug/what-is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youtube.com/watch?v=B_bdwc6MSkg" TargetMode="External"/><Relationship Id="rId4" Type="http://schemas.openxmlformats.org/officeDocument/2006/relationships/hyperlink" Target="https://www.youtube.com/watch?v=M5ptG0YaqAs" TargetMode="External"/><Relationship Id="rId5" Type="http://schemas.openxmlformats.org/officeDocument/2006/relationships/hyperlink" Target="https://www.youtube.com/watch?v=8VOf1PUFE0I" TargetMode="External"/><Relationship Id="rId6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aws.amazon.com/quicksight/latest/user/welcome.html" TargetMode="External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youtube.com/watch?v=hh6ItJbCUQ0" TargetMode="External"/><Relationship Id="rId4" Type="http://schemas.openxmlformats.org/officeDocument/2006/relationships/hyperlink" Target="https://www.youtube.com/watch?v=WfJsrVZtzH8" TargetMode="External"/><Relationship Id="rId5" Type="http://schemas.openxmlformats.org/officeDocument/2006/relationships/hyperlink" Target="https://www.youtube.com/watch?v=CSrB_8oJ-jM" TargetMode="External"/><Relationship Id="rId6" Type="http://schemas.openxmlformats.org/officeDocument/2006/relationships/hyperlink" Target="https://www.youtube.com/watch?v=yBOAQPD4jos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aws.amazon.com/neptune/pricing/" TargetMode="External"/><Relationship Id="rId4" Type="http://schemas.openxmlformats.org/officeDocument/2006/relationships/hyperlink" Target="https://docs.aws.amazon.com/neptune/latest/userguide/intro.html" TargetMode="External"/><Relationship Id="rId5" Type="http://schemas.openxmlformats.org/officeDocument/2006/relationships/image" Target="../media/image8.png"/><Relationship Id="rId6" Type="http://schemas.openxmlformats.org/officeDocument/2006/relationships/image" Target="../media/image17.png"/><Relationship Id="rId7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youtube.com/watch?v=rsAKj7sMbbQ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ocs.aws.amazon.com/emr/latest/ManagementGuide/emr-what-is-emr.html" TargetMode="External"/><Relationship Id="rId4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aws.amazon.com/emr/pricing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youtube.com/watch?v=ulQdA6MUnTk" TargetMode="External"/><Relationship Id="rId4" Type="http://schemas.openxmlformats.org/officeDocument/2006/relationships/hyperlink" Target="https://docs.aws.amazon.com/emr/latest/ManagementGuide/emr-gs.htm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aws.amazon.com/blogs/big-data/build-a-lake-house-architecture-on-aws/" TargetMode="External"/><Relationship Id="rId4" Type="http://schemas.openxmlformats.org/officeDocument/2006/relationships/image" Target="../media/image2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8200"/>
              <a:buFont typeface="Calibri"/>
              <a:buNone/>
            </a:pPr>
            <a:r>
              <a:rPr lang="en-US">
                <a:solidFill>
                  <a:srgbClr val="0079B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1845216" y="3116480"/>
            <a:ext cx="17291869" cy="9717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Glue Service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Athena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QuickSight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Neptune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Elastic MapReduce Service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Lakehouse Architecture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1200149" y="571498"/>
            <a:ext cx="53530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1117434" y="2370386"/>
            <a:ext cx="13322466" cy="6479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Managed extract, transform, load (ETL) service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Usecases: Prepare and transform data for analytics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Serverless service 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Regional service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https://aws.amazon.com/glue/pricing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1611229" y="12089898"/>
            <a:ext cx="205870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https://docs.aws.amazon.com/glue/latest/dg/what-is-glue.html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" name="Google Shape;5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98864" y="8849948"/>
            <a:ext cx="14208356" cy="287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 txBox="1"/>
          <p:nvPr/>
        </p:nvSpPr>
        <p:spPr>
          <a:xfrm>
            <a:off x="1200149" y="571498"/>
            <a:ext cx="53530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1117434" y="2370386"/>
            <a:ext cx="12122316" cy="2487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Sources: S3, RDS, DynamoDB, Redshift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Target Sources: S3, RDS, DynamoDB, Redshift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" name="Google Shape;6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2212" y="4548187"/>
            <a:ext cx="10908348" cy="7834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 txBox="1"/>
          <p:nvPr/>
        </p:nvSpPr>
        <p:spPr>
          <a:xfrm>
            <a:off x="1117434" y="2370386"/>
            <a:ext cx="22237866" cy="7726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Tutorial &amp; Demo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https://www.youtube.com/watch?v=taR2hRZ2AwI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https://www.youtube.com/watch?v=KkN8lQ-jr58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1200149" y="571498"/>
            <a:ext cx="53530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/>
          <p:nvPr/>
        </p:nvSpPr>
        <p:spPr>
          <a:xfrm>
            <a:off x="1200149" y="571498"/>
            <a:ext cx="71628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Athena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7"/>
          <p:cNvSpPr txBox="1"/>
          <p:nvPr/>
        </p:nvSpPr>
        <p:spPr>
          <a:xfrm>
            <a:off x="1117434" y="2370386"/>
            <a:ext cx="22161666" cy="10564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service that allows querying data directly on different data sources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 S3, Craw data via Glue Service (S3, RDS, DynamoDB, Redshift, ...) 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SQL syntax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Serverless service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Run read-only query in parallel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 compressed or columnar data 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Supports CSV, JSON, ORC, Avro, Parquet (built on Presto)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Advantages over S3-Select, can create tables, create complex queries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" name="Google Shape;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4746" y="4482357"/>
            <a:ext cx="12033333" cy="5548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/>
        </p:nvSpPr>
        <p:spPr>
          <a:xfrm>
            <a:off x="1117434" y="2370386"/>
            <a:ext cx="17456316" cy="6545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queries log files stored on S3, log analytics 🡺 generate report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&amp; reporting &amp; query VPC Flow Logs, ELB Logs, CloudTrail trails, ...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Regional service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https://aws.amazon.com/athena/pricing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/>
          </a:p>
        </p:txBody>
      </p:sp>
      <p:sp>
        <p:nvSpPr>
          <p:cNvPr id="85" name="Google Shape;85;p8"/>
          <p:cNvSpPr txBox="1"/>
          <p:nvPr/>
        </p:nvSpPr>
        <p:spPr>
          <a:xfrm>
            <a:off x="1200149" y="571498"/>
            <a:ext cx="71628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Athena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16582" y="2370386"/>
            <a:ext cx="3924486" cy="832551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8"/>
          <p:cNvSpPr/>
          <p:nvPr/>
        </p:nvSpPr>
        <p:spPr>
          <a:xfrm>
            <a:off x="17583150" y="10695904"/>
            <a:ext cx="699135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 Tip: analyze data in S3 using serverless SQL 🡺 using Athena</a:t>
            </a:r>
            <a:endParaRPr/>
          </a:p>
        </p:txBody>
      </p:sp>
      <p:sp>
        <p:nvSpPr>
          <p:cNvPr id="88" name="Google Shape;88;p8"/>
          <p:cNvSpPr/>
          <p:nvPr/>
        </p:nvSpPr>
        <p:spPr>
          <a:xfrm>
            <a:off x="1611229" y="12089898"/>
            <a:ext cx="205870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https://docs.aws.amazon.com/athena/latest/ug/what-is.html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 txBox="1"/>
          <p:nvPr/>
        </p:nvSpPr>
        <p:spPr>
          <a:xfrm>
            <a:off x="1117434" y="2370386"/>
            <a:ext cx="23266566" cy="7116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Athena organize data by Database, Table, View, Column (Not support function, store procedure)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3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S3 bucket: </a:t>
            </a: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S3 + Glue + Athena: </a:t>
            </a: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Link1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Link2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9"/>
          <p:cNvSpPr txBox="1"/>
          <p:nvPr/>
        </p:nvSpPr>
        <p:spPr>
          <a:xfrm>
            <a:off x="1200149" y="571498"/>
            <a:ext cx="71628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Athena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51636" y="5223062"/>
            <a:ext cx="13293251" cy="500678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"/>
          <p:cNvSpPr/>
          <p:nvPr/>
        </p:nvSpPr>
        <p:spPr>
          <a:xfrm>
            <a:off x="15237629" y="10695280"/>
            <a:ext cx="392126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S3 + Glue + Athena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0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"/>
          <p:cNvSpPr txBox="1"/>
          <p:nvPr/>
        </p:nvSpPr>
        <p:spPr>
          <a:xfrm>
            <a:off x="1200149" y="571498"/>
            <a:ext cx="71628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QuickSight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1611229" y="12089898"/>
            <a:ext cx="205870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https://docs.aws.amazon.com/quicksight/latest/user/welcome.html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https://d1.awsstatic.com/quicksight-refresh-2021/laptopMockup.06b3b5e4cf2be72f62d30bb5998649e3c93f7400.png" id="109" name="Google Shape;10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2267" y="5865859"/>
            <a:ext cx="11064958" cy="622403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1"/>
          <p:cNvSpPr txBox="1"/>
          <p:nvPr/>
        </p:nvSpPr>
        <p:spPr>
          <a:xfrm>
            <a:off x="1117434" y="2370386"/>
            <a:ext cx="20214708" cy="3495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service that allows visualize data from many different sources in a single data dashboard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Serverless service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Usecases: visualize &amp; sight data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/>
        </p:nvSpPr>
        <p:spPr>
          <a:xfrm>
            <a:off x="1200149" y="571498"/>
            <a:ext cx="71628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QuickSight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2"/>
          <p:cNvSpPr txBox="1"/>
          <p:nvPr/>
        </p:nvSpPr>
        <p:spPr>
          <a:xfrm>
            <a:off x="1117434" y="2370386"/>
            <a:ext cx="22656966" cy="9717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Features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dashboard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 Scaling up to millions of dashboard views weekly for customers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Share data visualization with every user in the organization, whether on the web, mobile, email, embedded applications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Machine Learning: anomaly Detection, forecast business metrics, ...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VPC connectivity for secure AWS access to AWS data sources (Amazon Redshift, RDS, S3, DynamoDB,...)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/>
          <p:nvPr/>
        </p:nvSpPr>
        <p:spPr>
          <a:xfrm>
            <a:off x="1117434" y="2370386"/>
            <a:ext cx="3092616" cy="1477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Flow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1200149" y="571498"/>
            <a:ext cx="71628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Athena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https://docs.aws.amazon.com/quicksight/latest/user/images/quicksight-workflow-overview.png" id="123" name="Google Shape;12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5774" y="3257550"/>
            <a:ext cx="13226143" cy="771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 txBox="1"/>
          <p:nvPr/>
        </p:nvSpPr>
        <p:spPr>
          <a:xfrm>
            <a:off x="1117434" y="2370386"/>
            <a:ext cx="23266566" cy="7116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https://www.youtube.com/watch?v=hh6ItJbCUQ0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Part 1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Part 2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Part 3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1200149" y="571498"/>
            <a:ext cx="71628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Athena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 txBox="1"/>
          <p:nvPr/>
        </p:nvSpPr>
        <p:spPr>
          <a:xfrm>
            <a:off x="1200149" y="571498"/>
            <a:ext cx="63627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Neptune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1117434" y="2370385"/>
            <a:ext cx="12255666" cy="4298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Fully managed graph database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Regional service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https://aws.amazon.com/neptune/pricing/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1611229" y="12089898"/>
            <a:ext cx="205870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https://docs.aws.amazon.com/neptune/latest/userguide/intro.html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3" name="Google Shape;1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055528" y="1625347"/>
            <a:ext cx="7847586" cy="4219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94233" y="6319837"/>
            <a:ext cx="6467879" cy="4964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685795" y="6319837"/>
            <a:ext cx="6457950" cy="5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6890784" y="11366427"/>
            <a:ext cx="387477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Database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14319621" y="11405357"/>
            <a:ext cx="31902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Database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/>
        </p:nvSpPr>
        <p:spPr>
          <a:xfrm>
            <a:off x="1200149" y="571498"/>
            <a:ext cx="63627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Neptune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1117434" y="2370386"/>
            <a:ext cx="22695066" cy="52347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relationship data 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Networking: Users friends with Users, replied to comment on post of user and likes other comments.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graphs (Wikipedia) </a:t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4325" y="7010400"/>
            <a:ext cx="16167672" cy="550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/>
        </p:nvSpPr>
        <p:spPr>
          <a:xfrm>
            <a:off x="1117434" y="2370386"/>
            <a:ext cx="22237866" cy="7726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Tutorial: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https://www.youtube.com/watch?v=rsAKj7sMbbQ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1200149" y="571498"/>
            <a:ext cx="63627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Neptune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1200149" y="571498"/>
            <a:ext cx="1086196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 MapReduce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1117434" y="2370386"/>
            <a:ext cx="23266566" cy="44000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EMR stands for Elastic MapReduce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for running big data framework (Ex: Apache Hadoop, Apache Spark)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Helps creating clusters to analyze and process vast amount of data, the clusters can be made of hundreds of EC2 instances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1611229" y="12089898"/>
            <a:ext cx="205870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https://docs.aws.amazon.com/emr/latest/ManagementGuide/emr-what-is-emr.html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4" name="Google Shape;17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1326" y="6321174"/>
            <a:ext cx="8377643" cy="576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/>
        </p:nvSpPr>
        <p:spPr>
          <a:xfrm>
            <a:off x="1200149" y="571498"/>
            <a:ext cx="1086196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 MapReduce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1117434" y="2370385"/>
            <a:ext cx="13665366" cy="1458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 frameworks: Hadoop, Hbase, Presto, Spark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1" name="Google Shape;18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0985" y="3829050"/>
            <a:ext cx="14723911" cy="4072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/>
        </p:nvSpPr>
        <p:spPr>
          <a:xfrm>
            <a:off x="1200149" y="571498"/>
            <a:ext cx="1086196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 MapReduce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1117434" y="2370385"/>
            <a:ext cx="20751966" cy="9034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Processing: Analyze and process large amounts of data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Move a large amount of data into/out the data store (Database, S3, DynamoDB, ...)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Learning, Big data…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indexing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Regional service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https://aws.amazon.com/emr/pricing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/>
        </p:nvSpPr>
        <p:spPr>
          <a:xfrm>
            <a:off x="1117434" y="2370386"/>
            <a:ext cx="22237866" cy="7726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Tutorial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https://www.youtube.com/watch?v=ulQdA6MUnTk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https://docs.aws.amazon.com/emr/latest/ManagementGuide/emr-gs.html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3"/>
          <p:cNvSpPr txBox="1"/>
          <p:nvPr/>
        </p:nvSpPr>
        <p:spPr>
          <a:xfrm>
            <a:off x="1200149" y="571498"/>
            <a:ext cx="1086196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 MapReduce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/>
        </p:nvSpPr>
        <p:spPr>
          <a:xfrm>
            <a:off x="1200149" y="571498"/>
            <a:ext cx="1086196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Lakehouse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25"/>
          <p:cNvSpPr/>
          <p:nvPr/>
        </p:nvSpPr>
        <p:spPr>
          <a:xfrm>
            <a:off x="1611229" y="12089898"/>
            <a:ext cx="205870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https://aws.amazon.com/blogs/big-data/build-a-lake-house-architecture-on-aws/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https://d2908q01vomqb2.cloudfront.net/b6692ea5df920cad691c20319a6fffd7a4a766b8/2021/04/07/bdb809-build-a-lake-house-3_1.jpg" id="206" name="Google Shape;20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7002" y="1638300"/>
            <a:ext cx="17835488" cy="10451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213" name="Google Shape;213;p26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