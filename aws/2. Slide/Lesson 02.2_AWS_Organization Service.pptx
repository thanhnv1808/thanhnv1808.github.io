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hscahnviWL6GCuR6fRM3J9zSDk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21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21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1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21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21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2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22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22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hyperlink" Target="https://docs.aws.amazon.com/organizations/latest/userguide/orgs_manage_policies_scps_examples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hyperlink" Target="https://docs.aws.amazon.com/organizations/latest/userguide/orgs_tutorials_basic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youtube.com/watch?v=lMUvzJlkoK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cs.aws.amazon.com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200151" y="2370386"/>
            <a:ext cx="16386392" cy="6868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Allows to manage multiple AWS accounts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Consolidated Billing across all accounts - single payment method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Pricing benefits from aggregated usage (volume discount for EC2, S3…)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Global service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free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325" lvl="1" marL="8731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Times New Roman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" name="Google Shape;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0343" y="6874568"/>
            <a:ext cx="10349702" cy="489833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9925932" y="11963400"/>
            <a:ext cx="373852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Consolidated billing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200150" y="2370386"/>
            <a:ext cx="10554703" cy="7098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 Root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 Unit (OU)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 Account / Member Account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Control Policy (SCP)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" name="Google Shape;4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1413" y="2808536"/>
            <a:ext cx="13202587" cy="70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" name="Google Shape;5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170" y="4746310"/>
            <a:ext cx="22960934" cy="681069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 txBox="1"/>
          <p:nvPr/>
        </p:nvSpPr>
        <p:spPr>
          <a:xfrm>
            <a:off x="1200150" y="2370386"/>
            <a:ext cx="7740650" cy="263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 Unit (OU)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Times New Roman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nested OU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704154" y="11525699"/>
            <a:ext cx="1029640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OU: Department, Development Environment, Project, ...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1200150" y="2370386"/>
            <a:ext cx="20821650" cy="9212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Account (Not IAM User)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Times New Roman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 Account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Courier New"/>
              <a:buChar char="o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account will have its own billing and resources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Courier New"/>
              <a:buChar char="o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join 1 organization at a time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Times New Roman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 Account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Courier New"/>
              <a:buChar char="o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billing of member accounts will be charged to management account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5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Courier New"/>
              <a:buChar char="o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login when performing tasks related to management account (add, edit, remove, ...), pay billing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1200150" y="2370386"/>
            <a:ext cx="17149425" cy="6164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SCP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Times New Roman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permissions for OU, Member Account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Times New Roman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at the OU or Account level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Times New Roman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apply to the Master Account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Times New Roman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SCP is applied to all the Users and Roles of the Account (including Root user)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" name="Google Shape;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11801" y="1802109"/>
            <a:ext cx="5984930" cy="768479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6"/>
          <p:cNvSpPr/>
          <p:nvPr/>
        </p:nvSpPr>
        <p:spPr>
          <a:xfrm>
            <a:off x="17011650" y="9639798"/>
            <a:ext cx="737235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https://docs.aws.amazon.com/organizations/latest/userguide/orgs_manage_policies_scps_examples.html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to IAM Policy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382055" y="7241850"/>
            <a:ext cx="289694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SCP Hierarchy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0" y="1842746"/>
            <a:ext cx="8107415" cy="505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82055" y="1700866"/>
            <a:ext cx="13084614" cy="5373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91077" y="8105948"/>
            <a:ext cx="7851089" cy="355265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7"/>
          <p:cNvSpPr/>
          <p:nvPr/>
        </p:nvSpPr>
        <p:spPr>
          <a:xfrm>
            <a:off x="8362887" y="11948850"/>
            <a:ext cx="697338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 policy &amp; IAM user policy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1200149" y="2370386"/>
            <a:ext cx="12613127" cy="7592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Organization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OU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member account to OU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&amp; attach policy to OU, Member Account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4081" y="8223199"/>
            <a:ext cx="13299504" cy="3809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35747" y="1964595"/>
            <a:ext cx="9516083" cy="593886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"/>
          <p:cNvSpPr/>
          <p:nvPr/>
        </p:nvSpPr>
        <p:spPr>
          <a:xfrm>
            <a:off x="3895725" y="12032962"/>
            <a:ext cx="173545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https://docs.aws.amazon.com/organizations/latest/userguide/orgs_tutorials_basic.html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8892" y="1646535"/>
            <a:ext cx="11967423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9"/>
          <p:cNvSpPr/>
          <p:nvPr/>
        </p:nvSpPr>
        <p:spPr>
          <a:xfrm>
            <a:off x="9797552" y="5785221"/>
            <a:ext cx="38507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Organization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9050" y="6614449"/>
            <a:ext cx="11345508" cy="506771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9"/>
          <p:cNvSpPr/>
          <p:nvPr/>
        </p:nvSpPr>
        <p:spPr>
          <a:xfrm>
            <a:off x="10651151" y="11782818"/>
            <a:ext cx="214353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OU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904312" y="6614449"/>
            <a:ext cx="4344006" cy="5277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9674864" y="10204821"/>
            <a:ext cx="526298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member account to OU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9992" y="4919379"/>
            <a:ext cx="10736362" cy="3612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92100" y="3433479"/>
            <a:ext cx="6153150" cy="6459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7954842" y="10652293"/>
            <a:ext cx="870302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&amp; attach policy to OU, Member Account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930" y="2569565"/>
            <a:ext cx="10779490" cy="7663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01459" y="2569565"/>
            <a:ext cx="11831701" cy="703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1200149" y="2370386"/>
            <a:ext cx="12613127" cy="7592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Accessing member account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Times New Roman"/>
              <a:buChar char="▪"/>
            </a:pPr>
            <a:r>
              <a:rPr b="0" i="0" lang="en-US" sz="3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https://www.youtube.com/watch?v=lMUvzJlkoKs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Times New Roman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1200149" y="2370386"/>
            <a:ext cx="21212379" cy="7592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Times New Roman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Components: Organization, OU, Management Account, Member Account, SCP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Times New Roman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Consolidated Billing (Voucher)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Times New Roman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Global service, Free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1374774" y="514346"/>
            <a:ext cx="117316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Times New Roman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Quiz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1857376" y="2335126"/>
            <a:ext cx="14737292" cy="2677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4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