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</p:sldIdLst>
  <p:sldSz cy="13716000" cx="24384000"/>
  <p:notesSz cx="6797675" cy="99298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4320">
          <p15:clr>
            <a:srgbClr val="A4A3A4"/>
          </p15:clr>
        </p15:guide>
        <p15:guide id="2" pos="7680">
          <p15:clr>
            <a:srgbClr val="A4A3A4"/>
          </p15:clr>
        </p15:guide>
      </p15:sldGuideLst>
    </p:ext>
    <p:ext uri="GoogleSlidesCustomDataVersion2">
      <go:slidesCustomData xmlns:go="http://customooxmlschemas.google.com/" r:id="rId32" roundtripDataSignature="AMtx7mhuFmFNe2cvxouK6+qawj87TZw01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4320" orient="horz"/>
        <p:guide pos="76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32" Type="http://customschemas.google.com/relationships/presentationmetadata" Target="meta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228600" lvl="1" marL="9144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228600" lvl="2" marL="13716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228600" lvl="3" marL="18288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228600" lvl="4" marL="22860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228600" lvl="5" marL="27432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-228600" lvl="6" marL="32004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-228600" lvl="7" marL="36576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-228600" lvl="8" marL="41148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3" name="Google Shape;33;p1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2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1" name="Google Shape;41;p2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3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3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4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4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5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5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6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6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7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7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8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8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9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9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0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10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1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11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2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12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3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13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4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14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5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15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6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16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7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17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8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18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9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19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0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20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21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21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22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22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23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23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24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24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25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25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26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3" name="Google Shape;223;p26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2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Calibri"/>
              <a:buNone/>
            </a:pPr>
            <a:fld id="{00000000-1234-1234-1234-123412341234}" type="slidenum">
              <a:rPr b="1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1" i="0" sz="3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6.jp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Only">
  <p:cSld name="1_Title Only">
    <p:bg>
      <p:bgPr>
        <a:gradFill>
          <a:gsLst>
            <a:gs pos="0">
              <a:schemeClr val="lt1"/>
            </a:gs>
            <a:gs pos="17000">
              <a:schemeClr val="lt1"/>
            </a:gs>
            <a:gs pos="67000">
              <a:srgbClr val="F1FAFE"/>
            </a:gs>
            <a:gs pos="83000">
              <a:srgbClr val="FFEACC"/>
            </a:gs>
            <a:gs pos="100000">
              <a:srgbClr val="62C5FB"/>
            </a:gs>
          </a:gsLst>
          <a:path path="circle">
            <a:fillToRect b="100%" r="100%"/>
          </a:path>
          <a:tileRect l="-100%" t="-100%"/>
        </a:gra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1017132" y="859479"/>
            <a:ext cx="2950192" cy="113183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Google Shape;11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24384000" cy="1371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screenshot of a cell phone&#10;&#10;Description automatically generated" id="13" name="Google Shape;13;p2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24384000" cy="13716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4;p29"/>
          <p:cNvSpPr txBox="1"/>
          <p:nvPr>
            <p:ph type="title"/>
          </p:nvPr>
        </p:nvSpPr>
        <p:spPr>
          <a:xfrm>
            <a:off x="1845217" y="357188"/>
            <a:ext cx="15794390" cy="1710326"/>
          </a:xfrm>
          <a:prstGeom prst="rect">
            <a:avLst/>
          </a:prstGeom>
          <a:noFill/>
          <a:ln>
            <a:noFill/>
          </a:ln>
        </p:spPr>
        <p:txBody>
          <a:bodyPr anchorCtr="0" anchor="ctr" bIns="71425" lIns="71425" spcFirstLastPara="1" rIns="71425" wrap="square" tIns="7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00"/>
              <a:buFont typeface="Meiryo"/>
              <a:buNone/>
              <a:defRPr sz="8200">
                <a:latin typeface="Meiryo"/>
                <a:ea typeface="Meiryo"/>
                <a:cs typeface="Meiryo"/>
                <a:sym typeface="Meiry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15" name="Google Shape;15;p29"/>
          <p:cNvSpPr txBox="1"/>
          <p:nvPr>
            <p:ph idx="12" type="sldNum"/>
          </p:nvPr>
        </p:nvSpPr>
        <p:spPr>
          <a:xfrm>
            <a:off x="8820083" y="13156977"/>
            <a:ext cx="6743833" cy="482823"/>
          </a:xfrm>
          <a:prstGeom prst="rect">
            <a:avLst/>
          </a:prstGeom>
          <a:noFill/>
          <a:ln>
            <a:noFill/>
          </a:ln>
        </p:spPr>
        <p:txBody>
          <a:bodyPr anchorCtr="0" anchor="t" bIns="71425" lIns="71425" spcFirstLastPara="1" rIns="71425" wrap="square" tIns="71425">
            <a:spAutoFit/>
          </a:bodyPr>
          <a:lstStyle>
            <a:lvl1pPr indent="0" lvl="0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Meiryo"/>
              <a:buNone/>
              <a:defRPr b="0" i="0" sz="2200" u="none" cap="none" strike="noStrike">
                <a:solidFill>
                  <a:schemeClr val="lt1"/>
                </a:solidFill>
                <a:latin typeface="Meiryo"/>
                <a:ea typeface="Meiryo"/>
                <a:cs typeface="Meiryo"/>
                <a:sym typeface="Meiryo"/>
              </a:defRPr>
            </a:lvl1pPr>
            <a:lvl2pPr indent="0" lvl="1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Meiryo"/>
              <a:buNone/>
              <a:defRPr b="0" i="0" sz="2200" u="none" cap="none" strike="noStrike">
                <a:solidFill>
                  <a:schemeClr val="lt1"/>
                </a:solidFill>
                <a:latin typeface="Meiryo"/>
                <a:ea typeface="Meiryo"/>
                <a:cs typeface="Meiryo"/>
                <a:sym typeface="Meiryo"/>
              </a:defRPr>
            </a:lvl2pPr>
            <a:lvl3pPr indent="0" lvl="2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Meiryo"/>
              <a:buNone/>
              <a:defRPr b="0" i="0" sz="2200" u="none" cap="none" strike="noStrike">
                <a:solidFill>
                  <a:schemeClr val="lt1"/>
                </a:solidFill>
                <a:latin typeface="Meiryo"/>
                <a:ea typeface="Meiryo"/>
                <a:cs typeface="Meiryo"/>
                <a:sym typeface="Meiryo"/>
              </a:defRPr>
            </a:lvl3pPr>
            <a:lvl4pPr indent="0" lvl="3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Meiryo"/>
              <a:buNone/>
              <a:defRPr b="0" i="0" sz="2200" u="none" cap="none" strike="noStrike">
                <a:solidFill>
                  <a:schemeClr val="lt1"/>
                </a:solidFill>
                <a:latin typeface="Meiryo"/>
                <a:ea typeface="Meiryo"/>
                <a:cs typeface="Meiryo"/>
                <a:sym typeface="Meiryo"/>
              </a:defRPr>
            </a:lvl4pPr>
            <a:lvl5pPr indent="0" lvl="4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Meiryo"/>
              <a:buNone/>
              <a:defRPr b="0" i="0" sz="2200" u="none" cap="none" strike="noStrike">
                <a:solidFill>
                  <a:schemeClr val="lt1"/>
                </a:solidFill>
                <a:latin typeface="Meiryo"/>
                <a:ea typeface="Meiryo"/>
                <a:cs typeface="Meiryo"/>
                <a:sym typeface="Meiryo"/>
              </a:defRPr>
            </a:lvl5pPr>
            <a:lvl6pPr indent="0" lvl="5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Meiryo"/>
              <a:buNone/>
              <a:defRPr b="0" i="0" sz="2200" u="none" cap="none" strike="noStrike">
                <a:solidFill>
                  <a:schemeClr val="lt1"/>
                </a:solidFill>
                <a:latin typeface="Meiryo"/>
                <a:ea typeface="Meiryo"/>
                <a:cs typeface="Meiryo"/>
                <a:sym typeface="Meiryo"/>
              </a:defRPr>
            </a:lvl6pPr>
            <a:lvl7pPr indent="0" lvl="6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Meiryo"/>
              <a:buNone/>
              <a:defRPr b="0" i="0" sz="2200" u="none" cap="none" strike="noStrike">
                <a:solidFill>
                  <a:schemeClr val="lt1"/>
                </a:solidFill>
                <a:latin typeface="Meiryo"/>
                <a:ea typeface="Meiryo"/>
                <a:cs typeface="Meiryo"/>
                <a:sym typeface="Meiryo"/>
              </a:defRPr>
            </a:lvl7pPr>
            <a:lvl8pPr indent="0" lvl="7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Meiryo"/>
              <a:buNone/>
              <a:defRPr b="0" i="0" sz="2200" u="none" cap="none" strike="noStrike">
                <a:solidFill>
                  <a:schemeClr val="lt1"/>
                </a:solidFill>
                <a:latin typeface="Meiryo"/>
                <a:ea typeface="Meiryo"/>
                <a:cs typeface="Meiryo"/>
                <a:sym typeface="Meiryo"/>
              </a:defRPr>
            </a:lvl8pPr>
            <a:lvl9pPr indent="0" lvl="8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Meiryo"/>
              <a:buNone/>
              <a:defRPr b="0" i="0" sz="2200" u="none" cap="none" strike="noStrike">
                <a:solidFill>
                  <a:schemeClr val="lt1"/>
                </a:solidFill>
                <a:latin typeface="Meiryo"/>
                <a:ea typeface="Meiryo"/>
                <a:cs typeface="Meiryo"/>
                <a:sym typeface="Meiry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Copyright </a:t>
            </a:r>
            <a:r>
              <a:rPr i="1" lang="en-US"/>
              <a:t>© </a:t>
            </a:r>
            <a:r>
              <a:rPr lang="en-US"/>
              <a:t>VTI Academy All Right Reserved </a:t>
            </a: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1_Title and Content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Google Shape;17;p30"/>
          <p:cNvCxnSpPr/>
          <p:nvPr/>
        </p:nvCxnSpPr>
        <p:spPr>
          <a:xfrm>
            <a:off x="482600" y="1412390"/>
            <a:ext cx="21521992" cy="0"/>
          </a:xfrm>
          <a:prstGeom prst="straightConnector1">
            <a:avLst/>
          </a:prstGeom>
          <a:noFill/>
          <a:ln cap="flat" cmpd="sng" w="19050">
            <a:solidFill>
              <a:srgbClr val="3C5A99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8" name="Google Shape;18;p30"/>
          <p:cNvSpPr/>
          <p:nvPr/>
        </p:nvSpPr>
        <p:spPr>
          <a:xfrm>
            <a:off x="0" y="12670972"/>
            <a:ext cx="24384000" cy="1045028"/>
          </a:xfrm>
          <a:prstGeom prst="rect">
            <a:avLst/>
          </a:prstGeom>
          <a:solidFill>
            <a:srgbClr val="3C5A99"/>
          </a:solidFill>
          <a:ln>
            <a:noFill/>
          </a:ln>
        </p:spPr>
        <p:txBody>
          <a:bodyPr anchorCtr="0" anchor="ctr" bIns="91400" lIns="182850" spcFirstLastPara="1" rIns="182850" wrap="square" tIns="91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Times New Roman"/>
              <a:buNone/>
            </a:pPr>
            <a:r>
              <a:t/>
            </a:r>
            <a:endParaRPr b="1" i="0" sz="36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30"/>
          <p:cNvSpPr/>
          <p:nvPr/>
        </p:nvSpPr>
        <p:spPr>
          <a:xfrm>
            <a:off x="6781639" y="12854932"/>
            <a:ext cx="10458958" cy="677108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182850" spcFirstLastPara="1" rIns="182850" wrap="square" tIns="91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Times New Roman"/>
              <a:buNone/>
            </a:pPr>
            <a:r>
              <a:rPr b="1" i="0" lang="en-US" sz="32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Copyright </a:t>
            </a:r>
            <a:r>
              <a:rPr b="1" i="1" lang="en-US" sz="32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© </a:t>
            </a:r>
            <a:r>
              <a:rPr b="1" i="0" lang="en-US" sz="32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VTI Academy All Right Reserved </a:t>
            </a:r>
            <a:endParaRPr b="1" i="0" sz="32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20" name="Google Shape;20;p30"/>
          <p:cNvCxnSpPr/>
          <p:nvPr/>
        </p:nvCxnSpPr>
        <p:spPr>
          <a:xfrm>
            <a:off x="14610736" y="1412390"/>
            <a:ext cx="7393856" cy="0"/>
          </a:xfrm>
          <a:prstGeom prst="straightConnector1">
            <a:avLst/>
          </a:prstGeom>
          <a:noFill/>
          <a:ln cap="flat" cmpd="sng" w="19050">
            <a:solidFill>
              <a:srgbClr val="FFC0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1" name="Google Shape;21;p30"/>
          <p:cNvCxnSpPr/>
          <p:nvPr/>
        </p:nvCxnSpPr>
        <p:spPr>
          <a:xfrm>
            <a:off x="0" y="12670972"/>
            <a:ext cx="24384000" cy="0"/>
          </a:xfrm>
          <a:prstGeom prst="straightConnector1">
            <a:avLst/>
          </a:prstGeom>
          <a:noFill/>
          <a:ln cap="flat" cmpd="sng" w="19050">
            <a:solidFill>
              <a:srgbClr val="FFC000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descr="A picture containing drawing&#10;&#10;Description automatically generated" id="22" name="Google Shape;22;p3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9252276" y="-25180"/>
            <a:ext cx="5131724" cy="14375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bg>
      <p:bgPr>
        <a:gradFill>
          <a:gsLst>
            <a:gs pos="0">
              <a:schemeClr val="lt1"/>
            </a:gs>
            <a:gs pos="17000">
              <a:schemeClr val="lt1"/>
            </a:gs>
            <a:gs pos="67000">
              <a:srgbClr val="F1FAFE"/>
            </a:gs>
            <a:gs pos="83000">
              <a:srgbClr val="FFEACC"/>
            </a:gs>
            <a:gs pos="100000">
              <a:srgbClr val="62C5FB"/>
            </a:gs>
          </a:gsLst>
          <a:path path="circle">
            <a:fillToRect b="100%" r="100%"/>
          </a:path>
          <a:tileRect l="-100%" t="-100%"/>
        </a:gradFill>
      </p:bgPr>
    </p:bg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31"/>
          <p:cNvSpPr txBox="1"/>
          <p:nvPr>
            <p:ph type="title"/>
          </p:nvPr>
        </p:nvSpPr>
        <p:spPr>
          <a:xfrm>
            <a:off x="1845217" y="357188"/>
            <a:ext cx="18701658" cy="1710326"/>
          </a:xfrm>
          <a:prstGeom prst="rect">
            <a:avLst/>
          </a:prstGeom>
          <a:noFill/>
          <a:ln>
            <a:noFill/>
          </a:ln>
        </p:spPr>
        <p:txBody>
          <a:bodyPr anchorCtr="0" anchor="ctr" bIns="71425" lIns="71425" spcFirstLastPara="1" rIns="71425" wrap="square" tIns="7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00"/>
              <a:buFont typeface="Meiryo"/>
              <a:buNone/>
              <a:defRPr sz="8200">
                <a:latin typeface="Meiryo"/>
                <a:ea typeface="Meiryo"/>
                <a:cs typeface="Meiryo"/>
                <a:sym typeface="Meiry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25" name="Google Shape;25;p31"/>
          <p:cNvSpPr txBox="1"/>
          <p:nvPr>
            <p:ph idx="10" type="dt"/>
          </p:nvPr>
        </p:nvSpPr>
        <p:spPr>
          <a:xfrm>
            <a:off x="1676400" y="12712701"/>
            <a:ext cx="5486400" cy="730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26" name="Google Shape;26;p31"/>
          <p:cNvSpPr txBox="1"/>
          <p:nvPr>
            <p:ph idx="11" type="ftr"/>
          </p:nvPr>
        </p:nvSpPr>
        <p:spPr>
          <a:xfrm>
            <a:off x="8077200" y="12712701"/>
            <a:ext cx="8229600" cy="730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27" name="Google Shape;27;p31"/>
          <p:cNvSpPr txBox="1"/>
          <p:nvPr>
            <p:ph idx="12" type="sldNum"/>
          </p:nvPr>
        </p:nvSpPr>
        <p:spPr>
          <a:xfrm>
            <a:off x="11962817" y="13073062"/>
            <a:ext cx="448840" cy="482823"/>
          </a:xfrm>
          <a:prstGeom prst="rect">
            <a:avLst/>
          </a:prstGeom>
          <a:noFill/>
          <a:ln>
            <a:noFill/>
          </a:ln>
        </p:spPr>
        <p:txBody>
          <a:bodyPr anchorCtr="0" anchor="t" bIns="71425" lIns="71425" spcFirstLastPara="1" rIns="71425" wrap="square" tIns="71425">
            <a:spAutoFit/>
          </a:bodyPr>
          <a:lstStyle>
            <a:lvl1pPr indent="0" lvl="0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/>
            </a:lvl1pPr>
            <a:lvl2pPr indent="0" lvl="1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/>
            </a:lvl2pPr>
            <a:lvl3pPr indent="0" lvl="2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/>
            </a:lvl3pPr>
            <a:lvl4pPr indent="0" lvl="3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/>
            </a:lvl4pPr>
            <a:lvl5pPr indent="0" lvl="4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/>
            </a:lvl5pPr>
            <a:lvl6pPr indent="0" lvl="5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/>
            </a:lvl6pPr>
            <a:lvl7pPr indent="0" lvl="6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/>
            </a:lvl7pPr>
            <a:lvl8pPr indent="0" lvl="7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/>
            </a:lvl8pPr>
            <a:lvl9pPr indent="0" lvl="8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28" name="Google Shape;28;p31"/>
          <p:cNvCxnSpPr/>
          <p:nvPr/>
        </p:nvCxnSpPr>
        <p:spPr>
          <a:xfrm>
            <a:off x="1845217" y="1893677"/>
            <a:ext cx="18701658" cy="0"/>
          </a:xfrm>
          <a:prstGeom prst="straightConnector1">
            <a:avLst/>
          </a:prstGeom>
          <a:noFill/>
          <a:ln cap="rnd" cmpd="sng" w="38100">
            <a:solidFill>
              <a:srgbClr val="057BBA">
                <a:alpha val="8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descr="A close up of a sign&#10;&#10;Description automatically generated" id="29" name="Google Shape;29;p3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0812883" y="427995"/>
            <a:ext cx="2645634" cy="163951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Title Only">
  <p:cSld name="2_Title Only">
    <p:bg>
      <p:bgPr>
        <a:gradFill>
          <a:gsLst>
            <a:gs pos="0">
              <a:schemeClr val="lt1"/>
            </a:gs>
            <a:gs pos="17000">
              <a:schemeClr val="lt1"/>
            </a:gs>
            <a:gs pos="67000">
              <a:srgbClr val="F1FAFE"/>
            </a:gs>
            <a:gs pos="83000">
              <a:srgbClr val="FFEACC"/>
            </a:gs>
            <a:gs pos="100000">
              <a:srgbClr val="62C5FB"/>
            </a:gs>
          </a:gsLst>
          <a:path path="circle">
            <a:fillToRect b="100%" r="100%"/>
          </a:path>
          <a:tileRect l="-100%" t="-100%"/>
        </a:gradFill>
      </p:bgPr>
    </p:bg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7"/>
          <p:cNvSpPr txBox="1"/>
          <p:nvPr>
            <p:ph type="title"/>
          </p:nvPr>
        </p:nvSpPr>
        <p:spPr>
          <a:xfrm>
            <a:off x="4387453" y="357187"/>
            <a:ext cx="15609094" cy="3036095"/>
          </a:xfrm>
          <a:prstGeom prst="rect">
            <a:avLst/>
          </a:prstGeom>
          <a:noFill/>
          <a:ln>
            <a:noFill/>
          </a:ln>
        </p:spPr>
        <p:txBody>
          <a:bodyPr anchorCtr="0" anchor="ctr" bIns="71425" lIns="71425" spcFirstLastPara="1" rIns="71425" wrap="square" tIns="71425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Times New Roman"/>
              <a:buNone/>
              <a:defRPr b="0" i="0" sz="1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Times New Roman"/>
              <a:buNone/>
              <a:defRPr b="0" i="0" sz="1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Times New Roman"/>
              <a:buNone/>
              <a:defRPr b="0" i="0" sz="1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Times New Roman"/>
              <a:buNone/>
              <a:defRPr b="0" i="0" sz="1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Times New Roman"/>
              <a:buNone/>
              <a:defRPr b="0" i="0" sz="1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Times New Roman"/>
              <a:buNone/>
              <a:defRPr b="0" i="0" sz="1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Times New Roman"/>
              <a:buNone/>
              <a:defRPr b="0" i="0" sz="1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Times New Roman"/>
              <a:buNone/>
              <a:defRPr b="0" i="0" sz="1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Times New Roman"/>
              <a:buNone/>
              <a:defRPr b="0" i="0" sz="1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7" name="Google Shape;7;p27"/>
          <p:cNvSpPr txBox="1"/>
          <p:nvPr>
            <p:ph idx="1" type="body"/>
          </p:nvPr>
        </p:nvSpPr>
        <p:spPr>
          <a:xfrm>
            <a:off x="4387453" y="3643312"/>
            <a:ext cx="15609094" cy="8840392"/>
          </a:xfrm>
          <a:prstGeom prst="rect">
            <a:avLst/>
          </a:prstGeom>
          <a:noFill/>
          <a:ln>
            <a:noFill/>
          </a:ln>
        </p:spPr>
        <p:txBody>
          <a:bodyPr anchorCtr="0" anchor="ctr" bIns="71425" lIns="71425" spcFirstLastPara="1" rIns="71425" wrap="square" tIns="71425">
            <a:normAutofit/>
          </a:bodyPr>
          <a:lstStyle>
            <a:lvl1pPr indent="-633730" lvl="0" marL="4572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Times New Roman"/>
              <a:buChar char="•"/>
              <a:defRPr b="0" i="0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633730" lvl="1" marL="9144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Times New Roman"/>
              <a:buChar char="•"/>
              <a:defRPr b="0" i="0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633730" lvl="2" marL="13716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Times New Roman"/>
              <a:buChar char="•"/>
              <a:defRPr b="0" i="0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633730" lvl="3" marL="18288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Times New Roman"/>
              <a:buChar char="•"/>
              <a:defRPr b="0" i="0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633729" lvl="4" marL="22860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Times New Roman"/>
              <a:buChar char="•"/>
              <a:defRPr b="0" i="0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633729" lvl="5" marL="27432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Times New Roman"/>
              <a:buChar char="•"/>
              <a:defRPr b="0" i="0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-633729" lvl="6" marL="32004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Times New Roman"/>
              <a:buChar char="•"/>
              <a:defRPr b="0" i="0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-633729" lvl="7" marL="36576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Times New Roman"/>
              <a:buChar char="•"/>
              <a:defRPr b="0" i="0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-633729" lvl="8" marL="41148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Times New Roman"/>
              <a:buChar char="•"/>
              <a:defRPr b="0" i="0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8" name="Google Shape;8;p27"/>
          <p:cNvSpPr txBox="1"/>
          <p:nvPr>
            <p:ph idx="12" type="sldNum"/>
          </p:nvPr>
        </p:nvSpPr>
        <p:spPr>
          <a:xfrm>
            <a:off x="11954103" y="13073062"/>
            <a:ext cx="466269" cy="477671"/>
          </a:xfrm>
          <a:prstGeom prst="rect">
            <a:avLst/>
          </a:prstGeom>
          <a:noFill/>
          <a:ln>
            <a:noFill/>
          </a:ln>
        </p:spPr>
        <p:txBody>
          <a:bodyPr anchorCtr="0" anchor="t" bIns="71425" lIns="71425" spcFirstLastPara="1" rIns="71425" wrap="square" tIns="71425">
            <a:sp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 b="0" i="0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 b="0" i="0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 b="0" i="0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 b="0" i="0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 b="0" i="0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 b="0" i="0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 b="0" i="0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 b="0" i="0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 b="0" i="0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hyperlink" Target="mailto:duy.nguyenngoc1@vti.com.vn" TargetMode="Externa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www.youtube.com/watch?v=kfrb5_6Pe_Y" TargetMode="External"/><Relationship Id="rId4" Type="http://schemas.openxmlformats.org/officeDocument/2006/relationships/image" Target="../media/image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hyperlink" Target="https://www.youtube.com/watch?v=kfrb5_6Pe_Y" TargetMode="External"/><Relationship Id="rId4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hyperlink" Target="https://aws.amazon.com/certificate-manager/pricing" TargetMode="External"/><Relationship Id="rId4" Type="http://schemas.openxmlformats.org/officeDocument/2006/relationships/hyperlink" Target="https://docs.aws.amazon.com/acm/latest/userguide/acm-overview.html" TargetMode="External"/><Relationship Id="rId5" Type="http://schemas.openxmlformats.org/officeDocument/2006/relationships/image" Target="../media/image10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hyperlink" Target="https://www.youtube.com/watch?v=kfrb5_6Pe_Y" TargetMode="External"/><Relationship Id="rId4" Type="http://schemas.openxmlformats.org/officeDocument/2006/relationships/hyperlink" Target="https://www.youtube.com/watch?v=bWPTq8z1vFY" TargetMode="Externa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hyperlink" Target="https://aws.amazon.com/kms/pricing" TargetMode="External"/><Relationship Id="rId4" Type="http://schemas.openxmlformats.org/officeDocument/2006/relationships/hyperlink" Target="https://docs.aws.amazon.com/kms/latest/developerguide/overview.html" TargetMode="Externa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hyperlink" Target="https://www.youtube.com/watch?v=kfrb5_6Pe_Y" TargetMode="Externa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8.png"/><Relationship Id="rId4" Type="http://schemas.openxmlformats.org/officeDocument/2006/relationships/image" Target="../media/image25.png"/><Relationship Id="rId5" Type="http://schemas.openxmlformats.org/officeDocument/2006/relationships/image" Target="../media/image9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hyperlink" Target="https://www.youtube.com/watch?v=kfrb5_6Pe_Y" TargetMode="Externa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5.png"/><Relationship Id="rId4" Type="http://schemas.openxmlformats.org/officeDocument/2006/relationships/image" Target="../media/image18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4.png"/><Relationship Id="rId4" Type="http://schemas.openxmlformats.org/officeDocument/2006/relationships/image" Target="../media/image17.png"/><Relationship Id="rId5" Type="http://schemas.openxmlformats.org/officeDocument/2006/relationships/image" Target="../media/image16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9.png"/><Relationship Id="rId4" Type="http://schemas.openxmlformats.org/officeDocument/2006/relationships/image" Target="../media/image22.png"/><Relationship Id="rId5" Type="http://schemas.openxmlformats.org/officeDocument/2006/relationships/image" Target="../media/image28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0.png"/><Relationship Id="rId4" Type="http://schemas.openxmlformats.org/officeDocument/2006/relationships/image" Target="../media/image23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1.png"/><Relationship Id="rId4" Type="http://schemas.openxmlformats.org/officeDocument/2006/relationships/image" Target="../media/image24.png"/><Relationship Id="rId5" Type="http://schemas.openxmlformats.org/officeDocument/2006/relationships/image" Target="../media/image26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7.png"/><Relationship Id="rId4" Type="http://schemas.openxmlformats.org/officeDocument/2006/relationships/image" Target="../media/image31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9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hyperlink" Target="https://aws.amazon.com/blogs/security/how-to-use-kms-and-iam-to-enable-independent-security-controls-for-encrypted-data-in-s3/" TargetMode="External"/><Relationship Id="rId4" Type="http://schemas.openxmlformats.org/officeDocument/2006/relationships/image" Target="../media/image30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picture containing drawing&#10;&#10;Description automatically generated" id="35" name="Google Shape;35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13650" y="1753558"/>
            <a:ext cx="5103775" cy="1429741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Google Shape;36;p1"/>
          <p:cNvSpPr/>
          <p:nvPr/>
        </p:nvSpPr>
        <p:spPr>
          <a:xfrm>
            <a:off x="1795790" y="3025157"/>
            <a:ext cx="5636029" cy="5693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9BF"/>
              </a:buClr>
              <a:buSzPts val="3100"/>
              <a:buFont typeface="Times New Roman"/>
              <a:buNone/>
            </a:pPr>
            <a:r>
              <a:rPr b="1" i="0" lang="en-US" sz="3100" u="none" cap="none" strike="noStrike">
                <a:solidFill>
                  <a:srgbClr val="0079B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WAY TO ENTERPRISE</a:t>
            </a:r>
            <a:endParaRPr/>
          </a:p>
        </p:txBody>
      </p:sp>
      <p:sp>
        <p:nvSpPr>
          <p:cNvPr id="37" name="Google Shape;37;p1"/>
          <p:cNvSpPr txBox="1"/>
          <p:nvPr/>
        </p:nvSpPr>
        <p:spPr>
          <a:xfrm>
            <a:off x="1215678" y="4549070"/>
            <a:ext cx="22486370" cy="1317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9BF"/>
              </a:buClr>
              <a:buSzPts val="4400"/>
              <a:buFont typeface="Times New Roman"/>
              <a:buNone/>
            </a:pPr>
            <a:r>
              <a:rPr b="0" i="0" lang="en-US" sz="10000" u="none" cap="none" strike="noStrike">
                <a:solidFill>
                  <a:srgbClr val="0079B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AWS</a:t>
            </a:r>
            <a:endParaRPr b="0" i="0" sz="10000" u="none" cap="none" strike="noStrike">
              <a:solidFill>
                <a:srgbClr val="0079B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8" name="Google Shape;38;p1"/>
          <p:cNvSpPr txBox="1"/>
          <p:nvPr/>
        </p:nvSpPr>
        <p:spPr>
          <a:xfrm>
            <a:off x="1795790" y="8295495"/>
            <a:ext cx="11871552" cy="284166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9BF"/>
              </a:buClr>
              <a:buSzPts val="3000"/>
              <a:buFont typeface="Times New Roman"/>
              <a:buNone/>
            </a:pPr>
            <a:r>
              <a:rPr b="1" i="0" lang="en-US" sz="5000" u="none" cap="none" strike="noStrike">
                <a:solidFill>
                  <a:srgbClr val="0079B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VTI ACADEMY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79BF"/>
              </a:buClr>
              <a:buSzPts val="3000"/>
              <a:buFont typeface="Times New Roman"/>
              <a:buNone/>
            </a:pPr>
            <a:r>
              <a:rPr b="1" i="0" lang="en-US" sz="5000" u="none" cap="none" strike="noStrike">
                <a:solidFill>
                  <a:srgbClr val="0079B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Author: </a:t>
            </a:r>
            <a:r>
              <a:rPr b="1" i="0" lang="en-US" sz="5000" u="sng" cap="none" strike="noStrike">
                <a:solidFill>
                  <a:srgbClr val="0079BF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duy.nguyenngoc1@vti.com.vn</a:t>
            </a:r>
            <a:endParaRPr b="1" i="0" sz="5000" u="none" cap="none" strike="noStrike">
              <a:solidFill>
                <a:srgbClr val="0079B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79BF"/>
              </a:buClr>
              <a:buSzPts val="3000"/>
              <a:buFont typeface="Times New Roman"/>
              <a:buNone/>
            </a:pPr>
            <a:r>
              <a:t/>
            </a:r>
            <a:endParaRPr b="1" i="0" sz="5000" u="none" cap="none" strike="noStrike">
              <a:solidFill>
                <a:srgbClr val="0079B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2"/>
          <p:cNvSpPr txBox="1"/>
          <p:nvPr>
            <p:ph type="title"/>
          </p:nvPr>
        </p:nvSpPr>
        <p:spPr>
          <a:xfrm>
            <a:off x="1845217" y="357188"/>
            <a:ext cx="15794390" cy="1710326"/>
          </a:xfrm>
          <a:prstGeom prst="rect">
            <a:avLst/>
          </a:prstGeom>
          <a:noFill/>
          <a:ln>
            <a:noFill/>
          </a:ln>
        </p:spPr>
        <p:txBody>
          <a:bodyPr anchorCtr="0" anchor="ctr" bIns="71425" lIns="71425" spcFirstLastPara="1" rIns="71425" wrap="square" tIns="7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9BF"/>
              </a:buClr>
              <a:buSzPts val="8200"/>
              <a:buFont typeface="Calibri"/>
              <a:buNone/>
            </a:pPr>
            <a:r>
              <a:rPr lang="en-US">
                <a:solidFill>
                  <a:srgbClr val="0079BF"/>
                </a:solidFill>
                <a:latin typeface="Calibri"/>
                <a:ea typeface="Calibri"/>
                <a:cs typeface="Calibri"/>
                <a:sym typeface="Calibri"/>
              </a:rPr>
              <a:t>Agenda</a:t>
            </a:r>
            <a:endParaRPr/>
          </a:p>
        </p:txBody>
      </p:sp>
      <p:sp>
        <p:nvSpPr>
          <p:cNvPr id="44" name="Google Shape;44;p2"/>
          <p:cNvSpPr/>
          <p:nvPr/>
        </p:nvSpPr>
        <p:spPr>
          <a:xfrm>
            <a:off x="8898777" y="13198291"/>
            <a:ext cx="6688049" cy="430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Meiryo"/>
              <a:buNone/>
            </a:pPr>
            <a:r>
              <a:rPr b="0" i="0" lang="en-US" sz="2200" u="none" cap="none" strike="noStrike">
                <a:solidFill>
                  <a:schemeClr val="lt1"/>
                </a:solidFill>
                <a:latin typeface="Meiryo"/>
                <a:ea typeface="Meiryo"/>
                <a:cs typeface="Meiryo"/>
                <a:sym typeface="Meiryo"/>
              </a:rPr>
              <a:t>Copyright </a:t>
            </a:r>
            <a:r>
              <a:rPr b="0" i="1" lang="en-US" sz="2200" u="none" cap="none" strike="noStrike">
                <a:solidFill>
                  <a:schemeClr val="lt1"/>
                </a:solidFill>
                <a:latin typeface="Meiryo"/>
                <a:ea typeface="Meiryo"/>
                <a:cs typeface="Meiryo"/>
                <a:sym typeface="Meiryo"/>
              </a:rPr>
              <a:t>© </a:t>
            </a:r>
            <a:r>
              <a:rPr b="0" i="0" lang="en-US" sz="2200" u="none" cap="none" strike="noStrike">
                <a:solidFill>
                  <a:schemeClr val="lt1"/>
                </a:solidFill>
                <a:latin typeface="Meiryo"/>
                <a:ea typeface="Meiryo"/>
                <a:cs typeface="Meiryo"/>
                <a:sym typeface="Meiryo"/>
              </a:rPr>
              <a:t>VTI Academy All Rights Reserved </a:t>
            </a:r>
            <a:endParaRPr/>
          </a:p>
        </p:txBody>
      </p:sp>
      <p:sp>
        <p:nvSpPr>
          <p:cNvPr id="45" name="Google Shape;45;p2"/>
          <p:cNvSpPr txBox="1"/>
          <p:nvPr/>
        </p:nvSpPr>
        <p:spPr>
          <a:xfrm>
            <a:off x="1845216" y="3116480"/>
            <a:ext cx="21746304" cy="971777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60"/>
              <a:buFont typeface="Noto Sans Symbols"/>
              <a:buChar char="❑"/>
            </a:pPr>
            <a:r>
              <a:rPr b="0" i="0" lang="en-US" sz="6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Certificate Manager Service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1320"/>
              </a:spcBef>
              <a:spcAft>
                <a:spcPts val="0"/>
              </a:spcAft>
              <a:buClr>
                <a:srgbClr val="000000"/>
              </a:buClr>
              <a:buSzPts val="3960"/>
              <a:buFont typeface="Noto Sans Symbols"/>
              <a:buChar char="❑"/>
            </a:pPr>
            <a:r>
              <a:rPr b="0" i="0" lang="en-US" sz="6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Key Management Service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"/>
          <p:cNvSpPr txBox="1"/>
          <p:nvPr/>
        </p:nvSpPr>
        <p:spPr>
          <a:xfrm>
            <a:off x="1117434" y="2370385"/>
            <a:ext cx="16672856" cy="642637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28625" lvl="0" marL="4286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Noto Sans Symbols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Encryption in flight (SSL)</a:t>
            </a:r>
            <a:endParaRPr b="0" i="0" sz="3600" u="sng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  <a:hlinkClick r:id="rId3">
                <a:extLst>
                  <a:ext uri="{A12FA001-AC4F-418D-AE19-62706E023703}">
                    <ahyp:hlinkClr val="tx"/>
                  </a:ext>
                </a:extLst>
              </a:hlinkClick>
            </a:endParaRPr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is encrypted before sending and decrypted after receiving</a:t>
            </a:r>
            <a:endParaRPr/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SSL certificates help with encryption (HTTPS)</a:t>
            </a:r>
            <a:endParaRPr/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Encryption in flight ensures no MITM (man in the middle attack) can happen</a:t>
            </a:r>
            <a:endParaRPr/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types: SSL (Old), TLS</a:t>
            </a:r>
            <a:endParaRPr/>
          </a:p>
        </p:txBody>
      </p:sp>
      <p:sp>
        <p:nvSpPr>
          <p:cNvPr id="51" name="Google Shape;51;p3"/>
          <p:cNvSpPr txBox="1"/>
          <p:nvPr/>
        </p:nvSpPr>
        <p:spPr>
          <a:xfrm>
            <a:off x="1200149" y="571498"/>
            <a:ext cx="11156283" cy="8382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Encryption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52" name="Google Shape;52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82063" y="8456686"/>
            <a:ext cx="14194231" cy="37247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4"/>
          <p:cNvSpPr txBox="1"/>
          <p:nvPr/>
        </p:nvSpPr>
        <p:spPr>
          <a:xfrm>
            <a:off x="1117433" y="2370385"/>
            <a:ext cx="23354799" cy="96010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28625" lvl="0" marL="4286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Noto Sans Symbols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Server side encryption at rest</a:t>
            </a:r>
            <a:endParaRPr b="0" i="0" sz="3600" u="sng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  <a:hlinkClick r:id="rId3">
                <a:extLst>
                  <a:ext uri="{A12FA001-AC4F-418D-AE19-62706E023703}">
                    <ahyp:hlinkClr val="tx"/>
                  </a:ext>
                </a:extLst>
              </a:hlinkClick>
            </a:endParaRPr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is encrypted after being received by the server</a:t>
            </a:r>
            <a:endParaRPr/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is decrypted before being sent</a:t>
            </a:r>
            <a:endParaRPr/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It is stored in an encrypted form thanks to a key (usually a data key)</a:t>
            </a:r>
            <a:endParaRPr/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encryption / decryption keys must be managed somewhere and the server must have access to it</a:t>
            </a:r>
            <a:endParaRPr/>
          </a:p>
          <a:p>
            <a:pPr indent="-261302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None/>
            </a:pPr>
            <a:r>
              <a:t/>
            </a:r>
            <a:endParaRPr b="0" i="0" sz="3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8" name="Google Shape;58;p4"/>
          <p:cNvSpPr txBox="1"/>
          <p:nvPr/>
        </p:nvSpPr>
        <p:spPr>
          <a:xfrm>
            <a:off x="1200149" y="571498"/>
            <a:ext cx="11156283" cy="8382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Encryption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59" name="Google Shape;59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334000" y="8742446"/>
            <a:ext cx="13716000" cy="3228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5"/>
          <p:cNvSpPr txBox="1"/>
          <p:nvPr/>
        </p:nvSpPr>
        <p:spPr>
          <a:xfrm>
            <a:off x="1200150" y="571498"/>
            <a:ext cx="11372850" cy="6207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Assignment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5" name="Google Shape;65;p5"/>
          <p:cNvSpPr txBox="1"/>
          <p:nvPr/>
        </p:nvSpPr>
        <p:spPr>
          <a:xfrm>
            <a:off x="1371601" y="2370387"/>
            <a:ext cx="4743450" cy="13824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611187" lvl="1" marL="105568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Noto Sans Symbols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Self-practice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6"/>
          <p:cNvSpPr txBox="1"/>
          <p:nvPr/>
        </p:nvSpPr>
        <p:spPr>
          <a:xfrm>
            <a:off x="1200149" y="571498"/>
            <a:ext cx="11156283" cy="8382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Certificate Manager Service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1" name="Google Shape;71;p6"/>
          <p:cNvSpPr txBox="1"/>
          <p:nvPr/>
        </p:nvSpPr>
        <p:spPr>
          <a:xfrm>
            <a:off x="1117434" y="2192193"/>
            <a:ext cx="22790316" cy="521825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28625" lvl="0" marL="4286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Noto Sans Symbols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Is a service that allows easily provision, manage, deploy public and private SSL/TLS certificates </a:t>
            </a:r>
            <a:endParaRPr b="0" i="0" sz="4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28625" lvl="0" marL="428625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Noto Sans Symbols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2 types: public certificates &amp; private certificates</a:t>
            </a:r>
            <a:endParaRPr/>
          </a:p>
          <a:p>
            <a:pPr indent="-428625" lvl="0" marL="428625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Noto Sans Symbols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Integrate with other AWS services: ELB, CloudFront, API Gateway, ...</a:t>
            </a:r>
            <a:endParaRPr/>
          </a:p>
          <a:p>
            <a:pPr indent="-428625" lvl="0" marL="428625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Noto Sans Symbols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Price: free for public certificates - </a:t>
            </a:r>
            <a:r>
              <a:rPr b="0" i="0" lang="en-US" sz="4000" u="sng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https://aws.amazon.com/certificate-manager/pricing</a:t>
            </a: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b="0" i="0" sz="4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60325" lvl="0" marL="428625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Noto Sans Symbols"/>
              <a:buNone/>
            </a:pPr>
            <a:r>
              <a:t/>
            </a:r>
            <a:endParaRPr b="0" i="0" sz="4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60325" lvl="0" marL="428625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Noto Sans Symbols"/>
              <a:buNone/>
            </a:pPr>
            <a:r>
              <a:t/>
            </a:r>
            <a:endParaRPr b="0" i="0" sz="4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2" name="Google Shape;72;p6"/>
          <p:cNvSpPr/>
          <p:nvPr/>
        </p:nvSpPr>
        <p:spPr>
          <a:xfrm>
            <a:off x="1611229" y="12089898"/>
            <a:ext cx="20587034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0" i="1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Tutorial: </a:t>
            </a:r>
            <a:r>
              <a:rPr b="0" i="1" lang="en-US" sz="3200" u="sng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https://docs.aws.amazon.com/acm/latest/userguide/acm-overview.html</a:t>
            </a:r>
            <a:r>
              <a:rPr b="0" i="1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b="0" i="1" sz="3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73" name="Google Shape;73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552169" y="8192943"/>
            <a:ext cx="12705153" cy="213215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7"/>
          <p:cNvSpPr txBox="1"/>
          <p:nvPr/>
        </p:nvSpPr>
        <p:spPr>
          <a:xfrm>
            <a:off x="1117434" y="2370385"/>
            <a:ext cx="12598566" cy="29636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28625" lvl="0" marL="4286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Noto Sans Symbols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Demo</a:t>
            </a:r>
            <a:endParaRPr b="0" i="0" sz="4000" u="sng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  <a:hlinkClick r:id="rId3">
                <a:extLst>
                  <a:ext uri="{A12FA001-AC4F-418D-AE19-62706E023703}">
                    <ahyp:hlinkClr val="tx"/>
                  </a:ext>
                </a:extLst>
              </a:hlinkClick>
            </a:endParaRPr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sng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https://www.youtube.com/watch?v=bWPTq8z1vFY</a:t>
            </a: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/>
          </a:p>
        </p:txBody>
      </p:sp>
      <p:sp>
        <p:nvSpPr>
          <p:cNvPr id="79" name="Google Shape;79;p7"/>
          <p:cNvSpPr txBox="1"/>
          <p:nvPr/>
        </p:nvSpPr>
        <p:spPr>
          <a:xfrm>
            <a:off x="1200149" y="571498"/>
            <a:ext cx="11156283" cy="8382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Certificate Manager Service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8"/>
          <p:cNvSpPr txBox="1"/>
          <p:nvPr/>
        </p:nvSpPr>
        <p:spPr>
          <a:xfrm>
            <a:off x="1200150" y="571498"/>
            <a:ext cx="11372850" cy="6207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Assignment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5" name="Google Shape;85;p8"/>
          <p:cNvSpPr txBox="1"/>
          <p:nvPr/>
        </p:nvSpPr>
        <p:spPr>
          <a:xfrm>
            <a:off x="1371601" y="2370387"/>
            <a:ext cx="4743450" cy="13824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611187" lvl="1" marL="105568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Noto Sans Symbols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Self-practice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9"/>
          <p:cNvSpPr txBox="1"/>
          <p:nvPr/>
        </p:nvSpPr>
        <p:spPr>
          <a:xfrm>
            <a:off x="1200149" y="571498"/>
            <a:ext cx="11156283" cy="8382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Key Management Service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1" name="Google Shape;91;p9"/>
          <p:cNvSpPr txBox="1"/>
          <p:nvPr/>
        </p:nvSpPr>
        <p:spPr>
          <a:xfrm>
            <a:off x="1117434" y="2192193"/>
            <a:ext cx="23066040" cy="10166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28625" lvl="0" marL="4286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Noto Sans Symbols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Is a service that allows management of keys, keys are used to encrypt data on the server side</a:t>
            </a:r>
            <a:endParaRPr/>
          </a:p>
          <a:p>
            <a:pPr indent="-428625" lvl="0" marL="428625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Noto Sans Symbols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Regional Service</a:t>
            </a:r>
            <a:endParaRPr/>
          </a:p>
          <a:p>
            <a:pPr indent="-428625" lvl="0" marL="428625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Noto Sans Symbols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Integrate with other AWS services to perform at-rest encryption (Ex: S3, RDS, EBS, …)</a:t>
            </a:r>
            <a:endParaRPr/>
          </a:p>
          <a:p>
            <a:pPr indent="-428625" lvl="0" marL="428625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Noto Sans Symbols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Usecases: Encryption &amp; decryption data, Signin &amp; verification</a:t>
            </a:r>
            <a:endParaRPr/>
          </a:p>
          <a:p>
            <a:pPr indent="-428625" lvl="0" marL="428625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Noto Sans Symbols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Price: </a:t>
            </a:r>
            <a:r>
              <a:rPr b="0" i="0" lang="en-US" sz="4000" u="sng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https://aws.amazon.com/kms/pricing</a:t>
            </a:r>
            <a:endParaRPr b="0" i="0" sz="4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60325" lvl="0" marL="428625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Noto Sans Symbols"/>
              <a:buNone/>
            </a:pPr>
            <a:r>
              <a:t/>
            </a:r>
            <a:endParaRPr b="0" i="0" sz="4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2" name="Google Shape;92;p9"/>
          <p:cNvSpPr/>
          <p:nvPr/>
        </p:nvSpPr>
        <p:spPr>
          <a:xfrm>
            <a:off x="1611229" y="12089898"/>
            <a:ext cx="20587034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0" i="1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Tutorial: </a:t>
            </a:r>
            <a:r>
              <a:rPr b="0" i="1" lang="en-US" sz="3200" u="sng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https://docs.aws.amazon.com/kms/latest/developerguide/overview.html</a:t>
            </a:r>
            <a:r>
              <a:rPr b="0" i="1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b="0" i="1" sz="3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0"/>
          <p:cNvSpPr txBox="1"/>
          <p:nvPr/>
        </p:nvSpPr>
        <p:spPr>
          <a:xfrm>
            <a:off x="1117434" y="2370385"/>
            <a:ext cx="7978440" cy="566670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28625" lvl="0" marL="4286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Noto Sans Symbols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Demo</a:t>
            </a:r>
            <a:endParaRPr b="0" i="0" sz="3600" u="sng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  <a:hlinkClick r:id="rId3">
                <a:extLst>
                  <a:ext uri="{A12FA001-AC4F-418D-AE19-62706E023703}">
                    <ahyp:hlinkClr val="tx"/>
                  </a:ext>
                </a:extLst>
              </a:hlinkClick>
            </a:endParaRPr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Create key</a:t>
            </a:r>
            <a:endParaRPr/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Test</a:t>
            </a:r>
            <a:endParaRPr/>
          </a:p>
        </p:txBody>
      </p:sp>
      <p:sp>
        <p:nvSpPr>
          <p:cNvPr id="98" name="Google Shape;98;p10"/>
          <p:cNvSpPr txBox="1"/>
          <p:nvPr/>
        </p:nvSpPr>
        <p:spPr>
          <a:xfrm>
            <a:off x="1200149" y="571498"/>
            <a:ext cx="11156283" cy="8382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Key Management Service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1"/>
          <p:cNvSpPr txBox="1"/>
          <p:nvPr/>
        </p:nvSpPr>
        <p:spPr>
          <a:xfrm>
            <a:off x="1117434" y="2370385"/>
            <a:ext cx="4561471" cy="99845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611187" lvl="1" marL="105568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Create key</a:t>
            </a:r>
            <a:endParaRPr/>
          </a:p>
        </p:txBody>
      </p:sp>
      <p:sp>
        <p:nvSpPr>
          <p:cNvPr id="104" name="Google Shape;104;p11"/>
          <p:cNvSpPr txBox="1"/>
          <p:nvPr/>
        </p:nvSpPr>
        <p:spPr>
          <a:xfrm>
            <a:off x="1200149" y="571498"/>
            <a:ext cx="11156283" cy="8382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Key Management Service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05" name="Google Shape;105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72751" y="2047657"/>
            <a:ext cx="11206413" cy="18816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52662" y="4130875"/>
            <a:ext cx="23846590" cy="629888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1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248295" y="10631308"/>
            <a:ext cx="13855324" cy="19021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2"/>
          <p:cNvSpPr txBox="1"/>
          <p:nvPr/>
        </p:nvSpPr>
        <p:spPr>
          <a:xfrm>
            <a:off x="1200149" y="571498"/>
            <a:ext cx="11156283" cy="8382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Key Management Service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13" name="Google Shape;113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69532" y="1950620"/>
            <a:ext cx="18973800" cy="10344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3"/>
          <p:cNvSpPr txBox="1"/>
          <p:nvPr/>
        </p:nvSpPr>
        <p:spPr>
          <a:xfrm>
            <a:off x="1117434" y="2370385"/>
            <a:ext cx="3442534" cy="107064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611187" lvl="1" marL="105568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Test</a:t>
            </a:r>
            <a:endParaRPr/>
          </a:p>
        </p:txBody>
      </p:sp>
      <p:sp>
        <p:nvSpPr>
          <p:cNvPr id="119" name="Google Shape;119;p13"/>
          <p:cNvSpPr txBox="1"/>
          <p:nvPr/>
        </p:nvSpPr>
        <p:spPr>
          <a:xfrm>
            <a:off x="1200149" y="571498"/>
            <a:ext cx="11156283" cy="8382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Key Management Service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20" name="Google Shape;120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65382" y="3667878"/>
            <a:ext cx="9182100" cy="789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13"/>
          <p:cNvSpPr/>
          <p:nvPr/>
        </p:nvSpPr>
        <p:spPr>
          <a:xfrm>
            <a:off x="10657890" y="11562346"/>
            <a:ext cx="3397084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0" i="1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Create S3 Bucket</a:t>
            </a:r>
            <a:endParaRPr b="0" i="1" sz="3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4"/>
          <p:cNvSpPr txBox="1"/>
          <p:nvPr/>
        </p:nvSpPr>
        <p:spPr>
          <a:xfrm>
            <a:off x="1200150" y="571498"/>
            <a:ext cx="11372850" cy="6207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Assignment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7" name="Google Shape;127;p14"/>
          <p:cNvSpPr txBox="1"/>
          <p:nvPr/>
        </p:nvSpPr>
        <p:spPr>
          <a:xfrm>
            <a:off x="1371601" y="2370387"/>
            <a:ext cx="4743450" cy="13824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611187" lvl="1" marL="105568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Noto Sans Symbols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Self-practice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5"/>
          <p:cNvSpPr txBox="1"/>
          <p:nvPr/>
        </p:nvSpPr>
        <p:spPr>
          <a:xfrm>
            <a:off x="1117434" y="2370385"/>
            <a:ext cx="7978440" cy="95890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28625" lvl="0" marL="4286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Noto Sans Symbols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Components</a:t>
            </a:r>
            <a:endParaRPr b="0" i="0" sz="3600" u="sng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  <a:hlinkClick r:id="rId3">
                <a:extLst>
                  <a:ext uri="{A12FA001-AC4F-418D-AE19-62706E023703}">
                    <ahyp:hlinkClr val="tx"/>
                  </a:ext>
                </a:extLst>
              </a:hlinkClick>
            </a:endParaRPr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Key</a:t>
            </a:r>
            <a:endParaRPr/>
          </a:p>
        </p:txBody>
      </p:sp>
      <p:sp>
        <p:nvSpPr>
          <p:cNvPr id="133" name="Google Shape;133;p15"/>
          <p:cNvSpPr txBox="1"/>
          <p:nvPr/>
        </p:nvSpPr>
        <p:spPr>
          <a:xfrm>
            <a:off x="1200149" y="571498"/>
            <a:ext cx="11156283" cy="8382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Key Management Service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6"/>
          <p:cNvSpPr txBox="1"/>
          <p:nvPr/>
        </p:nvSpPr>
        <p:spPr>
          <a:xfrm>
            <a:off x="1117433" y="2370385"/>
            <a:ext cx="23138230" cy="554639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611187" lvl="1" marL="105568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Key</a:t>
            </a:r>
            <a:endParaRPr/>
          </a:p>
          <a:p>
            <a:pPr indent="-611187" lvl="2" marL="1500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075"/>
              <a:buFont typeface="Noto Sans Symbols"/>
              <a:buChar char="▪"/>
            </a:pPr>
            <a:r>
              <a:rPr b="0" i="0" lang="en-US" sz="3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AWS managed keys: AWS will manage the key, Free</a:t>
            </a:r>
            <a:endParaRPr/>
          </a:p>
          <a:p>
            <a:pPr indent="-611187" lvl="2" marL="1500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075"/>
              <a:buFont typeface="Noto Sans Symbols"/>
              <a:buChar char="▪"/>
            </a:pPr>
            <a:r>
              <a:rPr b="0" i="0" lang="en-US" sz="3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Customer managed keys (CMKs): Customers create and manage keys, saved in CloudHSM, 1$/month</a:t>
            </a:r>
            <a:endParaRPr/>
          </a:p>
          <a:p>
            <a:pPr indent="-611187" lvl="2" marL="1500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075"/>
              <a:buFont typeface="Noto Sans Symbols"/>
              <a:buChar char="▪"/>
            </a:pPr>
            <a:r>
              <a:rPr b="0" i="0" lang="en-US" sz="3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AWS owned keys: list of keys for AWS service to manage for using the service on multiple accounts, Developers cannot see</a:t>
            </a:r>
            <a:endParaRPr/>
          </a:p>
        </p:txBody>
      </p:sp>
      <p:sp>
        <p:nvSpPr>
          <p:cNvPr id="139" name="Google Shape;139;p16"/>
          <p:cNvSpPr txBox="1"/>
          <p:nvPr/>
        </p:nvSpPr>
        <p:spPr>
          <a:xfrm>
            <a:off x="1200149" y="571498"/>
            <a:ext cx="11156283" cy="8382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Key Management Service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40" name="Google Shape;140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97683" y="8703599"/>
            <a:ext cx="8614047" cy="2899611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622630" y="7687301"/>
            <a:ext cx="8217443" cy="49322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7"/>
          <p:cNvSpPr txBox="1"/>
          <p:nvPr/>
        </p:nvSpPr>
        <p:spPr>
          <a:xfrm>
            <a:off x="1117433" y="2370385"/>
            <a:ext cx="13304623" cy="234051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611187" lvl="2" marL="150018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75"/>
              <a:buFont typeface="Noto Sans Symbols"/>
              <a:buChar char="▪"/>
            </a:pPr>
            <a:r>
              <a:rPr b="0" i="0" lang="en-US" sz="3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types</a:t>
            </a:r>
            <a:endParaRPr/>
          </a:p>
          <a:p>
            <a:pPr indent="-611186" lvl="3" marL="1944686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Times New Roman"/>
              <a:buChar char="•"/>
            </a:pPr>
            <a:r>
              <a:rPr b="0" i="0" lang="en-US" sz="3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Symmetric (Default): a key is used for both encryption &amp; decryption</a:t>
            </a:r>
            <a:endParaRPr b="0" i="0" sz="3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4961" lvl="3" marL="1944686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Times New Roman"/>
              <a:buNone/>
            </a:pPr>
            <a:r>
              <a:t/>
            </a:r>
            <a:endParaRPr b="0" i="0" sz="3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7" name="Google Shape;147;p17"/>
          <p:cNvSpPr txBox="1"/>
          <p:nvPr/>
        </p:nvSpPr>
        <p:spPr>
          <a:xfrm>
            <a:off x="1200149" y="571498"/>
            <a:ext cx="11156283" cy="8382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Key Management Service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48" name="Google Shape;148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84383" y="4803432"/>
            <a:ext cx="4790072" cy="59707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695688" y="6915468"/>
            <a:ext cx="6030581" cy="3638492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" name="Google Shape;150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6632106" y="5939069"/>
            <a:ext cx="7111473" cy="4614891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7"/>
          <p:cNvSpPr/>
          <p:nvPr/>
        </p:nvSpPr>
        <p:spPr>
          <a:xfrm>
            <a:off x="3091007" y="10553960"/>
            <a:ext cx="1976823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0" i="1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Create key</a:t>
            </a:r>
            <a:endParaRPr b="0" i="0" sz="3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2" name="Google Shape;152;p17"/>
          <p:cNvSpPr/>
          <p:nvPr/>
        </p:nvSpPr>
        <p:spPr>
          <a:xfrm>
            <a:off x="10529404" y="10553960"/>
            <a:ext cx="2363147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0" i="1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Encrypt data</a:t>
            </a:r>
            <a:endParaRPr b="0" i="0" sz="3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3" name="Google Shape;153;p17"/>
          <p:cNvSpPr/>
          <p:nvPr/>
        </p:nvSpPr>
        <p:spPr>
          <a:xfrm>
            <a:off x="19017490" y="10553960"/>
            <a:ext cx="2340704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0" i="1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Decrypt data</a:t>
            </a:r>
            <a:endParaRPr b="0" i="0" sz="3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8"/>
          <p:cNvSpPr txBox="1"/>
          <p:nvPr/>
        </p:nvSpPr>
        <p:spPr>
          <a:xfrm>
            <a:off x="1117433" y="2370385"/>
            <a:ext cx="22187735" cy="101048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611186" lvl="3" marL="194468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Times New Roman"/>
              <a:buChar char="•"/>
            </a:pPr>
            <a:r>
              <a:rPr b="0" i="0" lang="en-US" sz="3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Asymmetric: a public key and private key pair (RSA key pair) used for signin &amp; verification or encryption &amp; decryption</a:t>
            </a:r>
            <a:endParaRPr b="0" i="0" sz="3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4961" lvl="3" marL="1944686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Times New Roman"/>
              <a:buNone/>
            </a:pPr>
            <a:r>
              <a:t/>
            </a:r>
            <a:endParaRPr b="0" i="0" sz="3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9" name="Google Shape;159;p18"/>
          <p:cNvSpPr txBox="1"/>
          <p:nvPr/>
        </p:nvSpPr>
        <p:spPr>
          <a:xfrm>
            <a:off x="1200149" y="571498"/>
            <a:ext cx="11156283" cy="8382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Key Management Service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0" name="Google Shape;160;p18"/>
          <p:cNvSpPr/>
          <p:nvPr/>
        </p:nvSpPr>
        <p:spPr>
          <a:xfrm>
            <a:off x="3091007" y="10284493"/>
            <a:ext cx="1976823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0" i="1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Create key</a:t>
            </a:r>
            <a:endParaRPr b="0" i="0" sz="3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1" name="Google Shape;161;p18"/>
          <p:cNvSpPr/>
          <p:nvPr/>
        </p:nvSpPr>
        <p:spPr>
          <a:xfrm>
            <a:off x="10529404" y="10284493"/>
            <a:ext cx="2363147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0" i="1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Encrypt data</a:t>
            </a:r>
            <a:endParaRPr b="0" i="0" sz="3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2" name="Google Shape;162;p18"/>
          <p:cNvSpPr/>
          <p:nvPr/>
        </p:nvSpPr>
        <p:spPr>
          <a:xfrm>
            <a:off x="19017490" y="10284493"/>
            <a:ext cx="2340704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0" i="1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Decrypt data</a:t>
            </a:r>
            <a:endParaRPr b="0" i="0" sz="3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63" name="Google Shape;163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46918" y="3534564"/>
            <a:ext cx="5064999" cy="6749929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" name="Google Shape;164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646604" y="6742078"/>
            <a:ext cx="6128746" cy="354241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7138469" y="6364695"/>
            <a:ext cx="6098745" cy="39197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9"/>
          <p:cNvSpPr txBox="1"/>
          <p:nvPr/>
        </p:nvSpPr>
        <p:spPr>
          <a:xfrm>
            <a:off x="1200149" y="571498"/>
            <a:ext cx="11156283" cy="8382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Key Management Service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71" name="Google Shape;171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766208" y="4057603"/>
            <a:ext cx="6960290" cy="4388566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963183" y="3919735"/>
            <a:ext cx="7616334" cy="4526433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19"/>
          <p:cNvSpPr/>
          <p:nvPr/>
        </p:nvSpPr>
        <p:spPr>
          <a:xfrm>
            <a:off x="5364386" y="7904744"/>
            <a:ext cx="2569935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0" i="1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Sign messages</a:t>
            </a:r>
            <a:endParaRPr b="0" i="0" sz="3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4" name="Google Shape;174;p19"/>
          <p:cNvSpPr/>
          <p:nvPr/>
        </p:nvSpPr>
        <p:spPr>
          <a:xfrm>
            <a:off x="12939224" y="7904743"/>
            <a:ext cx="3150221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0" i="1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Verify a signature</a:t>
            </a:r>
            <a:endParaRPr b="0" i="0" sz="3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0"/>
          <p:cNvSpPr txBox="1"/>
          <p:nvPr/>
        </p:nvSpPr>
        <p:spPr>
          <a:xfrm>
            <a:off x="1117433" y="2370385"/>
            <a:ext cx="13098439" cy="58714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611187" lvl="2" marL="150018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75"/>
              <a:buFont typeface="Noto Sans Symbols"/>
              <a:buChar char="▪"/>
            </a:pPr>
            <a:r>
              <a:rPr b="0" i="0" lang="en-US" sz="3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Rotate key</a:t>
            </a:r>
            <a:endParaRPr b="0" i="0" sz="35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611186" lvl="3" marL="1944686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Times New Roman"/>
              <a:buChar char="•"/>
            </a:pPr>
            <a:r>
              <a:rPr b="0" i="0" lang="en-US" sz="3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Key ID, Key ARN, Region, policies, permission will not change</a:t>
            </a:r>
            <a:endParaRPr b="0" i="0" sz="3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611186" lvl="3" marL="1944686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Times New Roman"/>
              <a:buChar char="•"/>
            </a:pPr>
            <a:r>
              <a:rPr b="0" i="0" lang="en-US" sz="3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You can set automatic key rotation by year</a:t>
            </a:r>
            <a:endParaRPr/>
          </a:p>
          <a:p>
            <a:pPr indent="-611187" lvl="2" marL="1500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075"/>
              <a:buFont typeface="Noto Sans Symbols"/>
              <a:buChar char="▪"/>
            </a:pPr>
            <a:r>
              <a:rPr b="0" i="0" lang="en-US" sz="3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Alias</a:t>
            </a:r>
            <a:endParaRPr/>
          </a:p>
          <a:p>
            <a:pPr indent="-611186" lvl="3" marL="1944686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Times New Roman"/>
              <a:buChar char="•"/>
            </a:pPr>
            <a:r>
              <a:rPr b="0" i="0" lang="en-US" sz="3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hide the change of key for the application</a:t>
            </a:r>
            <a:endParaRPr b="0" i="0" sz="3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0" name="Google Shape;180;p20"/>
          <p:cNvSpPr txBox="1"/>
          <p:nvPr/>
        </p:nvSpPr>
        <p:spPr>
          <a:xfrm>
            <a:off x="1200149" y="571498"/>
            <a:ext cx="11156283" cy="8382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Key Management Service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81" name="Google Shape;181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91302" y="2370384"/>
            <a:ext cx="10264361" cy="234792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" name="Google Shape;182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28856" y="8032068"/>
            <a:ext cx="9564303" cy="4549313"/>
          </a:xfrm>
          <a:prstGeom prst="rect">
            <a:avLst/>
          </a:prstGeom>
          <a:noFill/>
          <a:ln>
            <a:noFill/>
          </a:ln>
        </p:spPr>
      </p:pic>
      <p:pic>
        <p:nvPicPr>
          <p:cNvPr id="183" name="Google Shape;183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713745" y="8568411"/>
            <a:ext cx="10629900" cy="3476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21"/>
          <p:cNvSpPr txBox="1"/>
          <p:nvPr/>
        </p:nvSpPr>
        <p:spPr>
          <a:xfrm>
            <a:off x="1117433" y="2370385"/>
            <a:ext cx="14331114" cy="84219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611187" lvl="2" marL="150018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75"/>
              <a:buFont typeface="Noto Sans Symbols"/>
              <a:buChar char="▪"/>
            </a:pPr>
            <a:r>
              <a:rPr b="0" i="0" lang="en-US" sz="3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Envelope encryption: encrypt key (not for data)</a:t>
            </a:r>
            <a:endParaRPr/>
          </a:p>
          <a:p>
            <a:pPr indent="-611187" lvl="2" marL="1500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075"/>
              <a:buFont typeface="Noto Sans Symbols"/>
              <a:buChar char="▪"/>
            </a:pPr>
            <a:r>
              <a:rPr b="0" i="0" lang="en-US" sz="3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Support multi-region</a:t>
            </a:r>
            <a:endParaRPr/>
          </a:p>
          <a:p>
            <a:pPr indent="-611187" lvl="2" marL="1500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075"/>
              <a:buFont typeface="Noto Sans Symbols"/>
              <a:buChar char="▪"/>
            </a:pPr>
            <a:r>
              <a:rPr b="0" i="0" lang="en-US" sz="3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There are 3 places to store keys</a:t>
            </a:r>
            <a:endParaRPr/>
          </a:p>
          <a:p>
            <a:pPr indent="-611186" lvl="3" marL="1944686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Times New Roman"/>
              <a:buChar char="•"/>
            </a:pPr>
            <a:r>
              <a:rPr b="0" i="0" lang="en-US" sz="3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KMS</a:t>
            </a:r>
            <a:endParaRPr/>
          </a:p>
          <a:p>
            <a:pPr indent="-611186" lvl="3" marL="1944686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Times New Roman"/>
              <a:buChar char="•"/>
            </a:pPr>
            <a:r>
              <a:rPr b="0" i="0" lang="en-US" sz="3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External: Customers save keys</a:t>
            </a:r>
            <a:endParaRPr/>
          </a:p>
          <a:p>
            <a:pPr indent="-611186" lvl="3" marL="1944686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Times New Roman"/>
              <a:buChar char="•"/>
            </a:pPr>
            <a:r>
              <a:rPr b="0" i="0" lang="en-US" sz="3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Custom key store: Save on CloudHSM</a:t>
            </a:r>
            <a:endParaRPr b="0" i="0" sz="3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9" name="Google Shape;189;p21"/>
          <p:cNvSpPr txBox="1"/>
          <p:nvPr/>
        </p:nvSpPr>
        <p:spPr>
          <a:xfrm>
            <a:off x="1200149" y="571498"/>
            <a:ext cx="11156283" cy="8382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Key Management Service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90" name="Google Shape;190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636208" y="2242946"/>
            <a:ext cx="7565523" cy="246836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6179318" y="6634854"/>
            <a:ext cx="6479302" cy="2081838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21"/>
          <p:cNvSpPr/>
          <p:nvPr/>
        </p:nvSpPr>
        <p:spPr>
          <a:xfrm>
            <a:off x="17482380" y="8716692"/>
            <a:ext cx="3873176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0" i="1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Support multi-region</a:t>
            </a:r>
            <a:endParaRPr/>
          </a:p>
        </p:txBody>
      </p:sp>
      <p:sp>
        <p:nvSpPr>
          <p:cNvPr id="193" name="Google Shape;193;p21"/>
          <p:cNvSpPr/>
          <p:nvPr/>
        </p:nvSpPr>
        <p:spPr>
          <a:xfrm>
            <a:off x="17470357" y="4711306"/>
            <a:ext cx="3897221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0" i="1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Envelope encryption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22"/>
          <p:cNvSpPr txBox="1"/>
          <p:nvPr/>
        </p:nvSpPr>
        <p:spPr>
          <a:xfrm>
            <a:off x="1117433" y="2370385"/>
            <a:ext cx="11323220" cy="11067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611187" lvl="2" marL="150018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75"/>
              <a:buFont typeface="Noto Sans Symbols"/>
              <a:buChar char="▪"/>
            </a:pPr>
            <a:r>
              <a:rPr b="0" i="0" lang="en-US" sz="3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Key Delete Protection</a:t>
            </a:r>
            <a:endParaRPr/>
          </a:p>
        </p:txBody>
      </p:sp>
      <p:sp>
        <p:nvSpPr>
          <p:cNvPr id="199" name="Google Shape;199;p22"/>
          <p:cNvSpPr txBox="1"/>
          <p:nvPr/>
        </p:nvSpPr>
        <p:spPr>
          <a:xfrm>
            <a:off x="1200149" y="571498"/>
            <a:ext cx="11156283" cy="8382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Key Management Service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00" name="Google Shape;200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67000" y="3477126"/>
            <a:ext cx="19050000" cy="6972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23"/>
          <p:cNvSpPr txBox="1"/>
          <p:nvPr/>
        </p:nvSpPr>
        <p:spPr>
          <a:xfrm>
            <a:off x="1117433" y="2370384"/>
            <a:ext cx="23138230" cy="492166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611187" lvl="2" marL="150018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75"/>
              <a:buFont typeface="Noto Sans Symbols"/>
              <a:buChar char="▪"/>
            </a:pPr>
            <a:r>
              <a:rPr b="0" i="0" lang="en-US" sz="3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Key policy</a:t>
            </a:r>
            <a:endParaRPr/>
          </a:p>
          <a:p>
            <a:pPr indent="-611186" lvl="3" marL="1944686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Times New Roman"/>
              <a:buChar char="•"/>
            </a:pPr>
            <a:r>
              <a:rPr b="0" i="0" lang="en-US" sz="3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Integration with IAM Service to control access and use of keys</a:t>
            </a:r>
            <a:endParaRPr b="0" i="0" sz="3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611186" lvl="3" marL="1944686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Times New Roman"/>
              <a:buChar char="•"/>
            </a:pPr>
            <a:r>
              <a:rPr b="0" i="0" lang="en-US" sz="3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By default, root user has full rights</a:t>
            </a:r>
            <a:endParaRPr b="0" i="0" sz="3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611186" lvl="3" marL="1944686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Times New Roman"/>
              <a:buChar char="•"/>
            </a:pPr>
            <a:r>
              <a:rPr b="0" i="0" lang="en-US" sz="3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It is possible to set up for other accounts to also manage the key</a:t>
            </a:r>
            <a:endParaRPr b="0" i="0" sz="3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6" name="Google Shape;206;p23"/>
          <p:cNvSpPr txBox="1"/>
          <p:nvPr/>
        </p:nvSpPr>
        <p:spPr>
          <a:xfrm>
            <a:off x="1200149" y="571498"/>
            <a:ext cx="11156283" cy="8382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Key Management Service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7" name="Google Shape;207;p23"/>
          <p:cNvSpPr/>
          <p:nvPr/>
        </p:nvSpPr>
        <p:spPr>
          <a:xfrm>
            <a:off x="5999747" y="11577191"/>
            <a:ext cx="12192000" cy="10772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63C1"/>
              </a:buClr>
              <a:buSzPts val="3200"/>
              <a:buFont typeface="Times New Roman"/>
              <a:buNone/>
            </a:pPr>
            <a:r>
              <a:rPr b="0" i="1" lang="en-US" sz="3200" u="sng" cap="none" strike="noStrike">
                <a:solidFill>
                  <a:srgbClr val="0563C1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https://aws.amazon.com/blogs/security/how-to-use-kms-and-iam-to-enable-independent-security-controls-for-encrypted-data-in-s3/</a:t>
            </a:r>
            <a:endParaRPr b="0" i="0" sz="3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08" name="Google Shape;208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447631" y="6743675"/>
            <a:ext cx="7296232" cy="48524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24"/>
          <p:cNvSpPr txBox="1"/>
          <p:nvPr/>
        </p:nvSpPr>
        <p:spPr>
          <a:xfrm>
            <a:off x="1200150" y="571498"/>
            <a:ext cx="11372850" cy="6207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Assignment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4" name="Google Shape;214;p24"/>
          <p:cNvSpPr txBox="1"/>
          <p:nvPr/>
        </p:nvSpPr>
        <p:spPr>
          <a:xfrm>
            <a:off x="1371601" y="2370387"/>
            <a:ext cx="4743450" cy="13824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611187" lvl="1" marL="105568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Noto Sans Symbols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Self-practice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25"/>
          <p:cNvSpPr txBox="1"/>
          <p:nvPr/>
        </p:nvSpPr>
        <p:spPr>
          <a:xfrm>
            <a:off x="1117433" y="2370385"/>
            <a:ext cx="22632903" cy="9937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28625" lvl="0" marL="4286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Noto Sans Symbols"/>
              <a:buChar char="⮚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KMS is a service that allows management of keys, keys are used to encrypt data on the server side (at rest)</a:t>
            </a:r>
            <a:endParaRPr b="0" i="0" sz="3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28625" lvl="0" marL="428625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Noto Sans Symbols"/>
              <a:buChar char="⮚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Integrate with other AWS services to perform at-rest encryption (Ex: S3, RDS, EBS, …)</a:t>
            </a:r>
            <a:endParaRPr/>
          </a:p>
          <a:p>
            <a:pPr indent="-428625" lvl="0" marL="428625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Noto Sans Symbols"/>
              <a:buChar char="⮚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Usecases: Encryption &amp; decryption data, Signin &amp; verification</a:t>
            </a:r>
            <a:endParaRPr/>
          </a:p>
          <a:p>
            <a:pPr indent="-428625" lvl="0" marL="428625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Noto Sans Symbols"/>
              <a:buChar char="⮚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3 types: AWS managed keys, Customer managed keys (CMKs), AWS owned keys</a:t>
            </a:r>
            <a:endParaRPr/>
          </a:p>
          <a:p>
            <a:pPr indent="-428625" lvl="0" marL="428625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Noto Sans Symbols"/>
              <a:buChar char="⮚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Symmetric, Asymmetric</a:t>
            </a:r>
            <a:endParaRPr b="0" i="0" sz="3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28625" lvl="0" marL="428625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Noto Sans Symbols"/>
              <a:buChar char="⮚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3 places to store keys: KMS, External, Custom key store CloudHSM</a:t>
            </a:r>
            <a:endParaRPr b="0" i="0" sz="3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28625" lvl="0" marL="428625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Noto Sans Symbols"/>
              <a:buChar char="⮚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Features: Rotate key, Alias, Support multi-region, Key Delete Protection, Key policy</a:t>
            </a:r>
            <a:endParaRPr b="0" i="0" sz="3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0" name="Google Shape;220;p25"/>
          <p:cNvSpPr txBox="1"/>
          <p:nvPr/>
        </p:nvSpPr>
        <p:spPr>
          <a:xfrm>
            <a:off x="1200149" y="571498"/>
            <a:ext cx="8978567" cy="8382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Summary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26"/>
          <p:cNvSpPr/>
          <p:nvPr/>
        </p:nvSpPr>
        <p:spPr>
          <a:xfrm>
            <a:off x="8898777" y="13198291"/>
            <a:ext cx="6688049" cy="430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eiryo"/>
              <a:buNone/>
            </a:pPr>
            <a:r>
              <a:rPr b="0" i="0" lang="en-US" sz="2200" u="none" cap="none" strike="noStrike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Copyright </a:t>
            </a:r>
            <a:r>
              <a:rPr b="0" i="1" lang="en-US" sz="2200" u="none" cap="none" strike="noStrike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© </a:t>
            </a:r>
            <a:r>
              <a:rPr b="0" i="0" lang="en-US" sz="2200" u="none" cap="none" strike="noStrike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VTI Academy All Rights Reserved </a:t>
            </a:r>
            <a:endParaRPr/>
          </a:p>
        </p:txBody>
      </p:sp>
      <p:sp>
        <p:nvSpPr>
          <p:cNvPr id="227" name="Google Shape;227;p26"/>
          <p:cNvSpPr/>
          <p:nvPr/>
        </p:nvSpPr>
        <p:spPr>
          <a:xfrm>
            <a:off x="7195160" y="5450175"/>
            <a:ext cx="10095282" cy="144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17F"/>
              </a:buClr>
              <a:buSzPts val="8800"/>
              <a:buFont typeface="Times New Roman"/>
              <a:buNone/>
            </a:pPr>
            <a:r>
              <a:rPr b="0" i="0" lang="en-US" sz="8800" u="none" cap="none" strike="noStrike">
                <a:solidFill>
                  <a:srgbClr val="00517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 &amp; A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6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6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Nguyen Anh Quan (VTI.GA)</dc:creator>
</cp:coreProperties>
</file>